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Lst>
  <p:sldSz cy="5143500" cx="9144000"/>
  <p:notesSz cx="6858000" cy="9144000"/>
  <p:embeddedFontLst>
    <p:embeddedFont>
      <p:font typeface="Roboto Black"/>
      <p:bold r:id="rId63"/>
      <p:boldItalic r:id="rId64"/>
    </p:embeddedFont>
    <p:embeddedFont>
      <p:font typeface="Roboto Mono SemiBold"/>
      <p:regular r:id="rId65"/>
      <p:bold r:id="rId66"/>
      <p:italic r:id="rId67"/>
      <p:boldItalic r:id="rId68"/>
    </p:embeddedFont>
    <p:embeddedFont>
      <p:font typeface="Roboto"/>
      <p:bold r:id="rId69"/>
      <p:boldItalic r:id="rId70"/>
    </p:embeddedFont>
    <p:embeddedFont>
      <p:font typeface="Roboto Medium"/>
      <p:regular r:id="rId71"/>
      <p:bold r:id="rId72"/>
      <p:italic r:id="rId73"/>
      <p:boldItalic r:id="rId74"/>
    </p:embeddedFont>
    <p:embeddedFont>
      <p:font typeface="Inter SemiBold"/>
      <p:regular r:id="rId75"/>
      <p:bold r:id="rId76"/>
      <p:italic r:id="rId77"/>
      <p:boldItalic r:id="rId78"/>
    </p:embeddedFont>
    <p:embeddedFont>
      <p:font typeface="Inter"/>
      <p:bold r:id="rId79"/>
      <p:boldItalic r:id="rId80"/>
    </p:embeddedFont>
    <p:embeddedFont>
      <p:font typeface="Inter ExtraBold"/>
      <p:bold r:id="rId81"/>
      <p:boldItalic r:id="rId82"/>
    </p:embeddedFont>
    <p:embeddedFont>
      <p:font typeface="Roboto Mono"/>
      <p:regular r:id="rId83"/>
      <p:bold r:id="rId84"/>
      <p:italic r:id="rId85"/>
      <p:boldItalic r:id="rId86"/>
    </p:embeddedFont>
    <p:embeddedFont>
      <p:font typeface="Inter Medium"/>
      <p:regular r:id="rId87"/>
      <p:bold r:id="rId88"/>
      <p:italic r:id="rId89"/>
      <p:boldItalic r:id="rId9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RobotoMono-bold.fntdata"/><Relationship Id="rId83" Type="http://schemas.openxmlformats.org/officeDocument/2006/relationships/font" Target="fonts/RobotoMono-regular.fntdata"/><Relationship Id="rId42" Type="http://schemas.openxmlformats.org/officeDocument/2006/relationships/slide" Target="slides/slide37.xml"/><Relationship Id="rId86" Type="http://schemas.openxmlformats.org/officeDocument/2006/relationships/font" Target="fonts/RobotoMono-boldItalic.fntdata"/><Relationship Id="rId41" Type="http://schemas.openxmlformats.org/officeDocument/2006/relationships/slide" Target="slides/slide36.xml"/><Relationship Id="rId85" Type="http://schemas.openxmlformats.org/officeDocument/2006/relationships/font" Target="fonts/RobotoMono-italic.fntdata"/><Relationship Id="rId44" Type="http://schemas.openxmlformats.org/officeDocument/2006/relationships/slide" Target="slides/slide39.xml"/><Relationship Id="rId88" Type="http://schemas.openxmlformats.org/officeDocument/2006/relationships/font" Target="fonts/InterMedium-bold.fntdata"/><Relationship Id="rId43" Type="http://schemas.openxmlformats.org/officeDocument/2006/relationships/slide" Target="slides/slide38.xml"/><Relationship Id="rId87" Type="http://schemas.openxmlformats.org/officeDocument/2006/relationships/font" Target="fonts/InterMedium-regular.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InterMedium-italic.fntdata"/><Relationship Id="rId80" Type="http://schemas.openxmlformats.org/officeDocument/2006/relationships/font" Target="fonts/Inter-boldItalic.fntdata"/><Relationship Id="rId82" Type="http://schemas.openxmlformats.org/officeDocument/2006/relationships/font" Target="fonts/InterExtraBold-boldItalic.fntdata"/><Relationship Id="rId81" Type="http://schemas.openxmlformats.org/officeDocument/2006/relationships/font" Target="fonts/InterExtra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obotoMedium-italic.fntdata"/><Relationship Id="rId72" Type="http://schemas.openxmlformats.org/officeDocument/2006/relationships/font" Target="fonts/RobotoMedium-bold.fntdata"/><Relationship Id="rId31" Type="http://schemas.openxmlformats.org/officeDocument/2006/relationships/slide" Target="slides/slide26.xml"/><Relationship Id="rId75" Type="http://schemas.openxmlformats.org/officeDocument/2006/relationships/font" Target="fonts/InterSemiBold-regular.fntdata"/><Relationship Id="rId30" Type="http://schemas.openxmlformats.org/officeDocument/2006/relationships/slide" Target="slides/slide25.xml"/><Relationship Id="rId74" Type="http://schemas.openxmlformats.org/officeDocument/2006/relationships/font" Target="fonts/RobotoMedium-boldItalic.fntdata"/><Relationship Id="rId33" Type="http://schemas.openxmlformats.org/officeDocument/2006/relationships/slide" Target="slides/slide28.xml"/><Relationship Id="rId77" Type="http://schemas.openxmlformats.org/officeDocument/2006/relationships/font" Target="fonts/InterSemiBold-italic.fntdata"/><Relationship Id="rId32" Type="http://schemas.openxmlformats.org/officeDocument/2006/relationships/slide" Target="slides/slide27.xml"/><Relationship Id="rId76" Type="http://schemas.openxmlformats.org/officeDocument/2006/relationships/font" Target="fonts/InterSemiBold-bold.fntdata"/><Relationship Id="rId35" Type="http://schemas.openxmlformats.org/officeDocument/2006/relationships/slide" Target="slides/slide30.xml"/><Relationship Id="rId79" Type="http://schemas.openxmlformats.org/officeDocument/2006/relationships/font" Target="fonts/Inter-bold.fntdata"/><Relationship Id="rId34" Type="http://schemas.openxmlformats.org/officeDocument/2006/relationships/slide" Target="slides/slide29.xml"/><Relationship Id="rId78" Type="http://schemas.openxmlformats.org/officeDocument/2006/relationships/font" Target="fonts/InterSemiBold-boldItalic.fntdata"/><Relationship Id="rId71" Type="http://schemas.openxmlformats.org/officeDocument/2006/relationships/font" Target="fonts/RobotoMedium-regular.fntdata"/><Relationship Id="rId70" Type="http://schemas.openxmlformats.org/officeDocument/2006/relationships/font" Target="fonts/Roboto-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RobotoBlack-boldItalic.fntdata"/><Relationship Id="rId63" Type="http://schemas.openxmlformats.org/officeDocument/2006/relationships/font" Target="fonts/RobotoBlack-bold.fntdata"/><Relationship Id="rId22" Type="http://schemas.openxmlformats.org/officeDocument/2006/relationships/slide" Target="slides/slide17.xml"/><Relationship Id="rId66" Type="http://schemas.openxmlformats.org/officeDocument/2006/relationships/font" Target="fonts/RobotoMonoSemiBold-bold.fntdata"/><Relationship Id="rId21" Type="http://schemas.openxmlformats.org/officeDocument/2006/relationships/slide" Target="slides/slide16.xml"/><Relationship Id="rId65" Type="http://schemas.openxmlformats.org/officeDocument/2006/relationships/font" Target="fonts/RobotoMonoSemiBold-regular.fntdata"/><Relationship Id="rId24" Type="http://schemas.openxmlformats.org/officeDocument/2006/relationships/slide" Target="slides/slide19.xml"/><Relationship Id="rId68" Type="http://schemas.openxmlformats.org/officeDocument/2006/relationships/font" Target="fonts/RobotoMonoSemiBold-boldItalic.fntdata"/><Relationship Id="rId23" Type="http://schemas.openxmlformats.org/officeDocument/2006/relationships/slide" Target="slides/slide18.xml"/><Relationship Id="rId67" Type="http://schemas.openxmlformats.org/officeDocument/2006/relationships/font" Target="fonts/RobotoMonoSemiBold-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0" Type="http://schemas.openxmlformats.org/officeDocument/2006/relationships/font" Target="fonts/InterMedium-boldItalic.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nsole.cloud.google.com"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main.py" TargetMode="External"/><Relationship Id="rId3" Type="http://schemas.openxmlformats.org/officeDocument/2006/relationships/hyperlink" Target="https://drive.google.com/file/d/1mTnTEEIGxJpn3vBvoK8MHs9x4wdJw9vu/view?usp=drive_link"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cloud.google.com/run/docs/deploying-source-code?authuser=0&amp;utm_source=chatgpt.com"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49f7cd067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49f7cd067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f49f7cd067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f49f7cd067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49f7cd067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f49f7cd067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If you're using the latest Google Cloud Console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 aware that Google has been encouraging users to host static websites behind services such as Cloud Load Balancing or Firebase Hosting for production environments. However, </a:t>
            </a:r>
            <a:r>
              <a:rPr b="1" lang="en">
                <a:solidFill>
                  <a:schemeClr val="dk1"/>
                </a:solidFill>
              </a:rPr>
              <a:t>Cloud Storage static website hosting is still perfectly suitable for learning</a:t>
            </a:r>
            <a:r>
              <a:rPr lang="en">
                <a:solidFill>
                  <a:schemeClr val="dk1"/>
                </a:solidFill>
              </a:rPr>
              <a:t> and is one of the easiest ways to introduce Cloud Storage, buckets, IAM, and object permissions in a beginner workshop.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a </a:t>
            </a:r>
            <a:r>
              <a:rPr b="1" lang="en">
                <a:solidFill>
                  <a:schemeClr val="dk1"/>
                </a:solidFill>
              </a:rPr>
              <a:t>Google Cloud Digital Leader</a:t>
            </a:r>
            <a:r>
              <a:rPr lang="en">
                <a:solidFill>
                  <a:schemeClr val="dk1"/>
                </a:solidFill>
              </a:rPr>
              <a:t> or </a:t>
            </a:r>
            <a:r>
              <a:rPr b="1" lang="en">
                <a:solidFill>
                  <a:schemeClr val="dk1"/>
                </a:solidFill>
              </a:rPr>
              <a:t>Associate Cloud Engineer</a:t>
            </a:r>
            <a:r>
              <a:rPr lang="en">
                <a:solidFill>
                  <a:schemeClr val="dk1"/>
                </a:solidFill>
              </a:rPr>
              <a:t> class, this remains an excellent first hands-on lab.</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f99093828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f99093828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99093828a_0_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99093828a_0_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49f7cd067_0_1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f49f7cd067_0_1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Part 1 – Create a Google Cloud Project (10 minutes)</a:t>
            </a:r>
            <a:endParaRPr b="1" sz="23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Step 1</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Go to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u="sng">
                <a:solidFill>
                  <a:schemeClr val="hlink"/>
                </a:solidFill>
                <a:hlinkClick r:id="rId2"/>
              </a:rPr>
              <a:t>Google Cloud Console</a:t>
            </a:r>
            <a:endParaRPr u="sng">
              <a:solidFill>
                <a:schemeClr val="hlink"/>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Sign in with your Google account.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99093828a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f99093828a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f99093828a_0_9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f99093828a_0_9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99093828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f99093828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99093828a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f99093828a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f49f7cd067_0_1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f49f7cd067_0_1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If you see “Disable billing”, it means that your billing is enabled.</a:t>
            </a:r>
            <a:endParaRPr b="1"/>
          </a:p>
          <a:p>
            <a:pPr indent="0" lvl="0" marL="0" rtl="0" algn="l">
              <a:spcBef>
                <a:spcPts val="0"/>
              </a:spcBef>
              <a:spcAft>
                <a:spcPts val="0"/>
              </a:spcAft>
              <a:buNone/>
            </a:pPr>
            <a:r>
              <a:rPr b="1" lang="en"/>
              <a:t>No need to do anything.</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a:t>If it says. “Enable Billing”, select that option.</a:t>
            </a:r>
            <a:endParaRPr b="1"/>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f99093828a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f99093828a_0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f99093828a_0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f99093828a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f99093828a_0_6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f99093828a_0_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f99093828a_0_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f99093828a_0_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f99093828a_0_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f99093828a_0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f99093828a_0_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f99093828a_0_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f99093828a_0_6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f99093828a_0_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f99093828a_0_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f99093828a_0_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f99093828a_0_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f99093828a_0_7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f99093828a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f99093828a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f99093828a_0_9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f99093828a_0_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f99093828a_0_9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f99093828a_0_9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f99093828a_0_9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f99093828a_0_9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f99093828a_0_9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f99093828a_0_9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f99093828a_0_9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f99093828a_0_9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f99093828a_0_9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f99093828a_0_9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f99093828a_0_9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f99093828a_0_9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f99093828a_0_10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f99093828a_0_10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f99093828a_0_1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f99093828a_0_1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f99093828a_0_1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f99093828a_0_1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f99093828a_0_1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f99093828a_0_1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f99093828a_0_1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f99093828a_0_1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f99093828a_0_1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f99093828a_0_1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u="sng">
                <a:solidFill>
                  <a:schemeClr val="hlink"/>
                </a:solidFill>
                <a:hlinkClick r:id="rId2"/>
              </a:rPr>
              <a:t>main.py</a:t>
            </a:r>
            <a:r>
              <a:rPr lang="en"/>
              <a:t>: </a:t>
            </a:r>
            <a:r>
              <a:rPr lang="en" sz="1400" u="sng">
                <a:solidFill>
                  <a:srgbClr val="0097A7"/>
                </a:solidFill>
                <a:hlinkClick r:id="rId3">
                  <a:extLst>
                    <a:ext uri="{A12FA001-AC4F-418D-AE19-62706E023703}">
                      <ahyp:hlinkClr val="tx"/>
                    </a:ext>
                  </a:extLst>
                </a:hlinkClick>
              </a:rPr>
              <a:t>https://drive.google.com/file/d/1mTnTEEIGxJpn3vBvoK8MHs9x4wdJw9vu/view?usp=drive_link</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f99093828a_0_19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f99093828a_0_19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f99093828a_0_1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f99093828a_0_1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f99093828a_0_1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f99093828a_0_1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f99093828a_0_1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f99093828a_0_1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That's all the source code we need</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f99093828a_0_1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f99093828a_0_1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Google Cloud's current Cloud Run source deployment supports </a:t>
            </a:r>
            <a:r>
              <a:rPr lang="en">
                <a:solidFill>
                  <a:srgbClr val="188038"/>
                </a:solidFill>
                <a:latin typeface="Roboto Mono"/>
                <a:ea typeface="Roboto Mono"/>
                <a:cs typeface="Roboto Mono"/>
                <a:sym typeface="Roboto Mono"/>
              </a:rPr>
              <a:t>gcloud run deploy --source</a:t>
            </a:r>
            <a:r>
              <a:rPr lang="en">
                <a:solidFill>
                  <a:schemeClr val="dk1"/>
                </a:solidFill>
              </a:rPr>
              <a:t>, automatically building the source without students needing to create a Dockerfile themselves.</a:t>
            </a:r>
            <a:endParaRPr>
              <a:solidFill>
                <a:schemeClr val="dk1"/>
              </a:solidFill>
            </a:endParaRPr>
          </a:p>
          <a:p>
            <a:pPr indent="0" lvl="0" marL="0" rtl="0" algn="l">
              <a:lnSpc>
                <a:spcPct val="115000"/>
              </a:lnSpc>
              <a:spcBef>
                <a:spcPts val="1200"/>
              </a:spcBef>
              <a:spcAft>
                <a:spcPts val="0"/>
              </a:spcAft>
              <a:buNone/>
            </a:pPr>
            <a:r>
              <a:rPr lang="en" sz="1200" u="sng">
                <a:solidFill>
                  <a:schemeClr val="hlink"/>
                </a:solidFill>
                <a:hlinkClick r:id="rId2"/>
              </a:rPr>
              <a:t>https://docs.cloud.google.com/run/docs/deploying-source-code?authuser=0&amp;utm_source=chatgpt.com</a:t>
            </a:r>
            <a:endParaRPr sz="12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f99093828a_0_1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f99093828a_0_1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f99093828a_0_1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f99093828a_0_1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f99093828a_0_1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f99093828a_0_1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f99093828a_0_19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f99093828a_0_19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f99093828a_0_19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f99093828a_0_1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f99093828a_0_19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f99093828a_0_19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f99093828a_0_1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f99093828a_0_1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f99093828a_0_19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f99093828a_0_19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f99093828a_0_2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f99093828a_0_2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f5b542e0fd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f5b542e0fd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f5b542e0fd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f5b542e0fd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f5b542e0fd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f5b542e0fd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f5b542e0fd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f5b542e0fd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f5b542e0fd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f5b542e0fd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f5b542e0fd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3f5b542e0fd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f49f7cd067_69_7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f49f7cd067_69_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f49f7cd067_69_8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f49f7cd067_69_8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f49f7cd067_69_9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f49f7cd067_69_9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487111299_6_0)">
  <p:cSld name="Generated (g3f487111299_6_0)">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hyperlink" Target="https://console.cloud.google.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5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4.png"/><Relationship Id="rId4" Type="http://schemas.openxmlformats.org/officeDocument/2006/relationships/hyperlink" Target="http://main.py" TargetMode="External"/><Relationship Id="rId5" Type="http://schemas.openxmlformats.org/officeDocument/2006/relationships/hyperlink" Target="https://drive.google.com/file/d/1mTnTEEIGxJpn3vBvoK8MHs9x4wdJw9vu/view?usp=drive_link"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5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5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5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4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0.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5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4.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46.png"/><Relationship Id="rId4" Type="http://schemas.openxmlformats.org/officeDocument/2006/relationships/image" Target="../media/image47.gi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46.png"/><Relationship Id="rId4" Type="http://schemas.openxmlformats.org/officeDocument/2006/relationships/image" Target="../media/image41.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 name="Shape 54"/>
        <p:cNvGrpSpPr/>
        <p:nvPr/>
      </p:nvGrpSpPr>
      <p:grpSpPr>
        <a:xfrm>
          <a:off x="0" y="0"/>
          <a:ext cx="0" cy="0"/>
          <a:chOff x="0" y="0"/>
          <a:chExt cx="0" cy="0"/>
        </a:xfrm>
      </p:grpSpPr>
      <p:grpSp>
        <p:nvGrpSpPr>
          <p:cNvPr id="55" name="Google Shape;55;p14"/>
          <p:cNvGrpSpPr/>
          <p:nvPr/>
        </p:nvGrpSpPr>
        <p:grpSpPr>
          <a:xfrm>
            <a:off x="4762500" y="762000"/>
            <a:ext cx="3619500" cy="3619500"/>
            <a:chOff x="0" y="0"/>
            <a:chExt cx="3619500" cy="3619500"/>
          </a:xfrm>
        </p:grpSpPr>
        <p:pic>
          <p:nvPicPr>
            <p:cNvPr descr="A highly detailed 3D render of glowing cloud infrastructure, futuristic data pipelines and holographic server nodes in neon blue, green and purple colors, dark tech aesthetic." id="56" name="Google Shape;56;p14"/>
            <p:cNvPicPr preferRelativeResize="0"/>
            <p:nvPr/>
          </p:nvPicPr>
          <p:blipFill rotWithShape="1">
            <a:blip r:embed="rId4">
              <a:alphaModFix/>
            </a:blip>
            <a:srcRect b="0" l="0" r="0" t="0"/>
            <a:stretch/>
          </p:blipFill>
          <p:spPr>
            <a:xfrm>
              <a:off x="0" y="0"/>
              <a:ext cx="3619500" cy="3619500"/>
            </a:xfrm>
            <a:prstGeom prst="rect">
              <a:avLst/>
            </a:prstGeom>
            <a:noFill/>
            <a:ln>
              <a:noFill/>
            </a:ln>
          </p:spPr>
        </p:pic>
        <p:sp>
          <p:nvSpPr>
            <p:cNvPr id="57" name="Google Shape;57;p14"/>
            <p:cNvSpPr/>
            <p:nvPr/>
          </p:nvSpPr>
          <p:spPr>
            <a:xfrm>
              <a:off x="0" y="0"/>
              <a:ext cx="3619500" cy="3619500"/>
            </a:xfrm>
            <a:prstGeom prst="roundRect">
              <a:avLst>
                <a:gd fmla="val 6315" name="adj"/>
              </a:avLst>
            </a:prstGeom>
            <a:solidFill>
              <a:srgbClr val="000000">
                <a:alpha val="0"/>
              </a:srgbClr>
            </a:solidFill>
            <a:ln cap="flat" cmpd="sng" w="1905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8" name="Google Shape;58;p14"/>
          <p:cNvSpPr txBox="1"/>
          <p:nvPr/>
        </p:nvSpPr>
        <p:spPr>
          <a:xfrm>
            <a:off x="762000" y="762000"/>
            <a:ext cx="4000500" cy="361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38BDF8"/>
                </a:solidFill>
                <a:highlight>
                  <a:srgbClr val="1E293B"/>
                </a:highlight>
                <a:latin typeface="Roboto"/>
                <a:ea typeface="Roboto"/>
                <a:cs typeface="Roboto"/>
                <a:sym typeface="Roboto"/>
              </a:rPr>
              <a:t>WEEKEND WORKSHOP SERIES 3</a:t>
            </a:r>
            <a:endParaRPr sz="1200">
              <a:latin typeface="Roboto"/>
              <a:ea typeface="Roboto"/>
              <a:cs typeface="Roboto"/>
              <a:sym typeface="Roboto"/>
            </a:endParaRPr>
          </a:p>
          <a:p>
            <a:pPr indent="0" lvl="0" marL="0" rtl="0" algn="l">
              <a:spcBef>
                <a:spcPts val="1200"/>
              </a:spcBef>
              <a:spcAft>
                <a:spcPts val="0"/>
              </a:spcAft>
              <a:buNone/>
            </a:pPr>
            <a:r>
              <a:rPr b="1" lang="en" sz="3200">
                <a:solidFill>
                  <a:srgbClr val="FFFFFF"/>
                </a:solidFill>
                <a:latin typeface="Roboto"/>
                <a:ea typeface="Roboto"/>
                <a:cs typeface="Roboto"/>
                <a:sym typeface="Roboto"/>
              </a:rPr>
              <a:t>Saturday</a:t>
            </a:r>
            <a:endParaRPr b="1" sz="3200">
              <a:solidFill>
                <a:srgbClr val="FFFFFF"/>
              </a:solidFill>
              <a:latin typeface="Roboto"/>
              <a:ea typeface="Roboto"/>
              <a:cs typeface="Roboto"/>
              <a:sym typeface="Roboto"/>
            </a:endParaRPr>
          </a:p>
          <a:p>
            <a:pPr indent="0" lvl="0" marL="0" rtl="0" algn="l">
              <a:spcBef>
                <a:spcPts val="0"/>
              </a:spcBef>
              <a:spcAft>
                <a:spcPts val="0"/>
              </a:spcAft>
              <a:buNone/>
            </a:pPr>
            <a:r>
              <a:rPr b="1" lang="en" sz="3200">
                <a:solidFill>
                  <a:srgbClr val="3B82F6"/>
                </a:solidFill>
                <a:latin typeface="Roboto"/>
                <a:ea typeface="Roboto"/>
                <a:cs typeface="Roboto"/>
                <a:sym typeface="Roboto"/>
              </a:rPr>
              <a:t>Google Cloud</a:t>
            </a:r>
            <a:br>
              <a:rPr b="1" lang="en" sz="3200">
                <a:solidFill>
                  <a:srgbClr val="3B82F6"/>
                </a:solidFill>
                <a:latin typeface="Roboto"/>
                <a:ea typeface="Roboto"/>
                <a:cs typeface="Roboto"/>
                <a:sym typeface="Roboto"/>
              </a:rPr>
            </a:br>
            <a:r>
              <a:rPr b="1" lang="en" sz="3200">
                <a:solidFill>
                  <a:srgbClr val="10B981"/>
                </a:solidFill>
                <a:latin typeface="Roboto"/>
                <a:ea typeface="Roboto"/>
                <a:cs typeface="Roboto"/>
                <a:sym typeface="Roboto"/>
              </a:rPr>
              <a:t>Architect Project</a:t>
            </a:r>
            <a:endParaRPr b="1" sz="3200">
              <a:solidFill>
                <a:srgbClr val="3B82F6"/>
              </a:solidFill>
              <a:latin typeface="Roboto"/>
              <a:ea typeface="Roboto"/>
              <a:cs typeface="Roboto"/>
              <a:sym typeface="Roboto"/>
            </a:endParaRPr>
          </a:p>
          <a:p>
            <a:pPr indent="0" lvl="0" marL="0" rtl="0" algn="l">
              <a:spcBef>
                <a:spcPts val="1500"/>
              </a:spcBef>
              <a:spcAft>
                <a:spcPts val="1800"/>
              </a:spcAft>
              <a:buNone/>
            </a:pPr>
            <a:r>
              <a:rPr b="1" lang="en" sz="1800">
                <a:solidFill>
                  <a:schemeClr val="lt1"/>
                </a:solidFill>
                <a:latin typeface="Roboto"/>
                <a:ea typeface="Roboto"/>
                <a:cs typeface="Roboto"/>
                <a:sym typeface="Roboto"/>
              </a:rPr>
              <a:t>A hands-on, simple cloud simulation designed for Google Cloud PCA candidates to map, deploy, and evaluate real-world infrastructure.</a:t>
            </a:r>
            <a:endParaRPr b="1" sz="1800">
              <a:solidFill>
                <a:schemeClr val="lt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 name="Shape 62"/>
        <p:cNvGrpSpPr/>
        <p:nvPr/>
      </p:nvGrpSpPr>
      <p:grpSpPr>
        <a:xfrm>
          <a:off x="0" y="0"/>
          <a:ext cx="0" cy="0"/>
          <a:chOff x="0" y="0"/>
          <a:chExt cx="0" cy="0"/>
        </a:xfrm>
      </p:grpSpPr>
      <p:sp>
        <p:nvSpPr>
          <p:cNvPr id="63" name="Google Shape;63;p15"/>
          <p:cNvSpPr txBox="1"/>
          <p:nvPr/>
        </p:nvSpPr>
        <p:spPr>
          <a:xfrm>
            <a:off x="571500" y="428625"/>
            <a:ext cx="8001000" cy="1066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FFFFFF"/>
                </a:solidFill>
                <a:latin typeface="Roboto"/>
                <a:ea typeface="Roboto"/>
                <a:cs typeface="Roboto"/>
                <a:sym typeface="Roboto"/>
              </a:rPr>
              <a:t>Chiho Sharp</a:t>
            </a:r>
            <a:endParaRPr b="1" sz="3200">
              <a:solidFill>
                <a:srgbClr val="FFFFFF"/>
              </a:solidFill>
              <a:latin typeface="Roboto"/>
              <a:ea typeface="Roboto"/>
              <a:cs typeface="Roboto"/>
              <a:sym typeface="Roboto"/>
            </a:endParaRPr>
          </a:p>
          <a:p>
            <a:pPr indent="0" lvl="0" marL="0" rtl="0" algn="l">
              <a:spcBef>
                <a:spcPts val="0"/>
              </a:spcBef>
              <a:spcAft>
                <a:spcPts val="0"/>
              </a:spcAft>
              <a:buNone/>
            </a:pPr>
            <a:r>
              <a:rPr b="0" lang="en" sz="1400">
                <a:solidFill>
                  <a:srgbClr val="38BDF8"/>
                </a:solidFill>
                <a:latin typeface="Roboto Medium"/>
                <a:ea typeface="Roboto Medium"/>
                <a:cs typeface="Roboto Medium"/>
                <a:sym typeface="Roboto Medium"/>
              </a:rPr>
              <a:t> GOOGLE CLOUD CERTIFICATIONS</a:t>
            </a:r>
            <a:endParaRPr b="0" sz="1400">
              <a:solidFill>
                <a:srgbClr val="38BDF8"/>
              </a:solidFill>
              <a:latin typeface="Roboto Medium"/>
              <a:ea typeface="Roboto Medium"/>
              <a:cs typeface="Roboto Medium"/>
              <a:sym typeface="Roboto Medium"/>
            </a:endParaRPr>
          </a:p>
        </p:txBody>
      </p:sp>
      <p:grpSp>
        <p:nvGrpSpPr>
          <p:cNvPr id="64" name="Google Shape;64;p15"/>
          <p:cNvGrpSpPr/>
          <p:nvPr/>
        </p:nvGrpSpPr>
        <p:grpSpPr>
          <a:xfrm>
            <a:off x="571500" y="1648900"/>
            <a:ext cx="2476500" cy="3143400"/>
            <a:chOff x="0" y="0"/>
            <a:chExt cx="2476500" cy="3143400"/>
          </a:xfrm>
        </p:grpSpPr>
        <p:sp>
          <p:nvSpPr>
            <p:cNvPr id="65" name="Google Shape;65;p15"/>
            <p:cNvSpPr/>
            <p:nvPr/>
          </p:nvSpPr>
          <p:spPr>
            <a:xfrm>
              <a:off x="0" y="0"/>
              <a:ext cx="2476500" cy="3143400"/>
            </a:xfrm>
            <a:prstGeom prst="roundRect">
              <a:avLst>
                <a:gd fmla="val 4615"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 name="Google Shape;66;p15"/>
            <p:cNvSpPr/>
            <p:nvPr/>
          </p:nvSpPr>
          <p:spPr>
            <a:xfrm>
              <a:off x="0" y="0"/>
              <a:ext cx="2476500" cy="573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 name="Google Shape;67;p15"/>
            <p:cNvSpPr/>
            <p:nvPr/>
          </p:nvSpPr>
          <p:spPr>
            <a:xfrm>
              <a:off x="1876425" y="209550"/>
              <a:ext cx="342900" cy="342900"/>
            </a:xfrm>
            <a:prstGeom prst="ellipse">
              <a:avLst/>
            </a:prstGeom>
            <a:solidFill>
              <a:srgbClr val="F59E0B">
                <a:alpha val="20000"/>
              </a:srgbClr>
            </a:solidFill>
            <a:ln cap="flat" cmpd="sng" w="1430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 name="Google Shape;68;p15"/>
            <p:cNvSpPr txBox="1"/>
            <p:nvPr/>
          </p:nvSpPr>
          <p:spPr>
            <a:xfrm>
              <a:off x="1876425" y="232918"/>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600">
                  <a:solidFill>
                    <a:srgbClr val="F59E0B"/>
                  </a:solidFill>
                  <a:latin typeface="Material Icons"/>
                  <a:ea typeface="Material Icons"/>
                  <a:cs typeface="Material Icons"/>
                  <a:sym typeface="Material Icons"/>
                </a:rPr>
                <a:t>verified_user</a:t>
              </a:r>
              <a:endParaRPr sz="1600">
                <a:solidFill>
                  <a:srgbClr val="F59E0B"/>
                </a:solidFill>
                <a:latin typeface="Material Icons"/>
                <a:ea typeface="Material Icons"/>
                <a:cs typeface="Material Icons"/>
                <a:sym typeface="Material Icons"/>
              </a:endParaRPr>
            </a:p>
          </p:txBody>
        </p:sp>
        <p:sp>
          <p:nvSpPr>
            <p:cNvPr id="69" name="Google Shape;69;p15"/>
            <p:cNvSpPr txBox="1"/>
            <p:nvPr/>
          </p:nvSpPr>
          <p:spPr>
            <a:xfrm>
              <a:off x="190500" y="285750"/>
              <a:ext cx="20955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F59E0B"/>
                  </a:solidFill>
                  <a:latin typeface="Roboto"/>
                  <a:ea typeface="Roboto"/>
                  <a:cs typeface="Roboto"/>
                  <a:sym typeface="Roboto"/>
                </a:rPr>
                <a:t>PROFESSIONAL</a:t>
              </a:r>
              <a:endParaRPr b="1" sz="1000">
                <a:solidFill>
                  <a:srgbClr val="F59E0B"/>
                </a:solidFill>
                <a:latin typeface="Roboto"/>
                <a:ea typeface="Roboto"/>
                <a:cs typeface="Roboto"/>
                <a:sym typeface="Roboto"/>
              </a:endParaRPr>
            </a:p>
            <a:p>
              <a:pPr indent="0" lvl="0" marL="0" rtl="0" algn="l">
                <a:spcBef>
                  <a:spcPts val="900"/>
                </a:spcBef>
                <a:spcAft>
                  <a:spcPts val="0"/>
                </a:spcAft>
                <a:buNone/>
              </a:pPr>
              <a:r>
                <a:rPr b="1" lang="en" sz="1500">
                  <a:solidFill>
                    <a:srgbClr val="FFFFFF"/>
                  </a:solidFill>
                  <a:latin typeface="Roboto"/>
                  <a:ea typeface="Roboto"/>
                  <a:cs typeface="Roboto"/>
                  <a:sym typeface="Roboto"/>
                </a:rPr>
                <a:t>Professional Cloud Architect</a:t>
              </a:r>
              <a:endParaRPr b="1" sz="1500">
                <a:solidFill>
                  <a:srgbClr val="FFFFFF"/>
                </a:solidFill>
                <a:latin typeface="Roboto"/>
                <a:ea typeface="Roboto"/>
                <a:cs typeface="Roboto"/>
                <a:sym typeface="Roboto"/>
              </a:endParaRPr>
            </a:p>
            <a:p>
              <a:pPr indent="0" lvl="0" marL="0" rtl="0" algn="l">
                <a:spcBef>
                  <a:spcPts val="300"/>
                </a:spcBef>
                <a:spcAft>
                  <a:spcPts val="0"/>
                </a:spcAft>
                <a:buNone/>
              </a:pPr>
              <a:r>
                <a:rPr lang="en" sz="1000">
                  <a:solidFill>
                    <a:srgbClr val="94A3B8"/>
                  </a:solidFill>
                  <a:latin typeface="Roboto"/>
                  <a:ea typeface="Roboto"/>
                  <a:cs typeface="Roboto"/>
                  <a:sym typeface="Roboto"/>
                </a:rPr>
                <a:t>CERT-P-CA</a:t>
              </a:r>
              <a:endParaRPr sz="1000">
                <a:solidFill>
                  <a:srgbClr val="94A3B8"/>
                </a:solidFill>
                <a:latin typeface="Roboto"/>
                <a:ea typeface="Roboto"/>
                <a:cs typeface="Roboto"/>
                <a:sym typeface="Roboto"/>
              </a:endParaRPr>
            </a:p>
            <a:p>
              <a:pPr indent="0" lvl="0" marL="0" rtl="0" algn="l">
                <a:spcBef>
                  <a:spcPts val="1800"/>
                </a:spcBef>
                <a:spcAft>
                  <a:spcPts val="0"/>
                </a:spcAft>
                <a:buNone/>
              </a:pPr>
              <a:r>
                <a:rPr b="1" lang="en" sz="900">
                  <a:solidFill>
                    <a:srgbClr val="60A5FA"/>
                  </a:solidFill>
                  <a:latin typeface="Roboto"/>
                  <a:ea typeface="Roboto"/>
                  <a:cs typeface="Roboto"/>
                  <a:sym typeface="Roboto"/>
                </a:rPr>
                <a:t>ACTIVE DATE</a:t>
              </a:r>
              <a:endParaRPr b="1" sz="900">
                <a:solidFill>
                  <a:srgbClr val="60A5FA"/>
                </a:solidFill>
                <a:latin typeface="Roboto"/>
                <a:ea typeface="Roboto"/>
                <a:cs typeface="Roboto"/>
                <a:sym typeface="Roboto"/>
              </a:endParaRPr>
            </a:p>
            <a:p>
              <a:pPr indent="0" lvl="0" marL="0" rtl="0" algn="l">
                <a:spcBef>
                  <a:spcPts val="150"/>
                </a:spcBef>
                <a:spcAft>
                  <a:spcPts val="0"/>
                </a:spcAft>
                <a:buNone/>
              </a:pPr>
              <a:r>
                <a:rPr lang="en" sz="1100">
                  <a:solidFill>
                    <a:srgbClr val="CBD5E1"/>
                  </a:solidFill>
                  <a:latin typeface="Roboto"/>
                  <a:ea typeface="Roboto"/>
                  <a:cs typeface="Roboto"/>
                  <a:sym typeface="Roboto"/>
                </a:rPr>
                <a:t>2026-06-11</a:t>
              </a:r>
              <a:endParaRPr sz="1100">
                <a:solidFill>
                  <a:srgbClr val="CBD5E1"/>
                </a:solidFill>
                <a:latin typeface="Roboto"/>
                <a:ea typeface="Roboto"/>
                <a:cs typeface="Roboto"/>
                <a:sym typeface="Roboto"/>
              </a:endParaRPr>
            </a:p>
            <a:p>
              <a:pPr indent="0" lvl="0" marL="0" rtl="0" algn="l">
                <a:spcBef>
                  <a:spcPts val="900"/>
                </a:spcBef>
                <a:spcAft>
                  <a:spcPts val="0"/>
                </a:spcAft>
                <a:buNone/>
              </a:pPr>
              <a:r>
                <a:rPr b="1" lang="en" sz="900">
                  <a:solidFill>
                    <a:srgbClr val="94A3B8"/>
                  </a:solidFill>
                  <a:latin typeface="Roboto"/>
                  <a:ea typeface="Roboto"/>
                  <a:cs typeface="Roboto"/>
                  <a:sym typeface="Roboto"/>
                </a:rPr>
                <a:t>EXPIRY DATE</a:t>
              </a:r>
              <a:endParaRPr b="1" sz="900">
                <a:solidFill>
                  <a:srgbClr val="94A3B8"/>
                </a:solidFill>
                <a:latin typeface="Roboto"/>
                <a:ea typeface="Roboto"/>
                <a:cs typeface="Roboto"/>
                <a:sym typeface="Roboto"/>
              </a:endParaRPr>
            </a:p>
            <a:p>
              <a:pPr indent="0" lvl="0" marL="0" rtl="0" algn="l">
                <a:spcBef>
                  <a:spcPts val="150"/>
                </a:spcBef>
                <a:spcAft>
                  <a:spcPts val="0"/>
                </a:spcAft>
                <a:buNone/>
              </a:pPr>
              <a:r>
                <a:rPr lang="en" sz="1100">
                  <a:solidFill>
                    <a:srgbClr val="CBD5E1"/>
                  </a:solidFill>
                  <a:latin typeface="Roboto"/>
                  <a:ea typeface="Roboto"/>
                  <a:cs typeface="Roboto"/>
                  <a:sym typeface="Roboto"/>
                </a:rPr>
                <a:t>2028-07-11</a:t>
              </a:r>
              <a:endParaRPr sz="1100">
                <a:solidFill>
                  <a:srgbClr val="CBD5E1"/>
                </a:solidFill>
                <a:latin typeface="Roboto"/>
                <a:ea typeface="Roboto"/>
                <a:cs typeface="Roboto"/>
                <a:sym typeface="Roboto"/>
              </a:endParaRPr>
            </a:p>
            <a:p>
              <a:pPr indent="0" lvl="0" marL="0" rtl="0" algn="l">
                <a:spcBef>
                  <a:spcPts val="900"/>
                </a:spcBef>
                <a:spcAft>
                  <a:spcPts val="0"/>
                </a:spcAft>
                <a:buNone/>
              </a:pPr>
              <a:r>
                <a:rPr lang="en" sz="850">
                  <a:solidFill>
                    <a:srgbClr val="64748B"/>
                  </a:solidFill>
                  <a:latin typeface="Roboto"/>
                  <a:ea typeface="Roboto"/>
                  <a:cs typeface="Roboto"/>
                  <a:sym typeface="Roboto"/>
                </a:rPr>
                <a:t>SERIES ID: 123792</a:t>
              </a:r>
              <a:endParaRPr sz="850">
                <a:solidFill>
                  <a:srgbClr val="64748B"/>
                </a:solidFill>
                <a:latin typeface="Roboto"/>
                <a:ea typeface="Roboto"/>
                <a:cs typeface="Roboto"/>
                <a:sym typeface="Roboto"/>
              </a:endParaRPr>
            </a:p>
          </p:txBody>
        </p:sp>
      </p:grpSp>
      <p:grpSp>
        <p:nvGrpSpPr>
          <p:cNvPr id="70" name="Google Shape;70;p15"/>
          <p:cNvGrpSpPr/>
          <p:nvPr/>
        </p:nvGrpSpPr>
        <p:grpSpPr>
          <a:xfrm>
            <a:off x="3333750" y="1648900"/>
            <a:ext cx="2476500" cy="3143400"/>
            <a:chOff x="0" y="0"/>
            <a:chExt cx="2476500" cy="3143400"/>
          </a:xfrm>
        </p:grpSpPr>
        <p:sp>
          <p:nvSpPr>
            <p:cNvPr id="71" name="Google Shape;71;p15"/>
            <p:cNvSpPr/>
            <p:nvPr/>
          </p:nvSpPr>
          <p:spPr>
            <a:xfrm>
              <a:off x="0" y="0"/>
              <a:ext cx="2476500" cy="3143400"/>
            </a:xfrm>
            <a:prstGeom prst="roundRect">
              <a:avLst>
                <a:gd fmla="val 4615"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 name="Google Shape;72;p15"/>
            <p:cNvSpPr/>
            <p:nvPr/>
          </p:nvSpPr>
          <p:spPr>
            <a:xfrm>
              <a:off x="0" y="0"/>
              <a:ext cx="2476500" cy="573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 name="Google Shape;73;p15"/>
            <p:cNvSpPr/>
            <p:nvPr/>
          </p:nvSpPr>
          <p:spPr>
            <a:xfrm>
              <a:off x="1876425" y="209550"/>
              <a:ext cx="342900" cy="342900"/>
            </a:xfrm>
            <a:prstGeom prst="ellipse">
              <a:avLst/>
            </a:prstGeom>
            <a:solidFill>
              <a:srgbClr val="3B82F6">
                <a:alpha val="20000"/>
              </a:srgbClr>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 name="Google Shape;74;p15"/>
            <p:cNvSpPr txBox="1"/>
            <p:nvPr/>
          </p:nvSpPr>
          <p:spPr>
            <a:xfrm>
              <a:off x="1876425" y="232918"/>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600">
                  <a:solidFill>
                    <a:srgbClr val="3B82F6"/>
                  </a:solidFill>
                  <a:latin typeface="Material Icons"/>
                  <a:ea typeface="Material Icons"/>
                  <a:cs typeface="Material Icons"/>
                  <a:sym typeface="Material Icons"/>
                </a:rPr>
                <a:t>stars</a:t>
              </a:r>
              <a:endParaRPr sz="1600">
                <a:solidFill>
                  <a:srgbClr val="3B82F6"/>
                </a:solidFill>
                <a:latin typeface="Material Icons"/>
                <a:ea typeface="Material Icons"/>
                <a:cs typeface="Material Icons"/>
                <a:sym typeface="Material Icons"/>
              </a:endParaRPr>
            </a:p>
          </p:txBody>
        </p:sp>
        <p:sp>
          <p:nvSpPr>
            <p:cNvPr id="75" name="Google Shape;75;p15"/>
            <p:cNvSpPr txBox="1"/>
            <p:nvPr/>
          </p:nvSpPr>
          <p:spPr>
            <a:xfrm>
              <a:off x="190500" y="285750"/>
              <a:ext cx="20955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3B82F6"/>
                  </a:solidFill>
                  <a:latin typeface="Roboto"/>
                  <a:ea typeface="Roboto"/>
                  <a:cs typeface="Roboto"/>
                  <a:sym typeface="Roboto"/>
                </a:rPr>
                <a:t>ASSOCIATE</a:t>
              </a:r>
              <a:endParaRPr b="1" sz="1000">
                <a:solidFill>
                  <a:srgbClr val="3B82F6"/>
                </a:solidFill>
                <a:latin typeface="Roboto"/>
                <a:ea typeface="Roboto"/>
                <a:cs typeface="Roboto"/>
                <a:sym typeface="Roboto"/>
              </a:endParaRPr>
            </a:p>
            <a:p>
              <a:pPr indent="0" lvl="0" marL="0" rtl="0" algn="l">
                <a:spcBef>
                  <a:spcPts val="900"/>
                </a:spcBef>
                <a:spcAft>
                  <a:spcPts val="0"/>
                </a:spcAft>
                <a:buNone/>
              </a:pPr>
              <a:r>
                <a:rPr b="1" lang="en" sz="1500">
                  <a:solidFill>
                    <a:srgbClr val="FFFFFF"/>
                  </a:solidFill>
                  <a:latin typeface="Roboto"/>
                  <a:ea typeface="Roboto"/>
                  <a:cs typeface="Roboto"/>
                  <a:sym typeface="Roboto"/>
                </a:rPr>
                <a:t>Associate Cloud Engineer</a:t>
              </a:r>
              <a:endParaRPr b="1" sz="1500">
                <a:solidFill>
                  <a:srgbClr val="FFFFFF"/>
                </a:solidFill>
                <a:latin typeface="Roboto"/>
                <a:ea typeface="Roboto"/>
                <a:cs typeface="Roboto"/>
                <a:sym typeface="Roboto"/>
              </a:endParaRPr>
            </a:p>
            <a:p>
              <a:pPr indent="0" lvl="0" marL="0" rtl="0" algn="l">
                <a:spcBef>
                  <a:spcPts val="300"/>
                </a:spcBef>
                <a:spcAft>
                  <a:spcPts val="0"/>
                </a:spcAft>
                <a:buNone/>
              </a:pPr>
              <a:r>
                <a:rPr lang="en" sz="1000">
                  <a:solidFill>
                    <a:srgbClr val="94A3B8"/>
                  </a:solidFill>
                  <a:latin typeface="Roboto"/>
                  <a:ea typeface="Roboto"/>
                  <a:cs typeface="Roboto"/>
                  <a:sym typeface="Roboto"/>
                </a:rPr>
                <a:t>CERT-A-ACE</a:t>
              </a:r>
              <a:endParaRPr sz="1000">
                <a:solidFill>
                  <a:srgbClr val="94A3B8"/>
                </a:solidFill>
                <a:latin typeface="Roboto"/>
                <a:ea typeface="Roboto"/>
                <a:cs typeface="Roboto"/>
                <a:sym typeface="Roboto"/>
              </a:endParaRPr>
            </a:p>
            <a:p>
              <a:pPr indent="0" lvl="0" marL="0" rtl="0" algn="l">
                <a:spcBef>
                  <a:spcPts val="1800"/>
                </a:spcBef>
                <a:spcAft>
                  <a:spcPts val="0"/>
                </a:spcAft>
                <a:buNone/>
              </a:pPr>
              <a:r>
                <a:rPr b="1" lang="en" sz="900">
                  <a:solidFill>
                    <a:srgbClr val="60A5FA"/>
                  </a:solidFill>
                  <a:latin typeface="Roboto"/>
                  <a:ea typeface="Roboto"/>
                  <a:cs typeface="Roboto"/>
                  <a:sym typeface="Roboto"/>
                </a:rPr>
                <a:t>ACTIVE DATE</a:t>
              </a:r>
              <a:endParaRPr b="1" sz="900">
                <a:solidFill>
                  <a:srgbClr val="60A5FA"/>
                </a:solidFill>
                <a:latin typeface="Roboto"/>
                <a:ea typeface="Roboto"/>
                <a:cs typeface="Roboto"/>
                <a:sym typeface="Roboto"/>
              </a:endParaRPr>
            </a:p>
            <a:p>
              <a:pPr indent="0" lvl="0" marL="0" rtl="0" algn="l">
                <a:spcBef>
                  <a:spcPts val="150"/>
                </a:spcBef>
                <a:spcAft>
                  <a:spcPts val="0"/>
                </a:spcAft>
                <a:buNone/>
              </a:pPr>
              <a:r>
                <a:rPr lang="en" sz="1100">
                  <a:solidFill>
                    <a:srgbClr val="CBD5E1"/>
                  </a:solidFill>
                  <a:latin typeface="Roboto"/>
                  <a:ea typeface="Roboto"/>
                  <a:cs typeface="Roboto"/>
                  <a:sym typeface="Roboto"/>
                </a:rPr>
                <a:t>2025-10-30</a:t>
              </a:r>
              <a:endParaRPr sz="1100">
                <a:solidFill>
                  <a:srgbClr val="CBD5E1"/>
                </a:solidFill>
                <a:latin typeface="Roboto"/>
                <a:ea typeface="Roboto"/>
                <a:cs typeface="Roboto"/>
                <a:sym typeface="Roboto"/>
              </a:endParaRPr>
            </a:p>
            <a:p>
              <a:pPr indent="0" lvl="0" marL="0" rtl="0" algn="l">
                <a:spcBef>
                  <a:spcPts val="900"/>
                </a:spcBef>
                <a:spcAft>
                  <a:spcPts val="0"/>
                </a:spcAft>
                <a:buNone/>
              </a:pPr>
              <a:r>
                <a:rPr b="1" lang="en" sz="900">
                  <a:solidFill>
                    <a:srgbClr val="94A3B8"/>
                  </a:solidFill>
                  <a:latin typeface="Roboto"/>
                  <a:ea typeface="Roboto"/>
                  <a:cs typeface="Roboto"/>
                  <a:sym typeface="Roboto"/>
                </a:rPr>
                <a:t>EXPIRY DATE</a:t>
              </a:r>
              <a:endParaRPr b="1" sz="900">
                <a:solidFill>
                  <a:srgbClr val="94A3B8"/>
                </a:solidFill>
                <a:latin typeface="Roboto"/>
                <a:ea typeface="Roboto"/>
                <a:cs typeface="Roboto"/>
                <a:sym typeface="Roboto"/>
              </a:endParaRPr>
            </a:p>
            <a:p>
              <a:pPr indent="0" lvl="0" marL="0" rtl="0" algn="l">
                <a:spcBef>
                  <a:spcPts val="150"/>
                </a:spcBef>
                <a:spcAft>
                  <a:spcPts val="0"/>
                </a:spcAft>
                <a:buNone/>
              </a:pPr>
              <a:r>
                <a:rPr lang="en" sz="1100">
                  <a:solidFill>
                    <a:srgbClr val="CBD5E1"/>
                  </a:solidFill>
                  <a:latin typeface="Roboto"/>
                  <a:ea typeface="Roboto"/>
                  <a:cs typeface="Roboto"/>
                  <a:sym typeface="Roboto"/>
                </a:rPr>
                <a:t>2028-11-30</a:t>
              </a:r>
              <a:endParaRPr sz="1100">
                <a:solidFill>
                  <a:srgbClr val="CBD5E1"/>
                </a:solidFill>
                <a:latin typeface="Roboto"/>
                <a:ea typeface="Roboto"/>
                <a:cs typeface="Roboto"/>
                <a:sym typeface="Roboto"/>
              </a:endParaRPr>
            </a:p>
            <a:p>
              <a:pPr indent="0" lvl="0" marL="0" rtl="0" algn="l">
                <a:spcBef>
                  <a:spcPts val="900"/>
                </a:spcBef>
                <a:spcAft>
                  <a:spcPts val="0"/>
                </a:spcAft>
                <a:buNone/>
              </a:pPr>
              <a:r>
                <a:rPr lang="en" sz="850">
                  <a:solidFill>
                    <a:srgbClr val="64748B"/>
                  </a:solidFill>
                  <a:latin typeface="Roboto"/>
                  <a:ea typeface="Roboto"/>
                  <a:cs typeface="Roboto"/>
                  <a:sym typeface="Roboto"/>
                </a:rPr>
                <a:t>SERIES ID: 183505</a:t>
              </a:r>
              <a:endParaRPr sz="850">
                <a:solidFill>
                  <a:srgbClr val="64748B"/>
                </a:solidFill>
                <a:latin typeface="Roboto"/>
                <a:ea typeface="Roboto"/>
                <a:cs typeface="Roboto"/>
                <a:sym typeface="Roboto"/>
              </a:endParaRPr>
            </a:p>
          </p:txBody>
        </p:sp>
      </p:grpSp>
      <p:grpSp>
        <p:nvGrpSpPr>
          <p:cNvPr id="76" name="Google Shape;76;p15"/>
          <p:cNvGrpSpPr/>
          <p:nvPr/>
        </p:nvGrpSpPr>
        <p:grpSpPr>
          <a:xfrm>
            <a:off x="6096000" y="1648900"/>
            <a:ext cx="2476500" cy="3143400"/>
            <a:chOff x="0" y="0"/>
            <a:chExt cx="2476500" cy="3143400"/>
          </a:xfrm>
        </p:grpSpPr>
        <p:sp>
          <p:nvSpPr>
            <p:cNvPr id="77" name="Google Shape;77;p15"/>
            <p:cNvSpPr/>
            <p:nvPr/>
          </p:nvSpPr>
          <p:spPr>
            <a:xfrm>
              <a:off x="0" y="0"/>
              <a:ext cx="2476500" cy="3143400"/>
            </a:xfrm>
            <a:prstGeom prst="roundRect">
              <a:avLst>
                <a:gd fmla="val 4615"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 name="Google Shape;78;p15"/>
            <p:cNvSpPr/>
            <p:nvPr/>
          </p:nvSpPr>
          <p:spPr>
            <a:xfrm>
              <a:off x="0" y="0"/>
              <a:ext cx="2476500" cy="573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 name="Google Shape;79;p15"/>
            <p:cNvSpPr/>
            <p:nvPr/>
          </p:nvSpPr>
          <p:spPr>
            <a:xfrm>
              <a:off x="1876425" y="209550"/>
              <a:ext cx="342900" cy="342900"/>
            </a:xfrm>
            <a:prstGeom prst="ellipse">
              <a:avLst/>
            </a:prstGeom>
            <a:solidFill>
              <a:srgbClr val="10B981">
                <a:alpha val="20000"/>
              </a:srgbClr>
            </a:solidFill>
            <a:ln cap="flat" cmpd="sng" w="1430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 name="Google Shape;80;p15"/>
            <p:cNvSpPr txBox="1"/>
            <p:nvPr/>
          </p:nvSpPr>
          <p:spPr>
            <a:xfrm>
              <a:off x="1876425" y="232918"/>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600">
                  <a:solidFill>
                    <a:srgbClr val="10B981"/>
                  </a:solidFill>
                  <a:latin typeface="Material Icons"/>
                  <a:ea typeface="Material Icons"/>
                  <a:cs typeface="Material Icons"/>
                  <a:sym typeface="Material Icons"/>
                </a:rPr>
                <a:t>school</a:t>
              </a:r>
              <a:endParaRPr sz="1600">
                <a:solidFill>
                  <a:srgbClr val="10B981"/>
                </a:solidFill>
                <a:latin typeface="Material Icons"/>
                <a:ea typeface="Material Icons"/>
                <a:cs typeface="Material Icons"/>
                <a:sym typeface="Material Icons"/>
              </a:endParaRPr>
            </a:p>
          </p:txBody>
        </p:sp>
        <p:sp>
          <p:nvSpPr>
            <p:cNvPr id="81" name="Google Shape;81;p15"/>
            <p:cNvSpPr txBox="1"/>
            <p:nvPr/>
          </p:nvSpPr>
          <p:spPr>
            <a:xfrm>
              <a:off x="190500" y="285750"/>
              <a:ext cx="20955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10B981"/>
                  </a:solidFill>
                  <a:latin typeface="Roboto"/>
                  <a:ea typeface="Roboto"/>
                  <a:cs typeface="Roboto"/>
                  <a:sym typeface="Roboto"/>
                </a:rPr>
                <a:t>FOUNDATIONAL</a:t>
              </a:r>
              <a:endParaRPr b="1" sz="1000">
                <a:solidFill>
                  <a:srgbClr val="10B981"/>
                </a:solidFill>
                <a:latin typeface="Roboto"/>
                <a:ea typeface="Roboto"/>
                <a:cs typeface="Roboto"/>
                <a:sym typeface="Roboto"/>
              </a:endParaRPr>
            </a:p>
            <a:p>
              <a:pPr indent="0" lvl="0" marL="0" rtl="0" algn="l">
                <a:spcBef>
                  <a:spcPts val="900"/>
                </a:spcBef>
                <a:spcAft>
                  <a:spcPts val="0"/>
                </a:spcAft>
                <a:buNone/>
              </a:pPr>
              <a:r>
                <a:rPr b="1" lang="en" sz="1500">
                  <a:solidFill>
                    <a:srgbClr val="FFFFFF"/>
                  </a:solidFill>
                  <a:latin typeface="Roboto"/>
                  <a:ea typeface="Roboto"/>
                  <a:cs typeface="Roboto"/>
                  <a:sym typeface="Roboto"/>
                </a:rPr>
                <a:t>Cloud Digital Leader</a:t>
              </a:r>
              <a:endParaRPr b="1" sz="1500">
                <a:solidFill>
                  <a:srgbClr val="FFFFFF"/>
                </a:solidFill>
                <a:latin typeface="Roboto"/>
                <a:ea typeface="Roboto"/>
                <a:cs typeface="Roboto"/>
                <a:sym typeface="Roboto"/>
              </a:endParaRPr>
            </a:p>
            <a:p>
              <a:pPr indent="0" lvl="0" marL="0" rtl="0" algn="l">
                <a:spcBef>
                  <a:spcPts val="300"/>
                </a:spcBef>
                <a:spcAft>
                  <a:spcPts val="0"/>
                </a:spcAft>
                <a:buNone/>
              </a:pPr>
              <a:r>
                <a:rPr lang="en" sz="1000">
                  <a:solidFill>
                    <a:srgbClr val="94A3B8"/>
                  </a:solidFill>
                  <a:latin typeface="Roboto"/>
                  <a:ea typeface="Roboto"/>
                  <a:cs typeface="Roboto"/>
                  <a:sym typeface="Roboto"/>
                </a:rPr>
                <a:t>CERT-FUN-CDL</a:t>
              </a:r>
              <a:endParaRPr sz="1000">
                <a:solidFill>
                  <a:srgbClr val="94A3B8"/>
                </a:solidFill>
                <a:latin typeface="Roboto"/>
                <a:ea typeface="Roboto"/>
                <a:cs typeface="Roboto"/>
                <a:sym typeface="Roboto"/>
              </a:endParaRPr>
            </a:p>
            <a:p>
              <a:pPr indent="0" lvl="0" marL="0" rtl="0" algn="l">
                <a:spcBef>
                  <a:spcPts val="1800"/>
                </a:spcBef>
                <a:spcAft>
                  <a:spcPts val="0"/>
                </a:spcAft>
                <a:buNone/>
              </a:pPr>
              <a:r>
                <a:rPr b="1" lang="en" sz="900">
                  <a:solidFill>
                    <a:srgbClr val="60A5FA"/>
                  </a:solidFill>
                  <a:latin typeface="Roboto"/>
                  <a:ea typeface="Roboto"/>
                  <a:cs typeface="Roboto"/>
                  <a:sym typeface="Roboto"/>
                </a:rPr>
                <a:t>ACTIVE DATE</a:t>
              </a:r>
              <a:endParaRPr b="1" sz="900">
                <a:solidFill>
                  <a:srgbClr val="60A5FA"/>
                </a:solidFill>
                <a:latin typeface="Roboto"/>
                <a:ea typeface="Roboto"/>
                <a:cs typeface="Roboto"/>
                <a:sym typeface="Roboto"/>
              </a:endParaRPr>
            </a:p>
            <a:p>
              <a:pPr indent="0" lvl="0" marL="0" rtl="0" algn="l">
                <a:spcBef>
                  <a:spcPts val="150"/>
                </a:spcBef>
                <a:spcAft>
                  <a:spcPts val="0"/>
                </a:spcAft>
                <a:buNone/>
              </a:pPr>
              <a:r>
                <a:rPr lang="en" sz="1100">
                  <a:solidFill>
                    <a:srgbClr val="CBD5E1"/>
                  </a:solidFill>
                  <a:latin typeface="Roboto"/>
                  <a:ea typeface="Roboto"/>
                  <a:cs typeface="Roboto"/>
                  <a:sym typeface="Roboto"/>
                </a:rPr>
                <a:t>2025-03-31</a:t>
              </a:r>
              <a:endParaRPr sz="1100">
                <a:solidFill>
                  <a:srgbClr val="CBD5E1"/>
                </a:solidFill>
                <a:latin typeface="Roboto"/>
                <a:ea typeface="Roboto"/>
                <a:cs typeface="Roboto"/>
                <a:sym typeface="Roboto"/>
              </a:endParaRPr>
            </a:p>
            <a:p>
              <a:pPr indent="0" lvl="0" marL="0" rtl="0" algn="l">
                <a:spcBef>
                  <a:spcPts val="900"/>
                </a:spcBef>
                <a:spcAft>
                  <a:spcPts val="0"/>
                </a:spcAft>
                <a:buNone/>
              </a:pPr>
              <a:r>
                <a:rPr b="1" lang="en" sz="900">
                  <a:solidFill>
                    <a:srgbClr val="94A3B8"/>
                  </a:solidFill>
                  <a:latin typeface="Roboto"/>
                  <a:ea typeface="Roboto"/>
                  <a:cs typeface="Roboto"/>
                  <a:sym typeface="Roboto"/>
                </a:rPr>
                <a:t>EXPIRY DATE</a:t>
              </a:r>
              <a:endParaRPr b="1" sz="900">
                <a:solidFill>
                  <a:srgbClr val="94A3B8"/>
                </a:solidFill>
                <a:latin typeface="Roboto"/>
                <a:ea typeface="Roboto"/>
                <a:cs typeface="Roboto"/>
                <a:sym typeface="Roboto"/>
              </a:endParaRPr>
            </a:p>
            <a:p>
              <a:pPr indent="0" lvl="0" marL="0" rtl="0" algn="l">
                <a:spcBef>
                  <a:spcPts val="150"/>
                </a:spcBef>
                <a:spcAft>
                  <a:spcPts val="0"/>
                </a:spcAft>
                <a:buNone/>
              </a:pPr>
              <a:r>
                <a:rPr lang="en" sz="1100">
                  <a:solidFill>
                    <a:srgbClr val="CBD5E1"/>
                  </a:solidFill>
                  <a:latin typeface="Roboto"/>
                  <a:ea typeface="Roboto"/>
                  <a:cs typeface="Roboto"/>
                  <a:sym typeface="Roboto"/>
                </a:rPr>
                <a:t>2028-04-30</a:t>
              </a:r>
              <a:endParaRPr sz="1100">
                <a:solidFill>
                  <a:srgbClr val="CBD5E1"/>
                </a:solidFill>
                <a:latin typeface="Roboto"/>
                <a:ea typeface="Roboto"/>
                <a:cs typeface="Roboto"/>
                <a:sym typeface="Roboto"/>
              </a:endParaRPr>
            </a:p>
            <a:p>
              <a:pPr indent="0" lvl="0" marL="0" rtl="0" algn="l">
                <a:spcBef>
                  <a:spcPts val="900"/>
                </a:spcBef>
                <a:spcAft>
                  <a:spcPts val="0"/>
                </a:spcAft>
                <a:buNone/>
              </a:pPr>
              <a:r>
                <a:rPr lang="en" sz="850">
                  <a:solidFill>
                    <a:srgbClr val="64748B"/>
                  </a:solidFill>
                  <a:latin typeface="Roboto"/>
                  <a:ea typeface="Roboto"/>
                  <a:cs typeface="Roboto"/>
                  <a:sym typeface="Roboto"/>
                </a:rPr>
                <a:t>SERIES ID: 95438</a:t>
              </a:r>
              <a:endParaRPr sz="850">
                <a:solidFill>
                  <a:srgbClr val="64748B"/>
                </a:solidFill>
                <a:latin typeface="Roboto"/>
                <a:ea typeface="Roboto"/>
                <a:cs typeface="Roboto"/>
                <a:sym typeface="Robot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5" name="Shape 85"/>
        <p:cNvGrpSpPr/>
        <p:nvPr/>
      </p:nvGrpSpPr>
      <p:grpSpPr>
        <a:xfrm>
          <a:off x="0" y="0"/>
          <a:ext cx="0" cy="0"/>
          <a:chOff x="0" y="0"/>
          <a:chExt cx="0" cy="0"/>
        </a:xfrm>
      </p:grpSpPr>
      <p:grpSp>
        <p:nvGrpSpPr>
          <p:cNvPr id="86" name="Google Shape;86;p16"/>
          <p:cNvGrpSpPr/>
          <p:nvPr/>
        </p:nvGrpSpPr>
        <p:grpSpPr>
          <a:xfrm>
            <a:off x="418076" y="499125"/>
            <a:ext cx="4891899" cy="4022133"/>
            <a:chOff x="-335150" y="0"/>
            <a:chExt cx="4802100" cy="3948300"/>
          </a:xfrm>
        </p:grpSpPr>
        <p:sp>
          <p:nvSpPr>
            <p:cNvPr id="87" name="Google Shape;87;p16"/>
            <p:cNvSpPr/>
            <p:nvPr/>
          </p:nvSpPr>
          <p:spPr>
            <a:xfrm>
              <a:off x="0" y="0"/>
              <a:ext cx="4000500" cy="3619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 name="Google Shape;88;p16"/>
            <p:cNvSpPr txBox="1"/>
            <p:nvPr/>
          </p:nvSpPr>
          <p:spPr>
            <a:xfrm>
              <a:off x="-335150" y="0"/>
              <a:ext cx="4802100" cy="394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26">
                  <a:solidFill>
                    <a:srgbClr val="34D399"/>
                  </a:solidFill>
                  <a:highlight>
                    <a:srgbClr val="1E293B"/>
                  </a:highlight>
                  <a:latin typeface="Roboto"/>
                  <a:ea typeface="Roboto"/>
                  <a:cs typeface="Roboto"/>
                  <a:sym typeface="Roboto"/>
                </a:rPr>
                <a:t>PROJECT SCENARIO</a:t>
              </a:r>
              <a:endParaRPr sz="1834">
                <a:solidFill>
                  <a:srgbClr val="34D399"/>
                </a:solidFill>
                <a:latin typeface="Roboto"/>
                <a:ea typeface="Roboto"/>
                <a:cs typeface="Roboto"/>
                <a:sym typeface="Roboto"/>
              </a:endParaRPr>
            </a:p>
            <a:p>
              <a:pPr indent="0" lvl="0" marL="0" rtl="0" algn="l">
                <a:lnSpc>
                  <a:spcPct val="115000"/>
                </a:lnSpc>
                <a:spcBef>
                  <a:spcPts val="2445"/>
                </a:spcBef>
                <a:spcAft>
                  <a:spcPts val="0"/>
                </a:spcAft>
                <a:buNone/>
              </a:pPr>
              <a:r>
                <a:rPr b="1" lang="en" sz="2343">
                  <a:solidFill>
                    <a:schemeClr val="dk1"/>
                  </a:solidFill>
                  <a:highlight>
                    <a:srgbClr val="F59E0B"/>
                  </a:highlight>
                </a:rPr>
                <a:t>Build a Community Event   Feedback Application   </a:t>
              </a:r>
              <a:endParaRPr sz="2445">
                <a:solidFill>
                  <a:schemeClr val="dk1"/>
                </a:solidFill>
                <a:highlight>
                  <a:srgbClr val="F59E0B"/>
                </a:highlight>
                <a:latin typeface="Roboto"/>
                <a:ea typeface="Roboto"/>
                <a:cs typeface="Roboto"/>
                <a:sym typeface="Roboto"/>
              </a:endParaRPr>
            </a:p>
            <a:p>
              <a:pPr indent="0" lvl="0" marL="0" rtl="0" algn="l">
                <a:spcBef>
                  <a:spcPts val="611"/>
                </a:spcBef>
                <a:spcAft>
                  <a:spcPts val="0"/>
                </a:spcAft>
                <a:buNone/>
              </a:pPr>
              <a:r>
                <a:rPr b="1" lang="en" sz="1834">
                  <a:solidFill>
                    <a:srgbClr val="34D399"/>
                  </a:solidFill>
                  <a:latin typeface="Roboto"/>
                  <a:ea typeface="Roboto"/>
                  <a:cs typeface="Roboto"/>
                  <a:sym typeface="Roboto"/>
                </a:rPr>
                <a:t>The Challenge</a:t>
              </a:r>
              <a:endParaRPr sz="1834">
                <a:solidFill>
                  <a:srgbClr val="34D399"/>
                </a:solidFill>
                <a:latin typeface="Roboto"/>
                <a:ea typeface="Roboto"/>
                <a:cs typeface="Roboto"/>
                <a:sym typeface="Roboto"/>
              </a:endParaRPr>
            </a:p>
            <a:p>
              <a:pPr indent="0" lvl="0" marL="0" rtl="0" algn="l">
                <a:spcBef>
                  <a:spcPts val="764"/>
                </a:spcBef>
                <a:spcAft>
                  <a:spcPts val="0"/>
                </a:spcAft>
                <a:buNone/>
              </a:pPr>
              <a:r>
                <a:rPr b="1" lang="en" sz="1834">
                  <a:solidFill>
                    <a:schemeClr val="lt1"/>
                  </a:solidFill>
                  <a:latin typeface="Roboto"/>
                  <a:ea typeface="Roboto"/>
                  <a:cs typeface="Roboto"/>
                  <a:sym typeface="Roboto"/>
                </a:rPr>
                <a:t>You client needs your help build a </a:t>
              </a:r>
              <a:r>
                <a:rPr b="1" lang="en" sz="1834" u="sng">
                  <a:solidFill>
                    <a:schemeClr val="lt1"/>
                  </a:solidFill>
                  <a:latin typeface="Roboto"/>
                  <a:ea typeface="Roboto"/>
                  <a:cs typeface="Roboto"/>
                  <a:sym typeface="Roboto"/>
                </a:rPr>
                <a:t>scalable feedback app</a:t>
              </a:r>
              <a:r>
                <a:rPr b="1" lang="en" sz="1834">
                  <a:solidFill>
                    <a:schemeClr val="lt1"/>
                  </a:solidFill>
                  <a:latin typeface="Roboto"/>
                  <a:ea typeface="Roboto"/>
                  <a:cs typeface="Roboto"/>
                  <a:sym typeface="Roboto"/>
                </a:rPr>
                <a:t> using Google Cloud Services. </a:t>
              </a:r>
              <a:endParaRPr b="1" sz="1834">
                <a:solidFill>
                  <a:schemeClr val="lt1"/>
                </a:solidFill>
                <a:latin typeface="Roboto"/>
                <a:ea typeface="Roboto"/>
                <a:cs typeface="Roboto"/>
                <a:sym typeface="Roboto"/>
              </a:endParaRPr>
            </a:p>
            <a:p>
              <a:pPr indent="0" lvl="0" marL="0" rtl="0" algn="l">
                <a:spcBef>
                  <a:spcPts val="0"/>
                </a:spcBef>
                <a:spcAft>
                  <a:spcPts val="0"/>
                </a:spcAft>
                <a:buNone/>
              </a:pPr>
              <a:r>
                <a:t/>
              </a:r>
              <a:endParaRPr b="1" sz="1834">
                <a:solidFill>
                  <a:schemeClr val="lt1"/>
                </a:solidFill>
                <a:latin typeface="Roboto"/>
                <a:ea typeface="Roboto"/>
                <a:cs typeface="Roboto"/>
                <a:sym typeface="Roboto"/>
              </a:endParaRPr>
            </a:p>
            <a:p>
              <a:pPr indent="0" lvl="0" marL="0" rtl="0" algn="l">
                <a:spcBef>
                  <a:spcPts val="0"/>
                </a:spcBef>
                <a:spcAft>
                  <a:spcPts val="0"/>
                </a:spcAft>
                <a:buNone/>
              </a:pPr>
              <a:r>
                <a:rPr b="1" lang="en" sz="1834">
                  <a:solidFill>
                    <a:schemeClr val="lt1"/>
                  </a:solidFill>
                  <a:latin typeface="Roboto"/>
                  <a:ea typeface="Roboto"/>
                  <a:cs typeface="Roboto"/>
                  <a:sym typeface="Roboto"/>
                </a:rPr>
                <a:t>You will architect and deploy this solution using </a:t>
              </a:r>
              <a:r>
                <a:rPr b="1" lang="en" sz="1834" u="sng">
                  <a:solidFill>
                    <a:schemeClr val="lt1"/>
                  </a:solidFill>
                  <a:latin typeface="Roboto"/>
                  <a:ea typeface="Roboto"/>
                  <a:cs typeface="Roboto"/>
                  <a:sym typeface="Roboto"/>
                </a:rPr>
                <a:t>Cloud Run and Firestore</a:t>
              </a:r>
              <a:r>
                <a:rPr b="1" lang="en" sz="1834">
                  <a:solidFill>
                    <a:schemeClr val="lt1"/>
                  </a:solidFill>
                  <a:latin typeface="Roboto"/>
                  <a:ea typeface="Roboto"/>
                  <a:cs typeface="Roboto"/>
                  <a:sym typeface="Roboto"/>
                </a:rPr>
                <a:t>.</a:t>
              </a:r>
              <a:endParaRPr b="1" sz="1834">
                <a:solidFill>
                  <a:schemeClr val="lt1"/>
                </a:solidFill>
                <a:latin typeface="Roboto"/>
                <a:ea typeface="Roboto"/>
                <a:cs typeface="Roboto"/>
                <a:sym typeface="Roboto"/>
              </a:endParaRPr>
            </a:p>
          </p:txBody>
        </p:sp>
      </p:grpSp>
      <p:grpSp>
        <p:nvGrpSpPr>
          <p:cNvPr id="89" name="Google Shape;89;p16"/>
          <p:cNvGrpSpPr/>
          <p:nvPr/>
        </p:nvGrpSpPr>
        <p:grpSpPr>
          <a:xfrm>
            <a:off x="5122150" y="762000"/>
            <a:ext cx="3238500" cy="3619500"/>
            <a:chOff x="0" y="0"/>
            <a:chExt cx="3238500" cy="3619500"/>
          </a:xfrm>
        </p:grpSpPr>
        <p:pic>
          <p:nvPicPr>
            <p:cNvPr descr="A sleek, minimalist tech design representing a cloud web server delivering calendar timetable data, neon green and blue glowing accents, clean dark futuristic interface, 3D render." id="90" name="Google Shape;90;p16"/>
            <p:cNvPicPr preferRelativeResize="0"/>
            <p:nvPr/>
          </p:nvPicPr>
          <p:blipFill rotWithShape="1">
            <a:blip r:embed="rId4">
              <a:alphaModFix/>
            </a:blip>
            <a:srcRect b="8089" l="0" r="0" t="8089"/>
            <a:stretch/>
          </p:blipFill>
          <p:spPr>
            <a:xfrm>
              <a:off x="0" y="0"/>
              <a:ext cx="3238500" cy="3619500"/>
            </a:xfrm>
            <a:prstGeom prst="roundRect">
              <a:avLst>
                <a:gd fmla="val 4705" name="adj"/>
              </a:avLst>
            </a:prstGeom>
            <a:noFill/>
            <a:ln>
              <a:noFill/>
            </a:ln>
          </p:spPr>
        </p:pic>
        <p:sp>
          <p:nvSpPr>
            <p:cNvPr id="91" name="Google Shape;91;p16"/>
            <p:cNvSpPr/>
            <p:nvPr/>
          </p:nvSpPr>
          <p:spPr>
            <a:xfrm>
              <a:off x="0" y="0"/>
              <a:ext cx="3238500" cy="3619500"/>
            </a:xfrm>
            <a:prstGeom prst="roundRect">
              <a:avLst>
                <a:gd fmla="val 4705" name="adj"/>
              </a:avLst>
            </a:prstGeom>
            <a:solidFill>
              <a:srgbClr val="000000">
                <a:alpha val="0"/>
              </a:srgbClr>
            </a:solidFill>
            <a:ln cap="flat" cmpd="sng" w="1905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5" name="Shape 95"/>
        <p:cNvGrpSpPr/>
        <p:nvPr/>
      </p:nvGrpSpPr>
      <p:grpSpPr>
        <a:xfrm>
          <a:off x="0" y="0"/>
          <a:ext cx="0" cy="0"/>
          <a:chOff x="0" y="0"/>
          <a:chExt cx="0" cy="0"/>
        </a:xfrm>
      </p:grpSpPr>
      <p:sp>
        <p:nvSpPr>
          <p:cNvPr id="96" name="Google Shape;96;p17"/>
          <p:cNvSpPr txBox="1"/>
          <p:nvPr/>
        </p:nvSpPr>
        <p:spPr>
          <a:xfrm>
            <a:off x="571500" y="333375"/>
            <a:ext cx="7620000" cy="8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900">
                <a:solidFill>
                  <a:srgbClr val="38BDF8"/>
                </a:solidFill>
                <a:latin typeface="Roboto"/>
                <a:ea typeface="Roboto"/>
                <a:cs typeface="Roboto"/>
                <a:sym typeface="Roboto"/>
              </a:rPr>
              <a:t>Workshop Objectives</a:t>
            </a:r>
            <a:endParaRPr b="1" sz="1900">
              <a:solidFill>
                <a:srgbClr val="38BDF8"/>
              </a:solidFill>
              <a:latin typeface="Roboto"/>
              <a:ea typeface="Roboto"/>
              <a:cs typeface="Roboto"/>
              <a:sym typeface="Roboto"/>
            </a:endParaRPr>
          </a:p>
          <a:p>
            <a:pPr indent="0" lvl="0" marL="0" rtl="0" algn="l">
              <a:spcBef>
                <a:spcPts val="150"/>
              </a:spcBef>
              <a:spcAft>
                <a:spcPts val="0"/>
              </a:spcAft>
              <a:buNone/>
            </a:pPr>
            <a:r>
              <a:rPr b="1" lang="en" sz="2300">
                <a:solidFill>
                  <a:srgbClr val="FFFFFF"/>
                </a:solidFill>
                <a:latin typeface="Roboto"/>
                <a:ea typeface="Roboto"/>
                <a:cs typeface="Roboto"/>
                <a:sym typeface="Roboto"/>
              </a:rPr>
              <a:t>By the end of this session, you should be able to explain:</a:t>
            </a:r>
            <a:endParaRPr b="1" sz="2300">
              <a:solidFill>
                <a:srgbClr val="FFFFFF"/>
              </a:solidFill>
              <a:latin typeface="Roboto"/>
              <a:ea typeface="Roboto"/>
              <a:cs typeface="Roboto"/>
              <a:sym typeface="Roboto"/>
            </a:endParaRPr>
          </a:p>
        </p:txBody>
      </p:sp>
      <p:sp>
        <p:nvSpPr>
          <p:cNvPr id="97" name="Google Shape;97;p17"/>
          <p:cNvSpPr txBox="1"/>
          <p:nvPr/>
        </p:nvSpPr>
        <p:spPr>
          <a:xfrm>
            <a:off x="1050350" y="1276913"/>
            <a:ext cx="3294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34D399"/>
                </a:solidFill>
                <a:latin typeface="Roboto"/>
                <a:ea typeface="Roboto"/>
                <a:cs typeface="Roboto"/>
                <a:sym typeface="Roboto"/>
              </a:rPr>
              <a:t>Google Cloud Concepts</a:t>
            </a:r>
            <a:endParaRPr b="1" sz="2000">
              <a:solidFill>
                <a:srgbClr val="34D399"/>
              </a:solidFill>
              <a:latin typeface="Roboto"/>
              <a:ea typeface="Roboto"/>
              <a:cs typeface="Roboto"/>
              <a:sym typeface="Roboto"/>
            </a:endParaRPr>
          </a:p>
        </p:txBody>
      </p:sp>
      <p:sp>
        <p:nvSpPr>
          <p:cNvPr id="98" name="Google Shape;98;p17"/>
          <p:cNvSpPr txBox="1"/>
          <p:nvPr/>
        </p:nvSpPr>
        <p:spPr>
          <a:xfrm>
            <a:off x="5786775" y="1279200"/>
            <a:ext cx="2687100" cy="38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FBBF24"/>
                </a:solidFill>
                <a:latin typeface="Roboto"/>
                <a:ea typeface="Roboto"/>
                <a:cs typeface="Roboto"/>
                <a:sym typeface="Roboto"/>
              </a:rPr>
              <a:t>Architecture Concept</a:t>
            </a:r>
            <a:endParaRPr b="1" sz="2000">
              <a:solidFill>
                <a:srgbClr val="FBBF24"/>
              </a:solidFill>
              <a:latin typeface="Roboto"/>
              <a:ea typeface="Roboto"/>
              <a:cs typeface="Roboto"/>
              <a:sym typeface="Roboto"/>
            </a:endParaRPr>
          </a:p>
          <a:p>
            <a:pPr indent="0" lvl="0" marL="0" rtl="0" algn="l">
              <a:spcBef>
                <a:spcPts val="750"/>
              </a:spcBef>
              <a:spcAft>
                <a:spcPts val="1125"/>
              </a:spcAft>
              <a:buNone/>
            </a:pPr>
            <a:r>
              <a:t/>
            </a:r>
            <a:endParaRPr b="0" sz="1850">
              <a:solidFill>
                <a:srgbClr val="FFFFFF"/>
              </a:solidFill>
              <a:latin typeface="Roboto Medium"/>
              <a:ea typeface="Roboto Medium"/>
              <a:cs typeface="Roboto Medium"/>
              <a:sym typeface="Roboto Medium"/>
            </a:endParaRPr>
          </a:p>
        </p:txBody>
      </p:sp>
      <p:sp>
        <p:nvSpPr>
          <p:cNvPr id="99" name="Google Shape;99;p17"/>
          <p:cNvSpPr/>
          <p:nvPr/>
        </p:nvSpPr>
        <p:spPr>
          <a:xfrm>
            <a:off x="253075" y="1639375"/>
            <a:ext cx="2453700" cy="335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30200" lvl="0" marL="457200" rtl="0" algn="l">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What a Google Cloud project is</a:t>
            </a:r>
            <a:endParaRPr sz="1600">
              <a:solidFill>
                <a:schemeClr val="dk1"/>
              </a:solidFill>
              <a:latin typeface="Roboto"/>
              <a:ea typeface="Roboto"/>
              <a:cs typeface="Roboto"/>
              <a:sym typeface="Roboto"/>
            </a:endParaRPr>
          </a:p>
          <a:p>
            <a:pPr indent="-330200" lvl="0" marL="457200" rtl="0" algn="l">
              <a:spcBef>
                <a:spcPts val="900"/>
              </a:spcBef>
              <a:spcAft>
                <a:spcPts val="0"/>
              </a:spcAft>
              <a:buClr>
                <a:schemeClr val="dk1"/>
              </a:buClr>
              <a:buSzPts val="1600"/>
              <a:buFont typeface="Roboto"/>
              <a:buChar char="●"/>
            </a:pPr>
            <a:r>
              <a:rPr lang="en" sz="1600">
                <a:solidFill>
                  <a:schemeClr val="dk1"/>
                </a:solidFill>
                <a:latin typeface="Roboto"/>
                <a:ea typeface="Roboto"/>
                <a:cs typeface="Roboto"/>
                <a:sym typeface="Roboto"/>
              </a:rPr>
              <a:t>What a managed service is</a:t>
            </a:r>
            <a:endParaRPr sz="1600">
              <a:solidFill>
                <a:schemeClr val="dk1"/>
              </a:solidFill>
              <a:latin typeface="Roboto"/>
              <a:ea typeface="Roboto"/>
              <a:cs typeface="Roboto"/>
              <a:sym typeface="Roboto"/>
            </a:endParaRPr>
          </a:p>
          <a:p>
            <a:pPr indent="-330200" lvl="0" marL="457200" rtl="0" algn="l">
              <a:spcBef>
                <a:spcPts val="900"/>
              </a:spcBef>
              <a:spcAft>
                <a:spcPts val="0"/>
              </a:spcAft>
              <a:buClr>
                <a:schemeClr val="dk1"/>
              </a:buClr>
              <a:buSzPts val="1600"/>
              <a:buFont typeface="Roboto"/>
              <a:buChar char="●"/>
            </a:pPr>
            <a:r>
              <a:rPr lang="en" sz="1600">
                <a:solidFill>
                  <a:schemeClr val="dk1"/>
                </a:solidFill>
                <a:latin typeface="Roboto"/>
                <a:ea typeface="Roboto"/>
                <a:cs typeface="Roboto"/>
                <a:sym typeface="Roboto"/>
              </a:rPr>
              <a:t>What serverless means</a:t>
            </a:r>
            <a:endParaRPr sz="1600">
              <a:solidFill>
                <a:schemeClr val="dk1"/>
              </a:solidFill>
              <a:latin typeface="Roboto"/>
              <a:ea typeface="Roboto"/>
              <a:cs typeface="Roboto"/>
              <a:sym typeface="Roboto"/>
            </a:endParaRPr>
          </a:p>
          <a:p>
            <a:pPr indent="-330200" lvl="0" marL="457200" rtl="0" algn="l">
              <a:spcBef>
                <a:spcPts val="900"/>
              </a:spcBef>
              <a:spcAft>
                <a:spcPts val="0"/>
              </a:spcAft>
              <a:buClr>
                <a:schemeClr val="dk1"/>
              </a:buClr>
              <a:buSzPts val="1600"/>
              <a:buFont typeface="Roboto"/>
              <a:buChar char="●"/>
            </a:pPr>
            <a:r>
              <a:rPr lang="en" sz="1600">
                <a:solidFill>
                  <a:schemeClr val="dk1"/>
                </a:solidFill>
                <a:latin typeface="Roboto"/>
                <a:ea typeface="Roboto"/>
                <a:cs typeface="Roboto"/>
                <a:sym typeface="Roboto"/>
              </a:rPr>
              <a:t>What Cloud Run does</a:t>
            </a:r>
            <a:endParaRPr sz="1600">
              <a:solidFill>
                <a:schemeClr val="dk1"/>
              </a:solidFill>
              <a:latin typeface="Roboto"/>
              <a:ea typeface="Roboto"/>
              <a:cs typeface="Roboto"/>
              <a:sym typeface="Roboto"/>
            </a:endParaRPr>
          </a:p>
          <a:p>
            <a:pPr indent="-330200" lvl="0" marL="457200" rtl="0" algn="l">
              <a:spcBef>
                <a:spcPts val="900"/>
              </a:spcBef>
              <a:spcAft>
                <a:spcPts val="900"/>
              </a:spcAft>
              <a:buClr>
                <a:schemeClr val="dk1"/>
              </a:buClr>
              <a:buSzPts val="1600"/>
              <a:buFont typeface="Roboto"/>
              <a:buChar char="●"/>
            </a:pPr>
            <a:r>
              <a:rPr lang="en" sz="1600">
                <a:solidFill>
                  <a:schemeClr val="dk1"/>
                </a:solidFill>
                <a:latin typeface="Roboto"/>
                <a:ea typeface="Roboto"/>
                <a:cs typeface="Roboto"/>
                <a:sym typeface="Roboto"/>
              </a:rPr>
              <a:t>What a database does</a:t>
            </a:r>
            <a:endParaRPr sz="1600">
              <a:solidFill>
                <a:schemeClr val="dk1"/>
              </a:solidFill>
              <a:latin typeface="Roboto"/>
              <a:ea typeface="Roboto"/>
              <a:cs typeface="Roboto"/>
              <a:sym typeface="Roboto"/>
            </a:endParaRPr>
          </a:p>
        </p:txBody>
      </p:sp>
      <p:sp>
        <p:nvSpPr>
          <p:cNvPr id="100" name="Google Shape;100;p17"/>
          <p:cNvSpPr/>
          <p:nvPr/>
        </p:nvSpPr>
        <p:spPr>
          <a:xfrm>
            <a:off x="2706763" y="1639350"/>
            <a:ext cx="2453700" cy="335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30200" lvl="0" marL="457200" rtl="0" algn="l">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What Firestore is</a:t>
            </a:r>
            <a:endParaRPr sz="1600">
              <a:solidFill>
                <a:schemeClr val="dk1"/>
              </a:solidFill>
              <a:latin typeface="Roboto"/>
              <a:ea typeface="Roboto"/>
              <a:cs typeface="Roboto"/>
              <a:sym typeface="Roboto"/>
            </a:endParaRPr>
          </a:p>
          <a:p>
            <a:pPr indent="-330200" lvl="0" marL="457200" rtl="0" algn="l">
              <a:spcBef>
                <a:spcPts val="900"/>
              </a:spcBef>
              <a:spcAft>
                <a:spcPts val="0"/>
              </a:spcAft>
              <a:buClr>
                <a:schemeClr val="dk1"/>
              </a:buClr>
              <a:buSzPts val="1600"/>
              <a:buFont typeface="Roboto"/>
              <a:buChar char="●"/>
            </a:pPr>
            <a:r>
              <a:rPr lang="en" sz="1600">
                <a:solidFill>
                  <a:schemeClr val="dk1"/>
                </a:solidFill>
                <a:latin typeface="Roboto"/>
                <a:ea typeface="Roboto"/>
                <a:cs typeface="Roboto"/>
                <a:sym typeface="Roboto"/>
              </a:rPr>
              <a:t>What an API is</a:t>
            </a:r>
            <a:endParaRPr sz="1600">
              <a:solidFill>
                <a:schemeClr val="dk1"/>
              </a:solidFill>
              <a:latin typeface="Roboto"/>
              <a:ea typeface="Roboto"/>
              <a:cs typeface="Roboto"/>
              <a:sym typeface="Roboto"/>
            </a:endParaRPr>
          </a:p>
          <a:p>
            <a:pPr indent="-330200" lvl="0" marL="457200" rtl="0" algn="l">
              <a:spcBef>
                <a:spcPts val="900"/>
              </a:spcBef>
              <a:spcAft>
                <a:spcPts val="0"/>
              </a:spcAft>
              <a:buClr>
                <a:schemeClr val="dk1"/>
              </a:buClr>
              <a:buSzPts val="1600"/>
              <a:buFont typeface="Roboto"/>
              <a:buChar char="●"/>
            </a:pPr>
            <a:r>
              <a:rPr lang="en" sz="1600">
                <a:solidFill>
                  <a:schemeClr val="dk1"/>
                </a:solidFill>
                <a:latin typeface="Roboto"/>
                <a:ea typeface="Roboto"/>
                <a:cs typeface="Roboto"/>
                <a:sym typeface="Roboto"/>
              </a:rPr>
              <a:t>How an application communicates with a database</a:t>
            </a:r>
            <a:endParaRPr sz="1600">
              <a:solidFill>
                <a:schemeClr val="dk1"/>
              </a:solidFill>
              <a:latin typeface="Roboto"/>
              <a:ea typeface="Roboto"/>
              <a:cs typeface="Roboto"/>
              <a:sym typeface="Roboto"/>
            </a:endParaRPr>
          </a:p>
          <a:p>
            <a:pPr indent="-330200" lvl="0" marL="457200" rtl="0" algn="l">
              <a:spcBef>
                <a:spcPts val="900"/>
              </a:spcBef>
              <a:spcAft>
                <a:spcPts val="0"/>
              </a:spcAft>
              <a:buClr>
                <a:schemeClr val="dk1"/>
              </a:buClr>
              <a:buSzPts val="1600"/>
              <a:buFont typeface="Roboto"/>
              <a:buChar char="●"/>
            </a:pPr>
            <a:r>
              <a:rPr lang="en" sz="1600">
                <a:solidFill>
                  <a:schemeClr val="dk1"/>
                </a:solidFill>
                <a:latin typeface="Roboto"/>
                <a:ea typeface="Roboto"/>
                <a:cs typeface="Roboto"/>
                <a:sym typeface="Roboto"/>
              </a:rPr>
              <a:t>Basic IAM/service identity concepts</a:t>
            </a:r>
            <a:endParaRPr sz="1600">
              <a:solidFill>
                <a:schemeClr val="dk1"/>
              </a:solidFill>
              <a:latin typeface="Roboto"/>
              <a:ea typeface="Roboto"/>
              <a:cs typeface="Roboto"/>
              <a:sym typeface="Roboto"/>
            </a:endParaRPr>
          </a:p>
          <a:p>
            <a:pPr indent="-330200" lvl="0" marL="457200" rtl="0" algn="l">
              <a:spcBef>
                <a:spcPts val="900"/>
              </a:spcBef>
              <a:spcAft>
                <a:spcPts val="900"/>
              </a:spcAft>
              <a:buClr>
                <a:schemeClr val="dk1"/>
              </a:buClr>
              <a:buSzPts val="1600"/>
              <a:buFont typeface="Roboto"/>
              <a:buChar char="●"/>
            </a:pPr>
            <a:r>
              <a:rPr lang="en" sz="1600">
                <a:solidFill>
                  <a:schemeClr val="dk1"/>
                </a:solidFill>
                <a:latin typeface="Roboto"/>
                <a:ea typeface="Roboto"/>
                <a:cs typeface="Roboto"/>
                <a:sym typeface="Roboto"/>
              </a:rPr>
              <a:t>Basic scalability concepts</a:t>
            </a:r>
            <a:endParaRPr sz="1600">
              <a:solidFill>
                <a:schemeClr val="dk1"/>
              </a:solidFill>
              <a:latin typeface="Roboto"/>
              <a:ea typeface="Roboto"/>
              <a:cs typeface="Roboto"/>
              <a:sym typeface="Roboto"/>
            </a:endParaRPr>
          </a:p>
        </p:txBody>
      </p:sp>
      <p:sp>
        <p:nvSpPr>
          <p:cNvPr id="101" name="Google Shape;101;p17"/>
          <p:cNvSpPr/>
          <p:nvPr/>
        </p:nvSpPr>
        <p:spPr>
          <a:xfrm>
            <a:off x="5604375" y="1746525"/>
            <a:ext cx="3051900" cy="314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50">
                <a:solidFill>
                  <a:schemeClr val="dk1"/>
                </a:solidFill>
                <a:latin typeface="Roboto Medium"/>
                <a:ea typeface="Roboto Medium"/>
                <a:cs typeface="Roboto Medium"/>
                <a:sym typeface="Roboto Medium"/>
              </a:rPr>
              <a:t>A user sends a request to Cloud Run. </a:t>
            </a:r>
            <a:endParaRPr sz="1850">
              <a:solidFill>
                <a:schemeClr val="dk1"/>
              </a:solidFill>
              <a:latin typeface="Roboto Medium"/>
              <a:ea typeface="Roboto Medium"/>
              <a:cs typeface="Roboto Medium"/>
              <a:sym typeface="Roboto Medium"/>
            </a:endParaRPr>
          </a:p>
          <a:p>
            <a:pPr indent="0" lvl="0" marL="0" rtl="0" algn="l">
              <a:spcBef>
                <a:spcPts val="1125"/>
              </a:spcBef>
              <a:spcAft>
                <a:spcPts val="0"/>
              </a:spcAft>
              <a:buClr>
                <a:schemeClr val="dk1"/>
              </a:buClr>
              <a:buSzPts val="1100"/>
              <a:buFont typeface="Arial"/>
              <a:buNone/>
            </a:pPr>
            <a:r>
              <a:rPr lang="en" sz="1850">
                <a:solidFill>
                  <a:schemeClr val="dk1"/>
                </a:solidFill>
                <a:latin typeface="Roboto Medium"/>
                <a:ea typeface="Roboto Medium"/>
                <a:cs typeface="Roboto Medium"/>
                <a:sym typeface="Roboto Medium"/>
              </a:rPr>
              <a:t>Cloud Run runs the application. </a:t>
            </a:r>
            <a:endParaRPr sz="1850">
              <a:solidFill>
                <a:schemeClr val="dk1"/>
              </a:solidFill>
              <a:latin typeface="Roboto Medium"/>
              <a:ea typeface="Roboto Medium"/>
              <a:cs typeface="Roboto Medium"/>
              <a:sym typeface="Roboto Medium"/>
            </a:endParaRPr>
          </a:p>
          <a:p>
            <a:pPr indent="0" lvl="0" marL="0" rtl="0" algn="l">
              <a:spcBef>
                <a:spcPts val="1125"/>
              </a:spcBef>
              <a:spcAft>
                <a:spcPts val="1125"/>
              </a:spcAft>
              <a:buClr>
                <a:schemeClr val="dk1"/>
              </a:buClr>
              <a:buSzPts val="1100"/>
              <a:buFont typeface="Arial"/>
              <a:buNone/>
            </a:pPr>
            <a:r>
              <a:rPr lang="en" sz="1850">
                <a:solidFill>
                  <a:schemeClr val="dk1"/>
                </a:solidFill>
                <a:latin typeface="Roboto Medium"/>
                <a:ea typeface="Roboto Medium"/>
                <a:cs typeface="Roboto Medium"/>
                <a:sym typeface="Roboto Medium"/>
              </a:rPr>
              <a:t>The application sends the feedback to Firestore, where it is stored as data.</a:t>
            </a:r>
            <a:endParaRPr sz="1850">
              <a:solidFill>
                <a:schemeClr val="dk1"/>
              </a:solidFill>
              <a:latin typeface="Roboto Medium"/>
              <a:ea typeface="Roboto Medium"/>
              <a:cs typeface="Roboto Medium"/>
              <a:sym typeface="Roboto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5" name="Shape 105"/>
        <p:cNvGrpSpPr/>
        <p:nvPr/>
      </p:nvGrpSpPr>
      <p:grpSpPr>
        <a:xfrm>
          <a:off x="0" y="0"/>
          <a:ext cx="0" cy="0"/>
          <a:chOff x="0" y="0"/>
          <a:chExt cx="0" cy="0"/>
        </a:xfrm>
      </p:grpSpPr>
      <p:sp>
        <p:nvSpPr>
          <p:cNvPr id="106" name="Google Shape;106;p18"/>
          <p:cNvSpPr txBox="1"/>
          <p:nvPr/>
        </p:nvSpPr>
        <p:spPr>
          <a:xfrm>
            <a:off x="381000" y="381000"/>
            <a:ext cx="8382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000">
                <a:solidFill>
                  <a:srgbClr val="FFFFFF"/>
                </a:solidFill>
                <a:latin typeface="Arial"/>
                <a:ea typeface="Arial"/>
                <a:cs typeface="Arial"/>
                <a:sym typeface="Arial"/>
              </a:rPr>
              <a:t>A Google Cloud project is like a container that holds the resources for an application.</a:t>
            </a:r>
            <a:endParaRPr b="1" sz="2000">
              <a:solidFill>
                <a:srgbClr val="FFFFFF"/>
              </a:solidFill>
              <a:latin typeface="Arial"/>
              <a:ea typeface="Arial"/>
              <a:cs typeface="Arial"/>
              <a:sym typeface="Arial"/>
            </a:endParaRPr>
          </a:p>
        </p:txBody>
      </p:sp>
      <p:grpSp>
        <p:nvGrpSpPr>
          <p:cNvPr id="107" name="Google Shape;107;p18"/>
          <p:cNvGrpSpPr/>
          <p:nvPr/>
        </p:nvGrpSpPr>
        <p:grpSpPr>
          <a:xfrm>
            <a:off x="381000" y="1285875"/>
            <a:ext cx="8382000" cy="3476700"/>
            <a:chOff x="0" y="0"/>
            <a:chExt cx="8382000" cy="3476700"/>
          </a:xfrm>
        </p:grpSpPr>
        <p:sp>
          <p:nvSpPr>
            <p:cNvPr id="108" name="Google Shape;108;p18"/>
            <p:cNvSpPr/>
            <p:nvPr/>
          </p:nvSpPr>
          <p:spPr>
            <a:xfrm>
              <a:off x="0" y="0"/>
              <a:ext cx="8382000" cy="3476700"/>
            </a:xfrm>
            <a:prstGeom prst="roundRect">
              <a:avLst>
                <a:gd fmla="val 4383" name="adj"/>
              </a:avLst>
            </a:prstGeom>
            <a:solidFill>
              <a:srgbClr val="0D0D0D"/>
            </a:solidFill>
            <a:ln cap="flat" cmpd="sng" w="19050">
              <a:solidFill>
                <a:srgbClr val="26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8"/>
            <p:cNvSpPr txBox="1"/>
            <p:nvPr/>
          </p:nvSpPr>
          <p:spPr>
            <a:xfrm>
              <a:off x="190500" y="190500"/>
              <a:ext cx="80010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900">
                  <a:solidFill>
                    <a:srgbClr val="4285F4"/>
                  </a:solidFill>
                  <a:latin typeface="Arial"/>
                  <a:ea typeface="Arial"/>
                  <a:cs typeface="Arial"/>
                  <a:sym typeface="Arial"/>
                </a:rPr>
                <a:t>PROJECT CONTAINER (For example:)</a:t>
              </a:r>
              <a:endParaRPr b="1" sz="1900">
                <a:solidFill>
                  <a:srgbClr val="4285F4"/>
                </a:solidFill>
                <a:latin typeface="Arial"/>
                <a:ea typeface="Arial"/>
                <a:cs typeface="Arial"/>
                <a:sym typeface="Arial"/>
              </a:endParaRPr>
            </a:p>
          </p:txBody>
        </p:sp>
      </p:grpSp>
      <p:grpSp>
        <p:nvGrpSpPr>
          <p:cNvPr id="110" name="Google Shape;110;p18"/>
          <p:cNvGrpSpPr/>
          <p:nvPr/>
        </p:nvGrpSpPr>
        <p:grpSpPr>
          <a:xfrm>
            <a:off x="571500" y="2000250"/>
            <a:ext cx="1447800" cy="2476500"/>
            <a:chOff x="0" y="0"/>
            <a:chExt cx="1447800" cy="2476500"/>
          </a:xfrm>
        </p:grpSpPr>
        <p:sp>
          <p:nvSpPr>
            <p:cNvPr id="111" name="Google Shape;111;p18"/>
            <p:cNvSpPr/>
            <p:nvPr/>
          </p:nvSpPr>
          <p:spPr>
            <a:xfrm>
              <a:off x="0" y="0"/>
              <a:ext cx="1447800" cy="2476500"/>
            </a:xfrm>
            <a:prstGeom prst="roundRect">
              <a:avLst>
                <a:gd fmla="val 7894" name="adj"/>
              </a:avLst>
            </a:prstGeom>
            <a:solidFill>
              <a:srgbClr val="161616"/>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8"/>
            <p:cNvSpPr txBox="1"/>
            <p:nvPr/>
          </p:nvSpPr>
          <p:spPr>
            <a:xfrm>
              <a:off x="0" y="0"/>
              <a:ext cx="1447800" cy="2476500"/>
            </a:xfrm>
            <a:prstGeom prst="rect">
              <a:avLst/>
            </a:prstGeom>
            <a:noFill/>
            <a:ln>
              <a:noFill/>
            </a:ln>
          </p:spPr>
          <p:txBody>
            <a:bodyPr anchorCtr="0" anchor="ctr" bIns="142875" lIns="142875" spcFirstLastPara="1" rIns="142875" wrap="square" tIns="142875">
              <a:noAutofit/>
            </a:bodyPr>
            <a:lstStyle/>
            <a:p>
              <a:pPr indent="0" lvl="0" marL="0" rtl="0" algn="ctr">
                <a:spcBef>
                  <a:spcPts val="0"/>
                </a:spcBef>
                <a:spcAft>
                  <a:spcPts val="0"/>
                </a:spcAft>
                <a:buNone/>
              </a:pPr>
              <a:r>
                <a:rPr lang="en" sz="3600">
                  <a:solidFill>
                    <a:srgbClr val="4285F4"/>
                  </a:solidFill>
                  <a:latin typeface="Material Icons"/>
                  <a:ea typeface="Material Icons"/>
                  <a:cs typeface="Material Icons"/>
                  <a:sym typeface="Material Icons"/>
                </a:rPr>
                <a:t>cloud</a:t>
              </a:r>
              <a:endParaRPr sz="3600">
                <a:solidFill>
                  <a:srgbClr val="4285F4"/>
                </a:solidFill>
                <a:latin typeface="Material Icons"/>
                <a:ea typeface="Material Icons"/>
                <a:cs typeface="Material Icons"/>
                <a:sym typeface="Material Icons"/>
              </a:endParaRPr>
            </a:p>
            <a:p>
              <a:pPr indent="0" lvl="0" marL="0" rtl="0" algn="ctr">
                <a:spcBef>
                  <a:spcPts val="1500"/>
                </a:spcBef>
                <a:spcAft>
                  <a:spcPts val="0"/>
                </a:spcAft>
                <a:buNone/>
              </a:pPr>
              <a:r>
                <a:rPr b="1" lang="en" sz="1400">
                  <a:solidFill>
                    <a:srgbClr val="FFFFFF"/>
                  </a:solidFill>
                  <a:latin typeface="Arial"/>
                  <a:ea typeface="Arial"/>
                  <a:cs typeface="Arial"/>
                  <a:sym typeface="Arial"/>
                </a:rPr>
                <a:t>Cloud Run</a:t>
              </a:r>
              <a:endParaRPr b="1" sz="1400">
                <a:solidFill>
                  <a:srgbClr val="FFFFFF"/>
                </a:solidFill>
                <a:latin typeface="Arial"/>
                <a:ea typeface="Arial"/>
                <a:cs typeface="Arial"/>
                <a:sym typeface="Arial"/>
              </a:endParaRPr>
            </a:p>
          </p:txBody>
        </p:sp>
      </p:grpSp>
      <p:grpSp>
        <p:nvGrpSpPr>
          <p:cNvPr id="113" name="Google Shape;113;p18"/>
          <p:cNvGrpSpPr/>
          <p:nvPr/>
        </p:nvGrpSpPr>
        <p:grpSpPr>
          <a:xfrm>
            <a:off x="2209800" y="2000250"/>
            <a:ext cx="1447800" cy="2476500"/>
            <a:chOff x="0" y="0"/>
            <a:chExt cx="1447800" cy="2476500"/>
          </a:xfrm>
        </p:grpSpPr>
        <p:sp>
          <p:nvSpPr>
            <p:cNvPr id="114" name="Google Shape;114;p18"/>
            <p:cNvSpPr/>
            <p:nvPr/>
          </p:nvSpPr>
          <p:spPr>
            <a:xfrm>
              <a:off x="0" y="0"/>
              <a:ext cx="1447800" cy="2476500"/>
            </a:xfrm>
            <a:prstGeom prst="roundRect">
              <a:avLst>
                <a:gd fmla="val 7894" name="adj"/>
              </a:avLst>
            </a:prstGeom>
            <a:solidFill>
              <a:srgbClr val="161616"/>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8"/>
            <p:cNvSpPr txBox="1"/>
            <p:nvPr/>
          </p:nvSpPr>
          <p:spPr>
            <a:xfrm>
              <a:off x="0" y="0"/>
              <a:ext cx="1447800" cy="2476500"/>
            </a:xfrm>
            <a:prstGeom prst="rect">
              <a:avLst/>
            </a:prstGeom>
            <a:noFill/>
            <a:ln>
              <a:noFill/>
            </a:ln>
          </p:spPr>
          <p:txBody>
            <a:bodyPr anchorCtr="0" anchor="ctr" bIns="142875" lIns="142875" spcFirstLastPara="1" rIns="142875" wrap="square" tIns="142875">
              <a:noAutofit/>
            </a:bodyPr>
            <a:lstStyle/>
            <a:p>
              <a:pPr indent="0" lvl="0" marL="0" rtl="0" algn="ctr">
                <a:spcBef>
                  <a:spcPts val="0"/>
                </a:spcBef>
                <a:spcAft>
                  <a:spcPts val="0"/>
                </a:spcAft>
                <a:buNone/>
              </a:pPr>
              <a:r>
                <a:rPr lang="en" sz="3600">
                  <a:solidFill>
                    <a:srgbClr val="FFAB40"/>
                  </a:solidFill>
                  <a:latin typeface="Material Icons"/>
                  <a:ea typeface="Material Icons"/>
                  <a:cs typeface="Material Icons"/>
                  <a:sym typeface="Material Icons"/>
                </a:rPr>
                <a:t>storage</a:t>
              </a:r>
              <a:endParaRPr sz="3600">
                <a:solidFill>
                  <a:srgbClr val="FFAB40"/>
                </a:solidFill>
                <a:latin typeface="Material Icons"/>
                <a:ea typeface="Material Icons"/>
                <a:cs typeface="Material Icons"/>
                <a:sym typeface="Material Icons"/>
              </a:endParaRPr>
            </a:p>
            <a:p>
              <a:pPr indent="0" lvl="0" marL="0" rtl="0" algn="ctr">
                <a:spcBef>
                  <a:spcPts val="1500"/>
                </a:spcBef>
                <a:spcAft>
                  <a:spcPts val="0"/>
                </a:spcAft>
                <a:buNone/>
              </a:pPr>
              <a:r>
                <a:rPr b="1" lang="en" sz="1400">
                  <a:solidFill>
                    <a:srgbClr val="FFFFFF"/>
                  </a:solidFill>
                  <a:latin typeface="Arial"/>
                  <a:ea typeface="Arial"/>
                  <a:cs typeface="Arial"/>
                  <a:sym typeface="Arial"/>
                </a:rPr>
                <a:t>Firestore</a:t>
              </a:r>
              <a:endParaRPr b="1" sz="1400">
                <a:solidFill>
                  <a:srgbClr val="FFFFFF"/>
                </a:solidFill>
                <a:latin typeface="Arial"/>
                <a:ea typeface="Arial"/>
                <a:cs typeface="Arial"/>
                <a:sym typeface="Arial"/>
              </a:endParaRPr>
            </a:p>
          </p:txBody>
        </p:sp>
      </p:grpSp>
      <p:grpSp>
        <p:nvGrpSpPr>
          <p:cNvPr id="116" name="Google Shape;116;p18"/>
          <p:cNvGrpSpPr/>
          <p:nvPr/>
        </p:nvGrpSpPr>
        <p:grpSpPr>
          <a:xfrm>
            <a:off x="3848100" y="2000250"/>
            <a:ext cx="1447800" cy="2476500"/>
            <a:chOff x="0" y="0"/>
            <a:chExt cx="1447800" cy="2476500"/>
          </a:xfrm>
        </p:grpSpPr>
        <p:sp>
          <p:nvSpPr>
            <p:cNvPr id="117" name="Google Shape;117;p18"/>
            <p:cNvSpPr/>
            <p:nvPr/>
          </p:nvSpPr>
          <p:spPr>
            <a:xfrm>
              <a:off x="0" y="0"/>
              <a:ext cx="1447800" cy="2476500"/>
            </a:xfrm>
            <a:prstGeom prst="roundRect">
              <a:avLst>
                <a:gd fmla="val 7894" name="adj"/>
              </a:avLst>
            </a:prstGeom>
            <a:solidFill>
              <a:srgbClr val="161616"/>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p18"/>
            <p:cNvSpPr txBox="1"/>
            <p:nvPr/>
          </p:nvSpPr>
          <p:spPr>
            <a:xfrm>
              <a:off x="0" y="0"/>
              <a:ext cx="1447800" cy="2476500"/>
            </a:xfrm>
            <a:prstGeom prst="rect">
              <a:avLst/>
            </a:prstGeom>
            <a:noFill/>
            <a:ln>
              <a:noFill/>
            </a:ln>
          </p:spPr>
          <p:txBody>
            <a:bodyPr anchorCtr="0" anchor="ctr" bIns="142875" lIns="142875" spcFirstLastPara="1" rIns="142875" wrap="square" tIns="142875">
              <a:noAutofit/>
            </a:bodyPr>
            <a:lstStyle/>
            <a:p>
              <a:pPr indent="0" lvl="0" marL="0" rtl="0" algn="ctr">
                <a:spcBef>
                  <a:spcPts val="0"/>
                </a:spcBef>
                <a:spcAft>
                  <a:spcPts val="0"/>
                </a:spcAft>
                <a:buNone/>
              </a:pPr>
              <a:r>
                <a:rPr lang="en" sz="3600">
                  <a:solidFill>
                    <a:srgbClr val="34A853"/>
                  </a:solidFill>
                  <a:latin typeface="Material Icons"/>
                  <a:ea typeface="Material Icons"/>
                  <a:cs typeface="Material Icons"/>
                  <a:sym typeface="Material Icons"/>
                </a:rPr>
                <a:t>api</a:t>
              </a:r>
              <a:endParaRPr sz="3600">
                <a:solidFill>
                  <a:srgbClr val="34A853"/>
                </a:solidFill>
                <a:latin typeface="Material Icons"/>
                <a:ea typeface="Material Icons"/>
                <a:cs typeface="Material Icons"/>
                <a:sym typeface="Material Icons"/>
              </a:endParaRPr>
            </a:p>
            <a:p>
              <a:pPr indent="0" lvl="0" marL="0" rtl="0" algn="ctr">
                <a:spcBef>
                  <a:spcPts val="1500"/>
                </a:spcBef>
                <a:spcAft>
                  <a:spcPts val="0"/>
                </a:spcAft>
                <a:buNone/>
              </a:pPr>
              <a:r>
                <a:rPr b="1" lang="en" sz="1400">
                  <a:solidFill>
                    <a:srgbClr val="FFFFFF"/>
                  </a:solidFill>
                  <a:latin typeface="Arial"/>
                  <a:ea typeface="Arial"/>
                  <a:cs typeface="Arial"/>
                  <a:sym typeface="Arial"/>
                </a:rPr>
                <a:t>APIs</a:t>
              </a:r>
              <a:endParaRPr b="1" sz="1400">
                <a:solidFill>
                  <a:srgbClr val="FFFFFF"/>
                </a:solidFill>
                <a:latin typeface="Arial"/>
                <a:ea typeface="Arial"/>
                <a:cs typeface="Arial"/>
                <a:sym typeface="Arial"/>
              </a:endParaRPr>
            </a:p>
          </p:txBody>
        </p:sp>
      </p:grpSp>
      <p:grpSp>
        <p:nvGrpSpPr>
          <p:cNvPr id="119" name="Google Shape;119;p18"/>
          <p:cNvGrpSpPr/>
          <p:nvPr/>
        </p:nvGrpSpPr>
        <p:grpSpPr>
          <a:xfrm>
            <a:off x="5486400" y="2000250"/>
            <a:ext cx="1447800" cy="2476500"/>
            <a:chOff x="0" y="0"/>
            <a:chExt cx="1447800" cy="2476500"/>
          </a:xfrm>
        </p:grpSpPr>
        <p:sp>
          <p:nvSpPr>
            <p:cNvPr id="120" name="Google Shape;120;p18"/>
            <p:cNvSpPr/>
            <p:nvPr/>
          </p:nvSpPr>
          <p:spPr>
            <a:xfrm>
              <a:off x="0" y="0"/>
              <a:ext cx="1447800" cy="2476500"/>
            </a:xfrm>
            <a:prstGeom prst="roundRect">
              <a:avLst>
                <a:gd fmla="val 7894" name="adj"/>
              </a:avLst>
            </a:prstGeom>
            <a:solidFill>
              <a:srgbClr val="161616"/>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8"/>
            <p:cNvSpPr txBox="1"/>
            <p:nvPr/>
          </p:nvSpPr>
          <p:spPr>
            <a:xfrm>
              <a:off x="0" y="0"/>
              <a:ext cx="1447800" cy="2476500"/>
            </a:xfrm>
            <a:prstGeom prst="rect">
              <a:avLst/>
            </a:prstGeom>
            <a:noFill/>
            <a:ln>
              <a:noFill/>
            </a:ln>
          </p:spPr>
          <p:txBody>
            <a:bodyPr anchorCtr="0" anchor="ctr" bIns="142875" lIns="142875" spcFirstLastPara="1" rIns="142875" wrap="square" tIns="142875">
              <a:noAutofit/>
            </a:bodyPr>
            <a:lstStyle/>
            <a:p>
              <a:pPr indent="0" lvl="0" marL="0" rtl="0" algn="ctr">
                <a:spcBef>
                  <a:spcPts val="0"/>
                </a:spcBef>
                <a:spcAft>
                  <a:spcPts val="0"/>
                </a:spcAft>
                <a:buNone/>
              </a:pPr>
              <a:r>
                <a:rPr lang="en" sz="3600">
                  <a:solidFill>
                    <a:srgbClr val="EA4335"/>
                  </a:solidFill>
                  <a:latin typeface="Material Icons"/>
                  <a:ea typeface="Material Icons"/>
                  <a:cs typeface="Material Icons"/>
                  <a:sym typeface="Material Icons"/>
                </a:rPr>
                <a:t>security</a:t>
              </a:r>
              <a:endParaRPr sz="3600">
                <a:solidFill>
                  <a:srgbClr val="EA4335"/>
                </a:solidFill>
                <a:latin typeface="Material Icons"/>
                <a:ea typeface="Material Icons"/>
                <a:cs typeface="Material Icons"/>
                <a:sym typeface="Material Icons"/>
              </a:endParaRPr>
            </a:p>
            <a:p>
              <a:pPr indent="0" lvl="0" marL="0" rtl="0" algn="ctr">
                <a:spcBef>
                  <a:spcPts val="1500"/>
                </a:spcBef>
                <a:spcAft>
                  <a:spcPts val="0"/>
                </a:spcAft>
                <a:buNone/>
              </a:pPr>
              <a:r>
                <a:rPr b="1" lang="en" sz="1400">
                  <a:solidFill>
                    <a:srgbClr val="FFFFFF"/>
                  </a:solidFill>
                  <a:latin typeface="Arial"/>
                  <a:ea typeface="Arial"/>
                  <a:cs typeface="Arial"/>
                  <a:sym typeface="Arial"/>
                </a:rPr>
                <a:t>IAM</a:t>
              </a:r>
              <a:endParaRPr b="1" sz="1400">
                <a:solidFill>
                  <a:srgbClr val="FFFFFF"/>
                </a:solidFill>
                <a:latin typeface="Arial"/>
                <a:ea typeface="Arial"/>
                <a:cs typeface="Arial"/>
                <a:sym typeface="Arial"/>
              </a:endParaRPr>
            </a:p>
          </p:txBody>
        </p:sp>
      </p:grpSp>
      <p:grpSp>
        <p:nvGrpSpPr>
          <p:cNvPr id="122" name="Google Shape;122;p18"/>
          <p:cNvGrpSpPr/>
          <p:nvPr/>
        </p:nvGrpSpPr>
        <p:grpSpPr>
          <a:xfrm>
            <a:off x="7124700" y="2000250"/>
            <a:ext cx="1447800" cy="2476500"/>
            <a:chOff x="0" y="0"/>
            <a:chExt cx="1447800" cy="2476500"/>
          </a:xfrm>
        </p:grpSpPr>
        <p:sp>
          <p:nvSpPr>
            <p:cNvPr id="123" name="Google Shape;123;p18"/>
            <p:cNvSpPr/>
            <p:nvPr/>
          </p:nvSpPr>
          <p:spPr>
            <a:xfrm>
              <a:off x="0" y="0"/>
              <a:ext cx="1447800" cy="2476500"/>
            </a:xfrm>
            <a:prstGeom prst="roundRect">
              <a:avLst>
                <a:gd fmla="val 7894" name="adj"/>
              </a:avLst>
            </a:prstGeom>
            <a:solidFill>
              <a:srgbClr val="161616"/>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8"/>
            <p:cNvSpPr txBox="1"/>
            <p:nvPr/>
          </p:nvSpPr>
          <p:spPr>
            <a:xfrm>
              <a:off x="0" y="0"/>
              <a:ext cx="1447800" cy="2476500"/>
            </a:xfrm>
            <a:prstGeom prst="rect">
              <a:avLst/>
            </a:prstGeom>
            <a:noFill/>
            <a:ln>
              <a:noFill/>
            </a:ln>
          </p:spPr>
          <p:txBody>
            <a:bodyPr anchorCtr="0" anchor="ctr" bIns="142875" lIns="142875" spcFirstLastPara="1" rIns="142875" wrap="square" tIns="142875">
              <a:noAutofit/>
            </a:bodyPr>
            <a:lstStyle/>
            <a:p>
              <a:pPr indent="0" lvl="0" marL="0" rtl="0" algn="ctr">
                <a:spcBef>
                  <a:spcPts val="0"/>
                </a:spcBef>
                <a:spcAft>
                  <a:spcPts val="0"/>
                </a:spcAft>
                <a:buNone/>
              </a:pPr>
              <a:r>
                <a:rPr lang="en" sz="3600">
                  <a:solidFill>
                    <a:srgbClr val="FFAB40"/>
                  </a:solidFill>
                  <a:latin typeface="Material Icons"/>
                  <a:ea typeface="Material Icons"/>
                  <a:cs typeface="Material Icons"/>
                  <a:sym typeface="Material Icons"/>
                </a:rPr>
                <a:t>payment</a:t>
              </a:r>
              <a:endParaRPr sz="3600">
                <a:solidFill>
                  <a:srgbClr val="FFAB40"/>
                </a:solidFill>
                <a:latin typeface="Material Icons"/>
                <a:ea typeface="Material Icons"/>
                <a:cs typeface="Material Icons"/>
                <a:sym typeface="Material Icons"/>
              </a:endParaRPr>
            </a:p>
            <a:p>
              <a:pPr indent="0" lvl="0" marL="0" rtl="0" algn="ctr">
                <a:spcBef>
                  <a:spcPts val="1500"/>
                </a:spcBef>
                <a:spcAft>
                  <a:spcPts val="0"/>
                </a:spcAft>
                <a:buNone/>
              </a:pPr>
              <a:r>
                <a:rPr b="1" lang="en" sz="1400">
                  <a:solidFill>
                    <a:srgbClr val="FFFFFF"/>
                  </a:solidFill>
                  <a:latin typeface="Arial"/>
                  <a:ea typeface="Arial"/>
                  <a:cs typeface="Arial"/>
                  <a:sym typeface="Arial"/>
                </a:rPr>
                <a:t>Billing</a:t>
              </a:r>
              <a:endParaRPr b="1" sz="1400">
                <a:solidFill>
                  <a:srgbClr val="FFFFFF"/>
                </a:solidFill>
                <a:latin typeface="Arial"/>
                <a:ea typeface="Arial"/>
                <a:cs typeface="Arial"/>
                <a:sym typeface="Arial"/>
              </a:endParaRPr>
            </a:p>
          </p:txBody>
        </p:sp>
      </p:grpSp>
      <p:sp>
        <p:nvSpPr>
          <p:cNvPr id="125" name="Google Shape;125;p18"/>
          <p:cNvSpPr txBox="1"/>
          <p:nvPr/>
        </p:nvSpPr>
        <p:spPr>
          <a:xfrm>
            <a:off x="1951300" y="4174875"/>
            <a:ext cx="5593200" cy="58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accent4"/>
                </a:solidFill>
              </a:rPr>
              <a:t>It means they are all separate and independent.</a:t>
            </a:r>
            <a:endParaRPr b="1" sz="1800">
              <a:solidFill>
                <a:schemeClr val="accent4"/>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9" name="Shape 129"/>
        <p:cNvGrpSpPr/>
        <p:nvPr/>
      </p:nvGrpSpPr>
      <p:grpSpPr>
        <a:xfrm>
          <a:off x="0" y="0"/>
          <a:ext cx="0" cy="0"/>
          <a:chOff x="0" y="0"/>
          <a:chExt cx="0" cy="0"/>
        </a:xfrm>
      </p:grpSpPr>
      <p:sp>
        <p:nvSpPr>
          <p:cNvPr id="130" name="Google Shape;130;p19"/>
          <p:cNvSpPr/>
          <p:nvPr/>
        </p:nvSpPr>
        <p:spPr>
          <a:xfrm>
            <a:off x="470575" y="387175"/>
            <a:ext cx="57300" cy="1524000"/>
          </a:xfrm>
          <a:prstGeom prst="roundRect">
            <a:avLst>
              <a:gd fmla="val 50000" name="adj"/>
            </a:avLst>
          </a:prstGeom>
          <a:gradFill>
            <a:gsLst>
              <a:gs pos="0">
                <a:srgbClr val="38BDF8"/>
              </a:gs>
              <a:gs pos="100000">
                <a:srgbClr val="3B82F6"/>
              </a:gs>
            </a:gsLst>
            <a:lin ang="5400000" scaled="0"/>
          </a:gra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9"/>
          <p:cNvSpPr txBox="1"/>
          <p:nvPr/>
        </p:nvSpPr>
        <p:spPr>
          <a:xfrm>
            <a:off x="683450" y="387175"/>
            <a:ext cx="4398600" cy="168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38BDF8"/>
                </a:solidFill>
                <a:latin typeface="Roboto"/>
                <a:ea typeface="Roboto"/>
                <a:cs typeface="Roboto"/>
                <a:sym typeface="Roboto"/>
              </a:rPr>
              <a:t>Interactive Workshop</a:t>
            </a:r>
            <a:endParaRPr b="1" sz="1400">
              <a:solidFill>
                <a:srgbClr val="38BDF8"/>
              </a:solidFill>
              <a:latin typeface="Roboto"/>
              <a:ea typeface="Roboto"/>
              <a:cs typeface="Roboto"/>
              <a:sym typeface="Roboto"/>
            </a:endParaRPr>
          </a:p>
          <a:p>
            <a:pPr indent="0" lvl="0" marL="0" rtl="0" algn="l">
              <a:spcBef>
                <a:spcPts val="600"/>
              </a:spcBef>
              <a:spcAft>
                <a:spcPts val="0"/>
              </a:spcAft>
              <a:buNone/>
            </a:pPr>
            <a:r>
              <a:rPr b="0" lang="en" sz="5600">
                <a:solidFill>
                  <a:srgbClr val="FFFFFF"/>
                </a:solidFill>
                <a:latin typeface="Roboto Black"/>
                <a:ea typeface="Roboto Black"/>
                <a:cs typeface="Roboto Black"/>
                <a:sym typeface="Roboto Black"/>
              </a:rPr>
              <a:t>Let’s build it!</a:t>
            </a:r>
            <a:endParaRPr b="0" sz="5600">
              <a:solidFill>
                <a:srgbClr val="FFFFFF"/>
              </a:solidFill>
              <a:latin typeface="Roboto Black"/>
              <a:ea typeface="Roboto Black"/>
              <a:cs typeface="Roboto Black"/>
              <a:sym typeface="Roboto Black"/>
            </a:endParaRPr>
          </a:p>
          <a:p>
            <a:pPr indent="0" lvl="0" marL="0" rtl="0" algn="l">
              <a:spcBef>
                <a:spcPts val="900"/>
              </a:spcBef>
              <a:spcAft>
                <a:spcPts val="0"/>
              </a:spcAft>
              <a:buNone/>
            </a:pPr>
            <a:r>
              <a:rPr b="0" lang="en" sz="2400">
                <a:solidFill>
                  <a:srgbClr val="94A3B8"/>
                </a:solidFill>
                <a:latin typeface="Roboto"/>
                <a:ea typeface="Roboto"/>
                <a:cs typeface="Roboto"/>
                <a:sym typeface="Roboto"/>
              </a:rPr>
              <a:t>Plan and Map</a:t>
            </a:r>
            <a:endParaRPr b="0" sz="2400">
              <a:solidFill>
                <a:srgbClr val="94A3B8"/>
              </a:solidFill>
              <a:latin typeface="Roboto"/>
              <a:ea typeface="Roboto"/>
              <a:cs typeface="Roboto"/>
              <a:sym typeface="Roboto"/>
            </a:endParaRPr>
          </a:p>
        </p:txBody>
      </p:sp>
      <p:sp>
        <p:nvSpPr>
          <p:cNvPr id="132" name="Google Shape;132;p19"/>
          <p:cNvSpPr txBox="1"/>
          <p:nvPr/>
        </p:nvSpPr>
        <p:spPr>
          <a:xfrm>
            <a:off x="5281450" y="1086525"/>
            <a:ext cx="27012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chemeClr val="dk1"/>
                </a:solidFill>
              </a:rPr>
              <a:t>  </a:t>
            </a:r>
            <a:r>
              <a:rPr lang="en" sz="1100">
                <a:solidFill>
                  <a:schemeClr val="lt1"/>
                </a:solidFill>
              </a:rPr>
              <a:t> </a:t>
            </a:r>
            <a:endParaRPr>
              <a:solidFill>
                <a:schemeClr val="lt1"/>
              </a:solidFill>
            </a:endParaRPr>
          </a:p>
        </p:txBody>
      </p:sp>
      <p:sp>
        <p:nvSpPr>
          <p:cNvPr id="133" name="Google Shape;133;p19"/>
          <p:cNvSpPr/>
          <p:nvPr/>
        </p:nvSpPr>
        <p:spPr>
          <a:xfrm>
            <a:off x="648400" y="2462075"/>
            <a:ext cx="4311000" cy="21294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sz="1600">
                <a:solidFill>
                  <a:schemeClr val="lt1"/>
                </a:solidFill>
              </a:rPr>
              <a:t>Cloud Run runs the web application, while Firestore stores the feedback. Firestore is a serverless NoSQL database designed for applications that need automatic scaling.</a:t>
            </a:r>
            <a:endParaRPr sz="1900">
              <a:solidFill>
                <a:schemeClr val="lt1"/>
              </a:solidFill>
            </a:endParaRPr>
          </a:p>
        </p:txBody>
      </p:sp>
      <p:sp>
        <p:nvSpPr>
          <p:cNvPr id="134" name="Google Shape;134;p19"/>
          <p:cNvSpPr/>
          <p:nvPr/>
        </p:nvSpPr>
        <p:spPr>
          <a:xfrm>
            <a:off x="5467700" y="1165400"/>
            <a:ext cx="3171900" cy="3426000"/>
          </a:xfrm>
          <a:prstGeom prst="roundRect">
            <a:avLst>
              <a:gd fmla="val 16667" name="adj"/>
            </a:avLst>
          </a:prstGeom>
          <a:solidFill>
            <a:srgbClr val="F59E0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100">
                <a:solidFill>
                  <a:schemeClr val="lt1"/>
                </a:solidFill>
              </a:rPr>
              <a:t> </a:t>
            </a:r>
            <a:endParaRPr sz="1100">
              <a:solidFill>
                <a:schemeClr val="lt1"/>
              </a:solidFill>
            </a:endParaRPr>
          </a:p>
          <a:p>
            <a:pPr indent="0" lvl="0" marL="0" rtl="0" algn="l">
              <a:lnSpc>
                <a:spcPct val="115000"/>
              </a:lnSpc>
              <a:spcBef>
                <a:spcPts val="0"/>
              </a:spcBef>
              <a:spcAft>
                <a:spcPts val="0"/>
              </a:spcAft>
              <a:buNone/>
            </a:pPr>
            <a:r>
              <a:t/>
            </a:r>
            <a:endParaRPr b="1" sz="1100">
              <a:solidFill>
                <a:schemeClr val="dk1"/>
              </a:solidFill>
            </a:endParaRPr>
          </a:p>
          <a:p>
            <a:pPr indent="0" lvl="0" marL="0" rtl="0" algn="l">
              <a:lnSpc>
                <a:spcPct val="115000"/>
              </a:lnSpc>
              <a:spcBef>
                <a:spcPts val="0"/>
              </a:spcBef>
              <a:spcAft>
                <a:spcPts val="0"/>
              </a:spcAft>
              <a:buNone/>
            </a:pPr>
            <a:r>
              <a:t/>
            </a:r>
            <a:endParaRPr b="1"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USER</a:t>
            </a:r>
            <a:endParaRPr b="1"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                   │</a:t>
            </a:r>
            <a:endParaRPr b="1"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                   ▼</a:t>
            </a:r>
            <a:endParaRPr b="1"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          ┌─────────────────┐</a:t>
            </a:r>
            <a:endParaRPr b="1"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          │    Cloud Run    │</a:t>
            </a:r>
            <a:endParaRPr b="1"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          │  Web Application│</a:t>
            </a:r>
            <a:endParaRPr b="1"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          └────────┬────────┘</a:t>
            </a:r>
            <a:endParaRPr b="1"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                   │</a:t>
            </a:r>
            <a:endParaRPr b="1"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                   ▼</a:t>
            </a:r>
            <a:endParaRPr b="1"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          ┌─────────────────┐</a:t>
            </a:r>
            <a:endParaRPr b="1"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          │    Firestore    │</a:t>
            </a:r>
            <a:endParaRPr b="1"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          │    Database     │</a:t>
            </a:r>
            <a:endParaRPr b="1"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          └─────────────────┘</a:t>
            </a:r>
            <a:endParaRPr b="1"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11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b="1">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8" name="Shape 138"/>
        <p:cNvGrpSpPr/>
        <p:nvPr/>
      </p:nvGrpSpPr>
      <p:grpSpPr>
        <a:xfrm>
          <a:off x="0" y="0"/>
          <a:ext cx="0" cy="0"/>
          <a:chOff x="0" y="0"/>
          <a:chExt cx="0" cy="0"/>
        </a:xfrm>
      </p:grpSpPr>
      <p:sp>
        <p:nvSpPr>
          <p:cNvPr id="139" name="Google Shape;139;p20"/>
          <p:cNvSpPr txBox="1"/>
          <p:nvPr>
            <p:ph type="title"/>
          </p:nvPr>
        </p:nvSpPr>
        <p:spPr>
          <a:xfrm>
            <a:off x="623400" y="297525"/>
            <a:ext cx="3449400" cy="572700"/>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The Final Application</a:t>
            </a:r>
            <a:endParaRPr b="1"/>
          </a:p>
        </p:txBody>
      </p:sp>
      <p:sp>
        <p:nvSpPr>
          <p:cNvPr id="140" name="Google Shape;140;p20"/>
          <p:cNvSpPr txBox="1"/>
          <p:nvPr>
            <p:ph idx="1" type="body"/>
          </p:nvPr>
        </p:nvSpPr>
        <p:spPr>
          <a:xfrm>
            <a:off x="1395250" y="930275"/>
            <a:ext cx="3176700" cy="4095600"/>
          </a:xfrm>
          <a:prstGeom prst="rect">
            <a:avLst/>
          </a:prstGeom>
        </p:spPr>
        <p:txBody>
          <a:bodyPr anchorCtr="0" anchor="t" bIns="91425" lIns="91425" spcFirstLastPara="1" rIns="91425" wrap="square" tIns="91425">
            <a:normAutofit fontScale="25000" lnSpcReduction="20000"/>
          </a:bodyPr>
          <a:lstStyle/>
          <a:p>
            <a:pPr indent="0" lvl="0" marL="0" rtl="0" algn="l">
              <a:spcBef>
                <a:spcPts val="1200"/>
              </a:spcBef>
              <a:spcAft>
                <a:spcPts val="0"/>
              </a:spcAft>
              <a:buClr>
                <a:schemeClr val="dk1"/>
              </a:buClr>
              <a:buSzPct val="27160"/>
              <a:buFont typeface="Arial"/>
              <a:buNone/>
            </a:pPr>
            <a:r>
              <a:t/>
            </a:r>
            <a:endParaRPr b="1" sz="4050">
              <a:solidFill>
                <a:schemeClr val="lt1"/>
              </a:solidFill>
            </a:endParaRPr>
          </a:p>
          <a:p>
            <a:pPr indent="0" lvl="0" marL="0" rtl="0" algn="l">
              <a:spcBef>
                <a:spcPts val="1200"/>
              </a:spcBef>
              <a:spcAft>
                <a:spcPts val="0"/>
              </a:spcAft>
              <a:buClr>
                <a:schemeClr val="dk1"/>
              </a:buClr>
              <a:buSzPct val="27160"/>
              <a:buFont typeface="Arial"/>
              <a:buNone/>
            </a:pPr>
            <a:r>
              <a:rPr b="1" lang="en" sz="4050">
                <a:solidFill>
                  <a:schemeClr val="lt1"/>
                </a:solidFill>
              </a:rPr>
              <a:t>-----------------------------------------</a:t>
            </a:r>
            <a:endParaRPr b="1" sz="4050">
              <a:solidFill>
                <a:schemeClr val="lt1"/>
              </a:solidFill>
            </a:endParaRPr>
          </a:p>
          <a:p>
            <a:pPr indent="0" lvl="0" marL="0" rtl="0" algn="l">
              <a:spcBef>
                <a:spcPts val="0"/>
              </a:spcBef>
              <a:spcAft>
                <a:spcPts val="0"/>
              </a:spcAft>
              <a:buClr>
                <a:schemeClr val="dk1"/>
              </a:buClr>
              <a:buSzPct val="27160"/>
              <a:buFont typeface="Arial"/>
              <a:buNone/>
            </a:pPr>
            <a:r>
              <a:rPr b="1" lang="en" sz="4050">
                <a:solidFill>
                  <a:schemeClr val="lt1"/>
                </a:solidFill>
              </a:rPr>
              <a:t>       COMMUNITY EVENT FEEDBACK</a:t>
            </a:r>
            <a:endParaRPr b="1" sz="4050">
              <a:solidFill>
                <a:schemeClr val="lt1"/>
              </a:solidFill>
            </a:endParaRPr>
          </a:p>
          <a:p>
            <a:pPr indent="0" lvl="0" marL="0" rtl="0" algn="l">
              <a:spcBef>
                <a:spcPts val="0"/>
              </a:spcBef>
              <a:spcAft>
                <a:spcPts val="0"/>
              </a:spcAft>
              <a:buClr>
                <a:schemeClr val="dk1"/>
              </a:buClr>
              <a:buSzPct val="27160"/>
              <a:buFont typeface="Arial"/>
              <a:buNone/>
            </a:pPr>
            <a:r>
              <a:rPr b="1" lang="en" sz="4050">
                <a:solidFill>
                  <a:schemeClr val="lt1"/>
                </a:solidFill>
              </a:rPr>
              <a:t>-----------------------------------------</a:t>
            </a:r>
            <a:endParaRPr b="1" sz="4050">
              <a:solidFill>
                <a:schemeClr val="lt1"/>
              </a:solidFill>
            </a:endParaRPr>
          </a:p>
          <a:p>
            <a:pPr indent="0" lvl="0" marL="0" rtl="0" algn="l">
              <a:spcBef>
                <a:spcPts val="0"/>
              </a:spcBef>
              <a:spcAft>
                <a:spcPts val="0"/>
              </a:spcAft>
              <a:buClr>
                <a:schemeClr val="dk1"/>
              </a:buClr>
              <a:buSzPct val="27160"/>
              <a:buFont typeface="Arial"/>
              <a:buNone/>
            </a:pPr>
            <a:r>
              <a:t/>
            </a:r>
            <a:endParaRPr b="1" sz="4050">
              <a:solidFill>
                <a:schemeClr val="lt1"/>
              </a:solidFill>
            </a:endParaRPr>
          </a:p>
          <a:p>
            <a:pPr indent="0" lvl="0" marL="0" rtl="0" algn="l">
              <a:spcBef>
                <a:spcPts val="0"/>
              </a:spcBef>
              <a:spcAft>
                <a:spcPts val="0"/>
              </a:spcAft>
              <a:buClr>
                <a:schemeClr val="dk1"/>
              </a:buClr>
              <a:buSzPct val="27160"/>
              <a:buFont typeface="Arial"/>
              <a:buNone/>
            </a:pPr>
            <a:r>
              <a:rPr b="1" lang="en" sz="4050">
                <a:solidFill>
                  <a:schemeClr val="lt1"/>
                </a:solidFill>
              </a:rPr>
              <a:t>Thank you for attending our event!</a:t>
            </a:r>
            <a:endParaRPr b="1" sz="4050">
              <a:solidFill>
                <a:schemeClr val="lt1"/>
              </a:solidFill>
            </a:endParaRPr>
          </a:p>
          <a:p>
            <a:pPr indent="0" lvl="0" marL="0" rtl="0" algn="l">
              <a:spcBef>
                <a:spcPts val="0"/>
              </a:spcBef>
              <a:spcAft>
                <a:spcPts val="0"/>
              </a:spcAft>
              <a:buClr>
                <a:schemeClr val="dk1"/>
              </a:buClr>
              <a:buSzPct val="27160"/>
              <a:buFont typeface="Arial"/>
              <a:buNone/>
            </a:pPr>
            <a:r>
              <a:t/>
            </a:r>
            <a:endParaRPr b="1" sz="4050">
              <a:solidFill>
                <a:schemeClr val="lt1"/>
              </a:solidFill>
            </a:endParaRPr>
          </a:p>
          <a:p>
            <a:pPr indent="0" lvl="0" marL="0" rtl="0" algn="l">
              <a:spcBef>
                <a:spcPts val="0"/>
              </a:spcBef>
              <a:spcAft>
                <a:spcPts val="0"/>
              </a:spcAft>
              <a:buClr>
                <a:schemeClr val="dk1"/>
              </a:buClr>
              <a:buSzPct val="27160"/>
              <a:buFont typeface="Arial"/>
              <a:buNone/>
            </a:pPr>
            <a:r>
              <a:rPr b="1" lang="en" sz="4050">
                <a:solidFill>
                  <a:schemeClr val="lt1"/>
                </a:solidFill>
              </a:rPr>
              <a:t>Name:</a:t>
            </a:r>
            <a:endParaRPr b="1" sz="4050">
              <a:solidFill>
                <a:schemeClr val="lt1"/>
              </a:solidFill>
            </a:endParaRPr>
          </a:p>
          <a:p>
            <a:pPr indent="0" lvl="0" marL="0" rtl="0" algn="l">
              <a:spcBef>
                <a:spcPts val="0"/>
              </a:spcBef>
              <a:spcAft>
                <a:spcPts val="0"/>
              </a:spcAft>
              <a:buClr>
                <a:schemeClr val="dk1"/>
              </a:buClr>
              <a:buSzPct val="27160"/>
              <a:buFont typeface="Arial"/>
              <a:buNone/>
            </a:pPr>
            <a:r>
              <a:rPr b="1" lang="en" sz="4050">
                <a:solidFill>
                  <a:schemeClr val="lt1"/>
                </a:solidFill>
              </a:rPr>
              <a:t>[____________________________]</a:t>
            </a:r>
            <a:endParaRPr b="1" sz="4050">
              <a:solidFill>
                <a:schemeClr val="lt1"/>
              </a:solidFill>
            </a:endParaRPr>
          </a:p>
          <a:p>
            <a:pPr indent="0" lvl="0" marL="0" rtl="0" algn="l">
              <a:spcBef>
                <a:spcPts val="0"/>
              </a:spcBef>
              <a:spcAft>
                <a:spcPts val="0"/>
              </a:spcAft>
              <a:buClr>
                <a:schemeClr val="dk1"/>
              </a:buClr>
              <a:buSzPct val="27160"/>
              <a:buFont typeface="Arial"/>
              <a:buNone/>
            </a:pPr>
            <a:r>
              <a:t/>
            </a:r>
            <a:endParaRPr b="1" sz="4050">
              <a:solidFill>
                <a:schemeClr val="lt1"/>
              </a:solidFill>
            </a:endParaRPr>
          </a:p>
          <a:p>
            <a:pPr indent="0" lvl="0" marL="0" rtl="0" algn="l">
              <a:spcBef>
                <a:spcPts val="0"/>
              </a:spcBef>
              <a:spcAft>
                <a:spcPts val="0"/>
              </a:spcAft>
              <a:buClr>
                <a:schemeClr val="dk1"/>
              </a:buClr>
              <a:buSzPct val="27160"/>
              <a:buFont typeface="Arial"/>
              <a:buNone/>
            </a:pPr>
            <a:r>
              <a:rPr b="1" lang="en" sz="4050">
                <a:solidFill>
                  <a:schemeClr val="lt1"/>
                </a:solidFill>
              </a:rPr>
              <a:t>Which event did you attend?</a:t>
            </a:r>
            <a:endParaRPr b="1" sz="4050">
              <a:solidFill>
                <a:schemeClr val="lt1"/>
              </a:solidFill>
            </a:endParaRPr>
          </a:p>
          <a:p>
            <a:pPr indent="0" lvl="0" marL="0" rtl="0" algn="l">
              <a:spcBef>
                <a:spcPts val="0"/>
              </a:spcBef>
              <a:spcAft>
                <a:spcPts val="0"/>
              </a:spcAft>
              <a:buClr>
                <a:schemeClr val="dk1"/>
              </a:buClr>
              <a:buSzPct val="27160"/>
              <a:buFont typeface="Arial"/>
              <a:buNone/>
            </a:pPr>
            <a:r>
              <a:t/>
            </a:r>
            <a:endParaRPr b="1" sz="4050">
              <a:solidFill>
                <a:schemeClr val="lt1"/>
              </a:solidFill>
            </a:endParaRPr>
          </a:p>
          <a:p>
            <a:pPr indent="0" lvl="0" marL="0" rtl="0" algn="l">
              <a:spcBef>
                <a:spcPts val="0"/>
              </a:spcBef>
              <a:spcAft>
                <a:spcPts val="0"/>
              </a:spcAft>
              <a:buClr>
                <a:schemeClr val="dk1"/>
              </a:buClr>
              <a:buSzPct val="27160"/>
              <a:buFont typeface="Arial"/>
              <a:buNone/>
            </a:pPr>
            <a:r>
              <a:rPr b="1" lang="en" sz="4050">
                <a:solidFill>
                  <a:schemeClr val="lt1"/>
                </a:solidFill>
              </a:rPr>
              <a:t>[ Summer Fair              ▼ ]</a:t>
            </a:r>
            <a:endParaRPr b="1" sz="4050">
              <a:solidFill>
                <a:schemeClr val="lt1"/>
              </a:solidFill>
            </a:endParaRPr>
          </a:p>
          <a:p>
            <a:pPr indent="0" lvl="0" marL="0" rtl="0" algn="l">
              <a:spcBef>
                <a:spcPts val="0"/>
              </a:spcBef>
              <a:spcAft>
                <a:spcPts val="0"/>
              </a:spcAft>
              <a:buClr>
                <a:schemeClr val="dk1"/>
              </a:buClr>
              <a:buSzPct val="27160"/>
              <a:buFont typeface="Arial"/>
              <a:buNone/>
            </a:pPr>
            <a:r>
              <a:t/>
            </a:r>
            <a:endParaRPr b="1" sz="4050">
              <a:solidFill>
                <a:schemeClr val="lt1"/>
              </a:solidFill>
            </a:endParaRPr>
          </a:p>
          <a:p>
            <a:pPr indent="0" lvl="0" marL="0" rtl="0" algn="l">
              <a:spcBef>
                <a:spcPts val="0"/>
              </a:spcBef>
              <a:spcAft>
                <a:spcPts val="0"/>
              </a:spcAft>
              <a:buClr>
                <a:schemeClr val="dk1"/>
              </a:buClr>
              <a:buSzPct val="27160"/>
              <a:buFont typeface="Arial"/>
              <a:buNone/>
            </a:pPr>
            <a:r>
              <a:rPr b="1" lang="en" sz="4050">
                <a:solidFill>
                  <a:schemeClr val="lt1"/>
                </a:solidFill>
              </a:rPr>
              <a:t>How would you rate the event?</a:t>
            </a:r>
            <a:endParaRPr b="1" sz="4050">
              <a:solidFill>
                <a:schemeClr val="lt1"/>
              </a:solidFill>
            </a:endParaRPr>
          </a:p>
          <a:p>
            <a:pPr indent="0" lvl="0" marL="0" rtl="0" algn="l">
              <a:spcBef>
                <a:spcPts val="0"/>
              </a:spcBef>
              <a:spcAft>
                <a:spcPts val="0"/>
              </a:spcAft>
              <a:buClr>
                <a:schemeClr val="dk1"/>
              </a:buClr>
              <a:buSzPct val="27160"/>
              <a:buFont typeface="Arial"/>
              <a:buNone/>
            </a:pPr>
            <a:r>
              <a:t/>
            </a:r>
            <a:endParaRPr b="1" sz="4050">
              <a:solidFill>
                <a:schemeClr val="lt1"/>
              </a:solidFill>
            </a:endParaRPr>
          </a:p>
          <a:p>
            <a:pPr indent="0" lvl="0" marL="0" rtl="0" algn="l">
              <a:spcBef>
                <a:spcPts val="0"/>
              </a:spcBef>
              <a:spcAft>
                <a:spcPts val="0"/>
              </a:spcAft>
              <a:buClr>
                <a:schemeClr val="dk1"/>
              </a:buClr>
              <a:buSzPct val="27160"/>
              <a:buFont typeface="Arial"/>
              <a:buNone/>
            </a:pPr>
            <a:r>
              <a:rPr b="1" lang="en" sz="4050">
                <a:solidFill>
                  <a:schemeClr val="lt1"/>
                </a:solidFill>
              </a:rPr>
              <a:t>○ 1   ○ 2   ○ 3   ○ 4   ○ 5</a:t>
            </a:r>
            <a:endParaRPr b="1" sz="4050">
              <a:solidFill>
                <a:schemeClr val="lt1"/>
              </a:solidFill>
            </a:endParaRPr>
          </a:p>
          <a:p>
            <a:pPr indent="0" lvl="0" marL="0" rtl="0" algn="l">
              <a:spcBef>
                <a:spcPts val="0"/>
              </a:spcBef>
              <a:spcAft>
                <a:spcPts val="0"/>
              </a:spcAft>
              <a:buClr>
                <a:schemeClr val="dk1"/>
              </a:buClr>
              <a:buSzPct val="27160"/>
              <a:buFont typeface="Arial"/>
              <a:buNone/>
            </a:pPr>
            <a:r>
              <a:t/>
            </a:r>
            <a:endParaRPr b="1" sz="4050">
              <a:solidFill>
                <a:schemeClr val="lt1"/>
              </a:solidFill>
            </a:endParaRPr>
          </a:p>
          <a:p>
            <a:pPr indent="0" lvl="0" marL="0" rtl="0" algn="l">
              <a:spcBef>
                <a:spcPts val="0"/>
              </a:spcBef>
              <a:spcAft>
                <a:spcPts val="0"/>
              </a:spcAft>
              <a:buClr>
                <a:schemeClr val="dk1"/>
              </a:buClr>
              <a:buSzPct val="27160"/>
              <a:buFont typeface="Arial"/>
              <a:buNone/>
            </a:pPr>
            <a:r>
              <a:rPr b="1" lang="en" sz="4050">
                <a:solidFill>
                  <a:schemeClr val="lt1"/>
                </a:solidFill>
              </a:rPr>
              <a:t>Your feedback:</a:t>
            </a:r>
            <a:endParaRPr b="1" sz="4050">
              <a:solidFill>
                <a:schemeClr val="lt1"/>
              </a:solidFill>
            </a:endParaRPr>
          </a:p>
          <a:p>
            <a:pPr indent="0" lvl="0" marL="0" rtl="0" algn="l">
              <a:spcBef>
                <a:spcPts val="0"/>
              </a:spcBef>
              <a:spcAft>
                <a:spcPts val="0"/>
              </a:spcAft>
              <a:buClr>
                <a:schemeClr val="dk1"/>
              </a:buClr>
              <a:buSzPct val="27160"/>
              <a:buFont typeface="Arial"/>
              <a:buNone/>
            </a:pPr>
            <a:r>
              <a:t/>
            </a:r>
            <a:endParaRPr b="1" sz="4050">
              <a:solidFill>
                <a:schemeClr val="lt1"/>
              </a:solidFill>
            </a:endParaRPr>
          </a:p>
          <a:p>
            <a:pPr indent="0" lvl="0" marL="0" rtl="0" algn="l">
              <a:spcBef>
                <a:spcPts val="0"/>
              </a:spcBef>
              <a:spcAft>
                <a:spcPts val="0"/>
              </a:spcAft>
              <a:buClr>
                <a:schemeClr val="dk1"/>
              </a:buClr>
              <a:buSzPct val="27160"/>
              <a:buFont typeface="Arial"/>
              <a:buNone/>
            </a:pPr>
            <a:r>
              <a:rPr b="1" lang="en" sz="4050">
                <a:solidFill>
                  <a:schemeClr val="lt1"/>
                </a:solidFill>
              </a:rPr>
              <a:t>[____________________________]</a:t>
            </a:r>
            <a:endParaRPr b="1" sz="4050">
              <a:solidFill>
                <a:schemeClr val="lt1"/>
              </a:solidFill>
            </a:endParaRPr>
          </a:p>
          <a:p>
            <a:pPr indent="0" lvl="0" marL="0" rtl="0" algn="l">
              <a:spcBef>
                <a:spcPts val="0"/>
              </a:spcBef>
              <a:spcAft>
                <a:spcPts val="0"/>
              </a:spcAft>
              <a:buClr>
                <a:schemeClr val="dk1"/>
              </a:buClr>
              <a:buSzPct val="27160"/>
              <a:buFont typeface="Arial"/>
              <a:buNone/>
            </a:pPr>
            <a:r>
              <a:rPr b="1" lang="en" sz="4050">
                <a:solidFill>
                  <a:schemeClr val="lt1"/>
                </a:solidFill>
              </a:rPr>
              <a:t>[____________________________]</a:t>
            </a:r>
            <a:endParaRPr b="1" sz="4050">
              <a:solidFill>
                <a:schemeClr val="lt1"/>
              </a:solidFill>
            </a:endParaRPr>
          </a:p>
          <a:p>
            <a:pPr indent="0" lvl="0" marL="0" rtl="0" algn="l">
              <a:spcBef>
                <a:spcPts val="0"/>
              </a:spcBef>
              <a:spcAft>
                <a:spcPts val="0"/>
              </a:spcAft>
              <a:buClr>
                <a:schemeClr val="dk1"/>
              </a:buClr>
              <a:buSzPct val="27160"/>
              <a:buFont typeface="Arial"/>
              <a:buNone/>
            </a:pPr>
            <a:r>
              <a:rPr b="1" lang="en" sz="4050">
                <a:solidFill>
                  <a:schemeClr val="lt1"/>
                </a:solidFill>
              </a:rPr>
              <a:t>[____________________________]</a:t>
            </a:r>
            <a:endParaRPr b="1" sz="4050">
              <a:solidFill>
                <a:schemeClr val="lt1"/>
              </a:solidFill>
            </a:endParaRPr>
          </a:p>
          <a:p>
            <a:pPr indent="0" lvl="0" marL="0" rtl="0" algn="l">
              <a:spcBef>
                <a:spcPts val="0"/>
              </a:spcBef>
              <a:spcAft>
                <a:spcPts val="0"/>
              </a:spcAft>
              <a:buClr>
                <a:schemeClr val="dk1"/>
              </a:buClr>
              <a:buSzPct val="27160"/>
              <a:buFont typeface="Arial"/>
              <a:buNone/>
            </a:pPr>
            <a:r>
              <a:t/>
            </a:r>
            <a:endParaRPr b="1" sz="4050">
              <a:solidFill>
                <a:schemeClr val="lt1"/>
              </a:solidFill>
            </a:endParaRPr>
          </a:p>
          <a:p>
            <a:pPr indent="0" lvl="0" marL="0" rtl="0" algn="l">
              <a:spcBef>
                <a:spcPts val="0"/>
              </a:spcBef>
              <a:spcAft>
                <a:spcPts val="0"/>
              </a:spcAft>
              <a:buClr>
                <a:schemeClr val="dk1"/>
              </a:buClr>
              <a:buSzPct val="27160"/>
              <a:buFont typeface="Arial"/>
              <a:buNone/>
            </a:pPr>
            <a:r>
              <a:rPr b="1" lang="en" sz="4050">
                <a:solidFill>
                  <a:schemeClr val="lt1"/>
                </a:solidFill>
              </a:rPr>
              <a:t>          [ SUBMIT FEEDBACK ]</a:t>
            </a:r>
            <a:endParaRPr b="1" sz="4050">
              <a:solidFill>
                <a:schemeClr val="lt1"/>
              </a:solidFill>
            </a:endParaRPr>
          </a:p>
          <a:p>
            <a:pPr indent="0" lvl="0" marL="0" rtl="0" algn="l">
              <a:spcBef>
                <a:spcPts val="0"/>
              </a:spcBef>
              <a:spcAft>
                <a:spcPts val="0"/>
              </a:spcAft>
              <a:buClr>
                <a:schemeClr val="dk1"/>
              </a:buClr>
              <a:buSzPct val="100000"/>
              <a:buFont typeface="Arial"/>
              <a:buNone/>
            </a:pPr>
            <a:r>
              <a:t/>
            </a:r>
            <a:endParaRPr b="1" sz="1100">
              <a:solidFill>
                <a:schemeClr val="lt1"/>
              </a:solidFill>
            </a:endParaRPr>
          </a:p>
          <a:p>
            <a:pPr indent="0" lvl="0" marL="0" rtl="0" algn="l">
              <a:spcBef>
                <a:spcPts val="0"/>
              </a:spcBef>
              <a:spcAft>
                <a:spcPts val="1200"/>
              </a:spcAft>
              <a:buNone/>
            </a:pPr>
            <a:r>
              <a:t/>
            </a:r>
            <a:endParaRPr b="1">
              <a:solidFill>
                <a:schemeClr val="lt1"/>
              </a:solidFill>
            </a:endParaRPr>
          </a:p>
        </p:txBody>
      </p:sp>
      <p:sp>
        <p:nvSpPr>
          <p:cNvPr id="141" name="Google Shape;141;p20"/>
          <p:cNvSpPr/>
          <p:nvPr/>
        </p:nvSpPr>
        <p:spPr>
          <a:xfrm>
            <a:off x="4923700" y="1281975"/>
            <a:ext cx="3176700" cy="1792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t/>
            </a:r>
            <a:endParaRPr b="1" sz="1500">
              <a:solidFill>
                <a:schemeClr val="dk1"/>
              </a:solidFill>
            </a:endParaRPr>
          </a:p>
          <a:p>
            <a:pPr indent="0" lvl="0" marL="0" rtl="0" algn="l">
              <a:lnSpc>
                <a:spcPct val="115000"/>
              </a:lnSpc>
              <a:spcBef>
                <a:spcPts val="1200"/>
              </a:spcBef>
              <a:spcAft>
                <a:spcPts val="0"/>
              </a:spcAft>
              <a:buNone/>
            </a:pPr>
            <a:r>
              <a:rPr b="1" lang="en" sz="1500">
                <a:solidFill>
                  <a:schemeClr val="dk1"/>
                </a:solidFill>
              </a:rPr>
              <a:t>After submission:</a:t>
            </a:r>
            <a:endParaRPr b="1"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500">
                <a:solidFill>
                  <a:schemeClr val="dk1"/>
                </a:solidFill>
              </a:rPr>
              <a:t>Thank you, Sarah!</a:t>
            </a:r>
            <a:endParaRPr sz="15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5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500">
                <a:solidFill>
                  <a:schemeClr val="dk1"/>
                </a:solidFill>
              </a:rPr>
              <a:t>Your feedback has been submitted.</a:t>
            </a:r>
            <a:endParaRPr sz="15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5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sz="1500">
              <a:solidFill>
                <a:schemeClr val="dk1"/>
              </a:solidFill>
            </a:endParaRPr>
          </a:p>
        </p:txBody>
      </p:sp>
      <p:sp>
        <p:nvSpPr>
          <p:cNvPr id="142" name="Google Shape;142;p20"/>
          <p:cNvSpPr/>
          <p:nvPr/>
        </p:nvSpPr>
        <p:spPr>
          <a:xfrm>
            <a:off x="4832925" y="3675750"/>
            <a:ext cx="3176700" cy="941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en" sz="1500">
                <a:solidFill>
                  <a:schemeClr val="dk1"/>
                </a:solidFill>
              </a:rPr>
              <a:t>The information will appear in Firestore.</a:t>
            </a:r>
            <a:endParaRPr b="1" sz="1500">
              <a:solidFill>
                <a:schemeClr val="dk1"/>
              </a:solidFill>
            </a:endParaRPr>
          </a:p>
        </p:txBody>
      </p:sp>
      <p:sp>
        <p:nvSpPr>
          <p:cNvPr id="143" name="Google Shape;143;p20"/>
          <p:cNvSpPr txBox="1"/>
          <p:nvPr/>
        </p:nvSpPr>
        <p:spPr>
          <a:xfrm>
            <a:off x="623400" y="870225"/>
            <a:ext cx="3698400" cy="49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en" sz="1650">
                <a:solidFill>
                  <a:schemeClr val="lt1"/>
                </a:solidFill>
              </a:rPr>
              <a:t>You will build something like this:</a:t>
            </a:r>
            <a:endParaRPr sz="100">
              <a:solidFill>
                <a:schemeClr val="dk2"/>
              </a:solidFill>
            </a:endParaRPr>
          </a:p>
        </p:txBody>
      </p:sp>
      <p:sp>
        <p:nvSpPr>
          <p:cNvPr id="144" name="Google Shape;144;p20"/>
          <p:cNvSpPr/>
          <p:nvPr/>
        </p:nvSpPr>
        <p:spPr>
          <a:xfrm>
            <a:off x="113450" y="1369425"/>
            <a:ext cx="1123200" cy="6657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Frontend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1"/>
          <p:cNvSpPr txBox="1"/>
          <p:nvPr/>
        </p:nvSpPr>
        <p:spPr>
          <a:xfrm>
            <a:off x="1225250" y="0"/>
            <a:ext cx="5048400" cy="568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Collection</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   └── feedback</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          ├── Document</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          ├── Document</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          └── Document</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feedback</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   ├── document 1</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   │     ├── name: Sarah</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   │     ├── event: Summer Fair</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   │     ├── rating: 5</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   │     └── comment: Great event!</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   ├── document 2</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   │     ├── name: James</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   │     ├── event: Table Tennis</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   │     ├── rating: 4</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   │     └── comment: Really enjoyable.</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1200"/>
              </a:spcBef>
              <a:spcAft>
                <a:spcPts val="1200"/>
              </a:spcAft>
              <a:buNone/>
            </a:pPr>
            <a:r>
              <a:t/>
            </a:r>
            <a:endParaRPr/>
          </a:p>
        </p:txBody>
      </p:sp>
      <p:sp>
        <p:nvSpPr>
          <p:cNvPr id="150" name="Google Shape;150;p21"/>
          <p:cNvSpPr txBox="1"/>
          <p:nvPr/>
        </p:nvSpPr>
        <p:spPr>
          <a:xfrm>
            <a:off x="5819950" y="510525"/>
            <a:ext cx="2631900" cy="100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Firestore automatically generates document IDs when you add documents without specifying an ID. </a:t>
            </a:r>
            <a:endParaRPr>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4" name="Shape 154"/>
        <p:cNvGrpSpPr/>
        <p:nvPr/>
      </p:nvGrpSpPr>
      <p:grpSpPr>
        <a:xfrm>
          <a:off x="0" y="0"/>
          <a:ext cx="0" cy="0"/>
          <a:chOff x="0" y="0"/>
          <a:chExt cx="0" cy="0"/>
        </a:xfrm>
      </p:grpSpPr>
      <p:pic>
        <p:nvPicPr>
          <p:cNvPr id="155" name="Google Shape;155;p22"/>
          <p:cNvPicPr preferRelativeResize="0"/>
          <p:nvPr/>
        </p:nvPicPr>
        <p:blipFill>
          <a:blip r:embed="rId3">
            <a:alphaModFix/>
          </a:blip>
          <a:stretch>
            <a:fillRect/>
          </a:stretch>
        </p:blipFill>
        <p:spPr>
          <a:xfrm>
            <a:off x="1574775" y="111900"/>
            <a:ext cx="7258049" cy="4838700"/>
          </a:xfrm>
          <a:prstGeom prst="rect">
            <a:avLst/>
          </a:prstGeom>
          <a:noFill/>
          <a:ln>
            <a:noFill/>
          </a:ln>
        </p:spPr>
      </p:pic>
      <p:sp>
        <p:nvSpPr>
          <p:cNvPr id="156" name="Google Shape;156;p22"/>
          <p:cNvSpPr/>
          <p:nvPr/>
        </p:nvSpPr>
        <p:spPr>
          <a:xfrm>
            <a:off x="168825" y="1433850"/>
            <a:ext cx="1352700" cy="14256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lt1"/>
                </a:solidFill>
              </a:rPr>
              <a:t>Database looks like this in Firestore.</a:t>
            </a:r>
            <a:endParaRPr>
              <a:solidFill>
                <a:schemeClr val="lt1"/>
              </a:solidFill>
            </a:endParaRPr>
          </a:p>
        </p:txBody>
      </p:sp>
      <p:sp>
        <p:nvSpPr>
          <p:cNvPr id="157" name="Google Shape;157;p22"/>
          <p:cNvSpPr/>
          <p:nvPr/>
        </p:nvSpPr>
        <p:spPr>
          <a:xfrm>
            <a:off x="-96375" y="3233300"/>
            <a:ext cx="2541000" cy="1832100"/>
          </a:xfrm>
          <a:prstGeom prst="flowChartMagneticTape">
            <a:avLst/>
          </a:prstGeom>
          <a:solidFill>
            <a:srgbClr val="FBB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 sz="1200">
                <a:solidFill>
                  <a:schemeClr val="dk1"/>
                </a:solidFill>
              </a:rPr>
              <a:t>Firestore itself is </a:t>
            </a:r>
            <a:r>
              <a:rPr b="1" lang="en" sz="1200">
                <a:solidFill>
                  <a:schemeClr val="dk1"/>
                </a:solidFill>
              </a:rPr>
              <a:t>not a spreadsheet or SQL table</a:t>
            </a:r>
            <a:r>
              <a:rPr lang="en" sz="1200">
                <a:solidFill>
                  <a:schemeClr val="dk1"/>
                </a:solidFill>
              </a:rPr>
              <a:t>. </a:t>
            </a:r>
            <a:endParaRPr sz="12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sz="1200">
                <a:solidFill>
                  <a:schemeClr val="dk1"/>
                </a:solidFill>
              </a:rPr>
              <a:t>It is organised as </a:t>
            </a:r>
            <a:r>
              <a:rPr b="1" lang="en" sz="1200">
                <a:solidFill>
                  <a:schemeClr val="dk1"/>
                </a:solidFill>
              </a:rPr>
              <a:t>collections → documents → fields</a:t>
            </a:r>
            <a:r>
              <a:rPr lang="en" sz="1200">
                <a:solidFill>
                  <a:schemeClr val="dk1"/>
                </a:solidFill>
              </a:rPr>
              <a:t>.</a:t>
            </a:r>
            <a:endParaRPr sz="1500"/>
          </a:p>
        </p:txBody>
      </p:sp>
      <p:sp>
        <p:nvSpPr>
          <p:cNvPr id="158" name="Google Shape;158;p22"/>
          <p:cNvSpPr/>
          <p:nvPr/>
        </p:nvSpPr>
        <p:spPr>
          <a:xfrm>
            <a:off x="260925" y="504100"/>
            <a:ext cx="1168500" cy="5559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Backend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2" name="Shape 162"/>
        <p:cNvGrpSpPr/>
        <p:nvPr/>
      </p:nvGrpSpPr>
      <p:grpSpPr>
        <a:xfrm>
          <a:off x="0" y="0"/>
          <a:ext cx="0" cy="0"/>
          <a:chOff x="0" y="0"/>
          <a:chExt cx="0" cy="0"/>
        </a:xfrm>
      </p:grpSpPr>
      <p:grpSp>
        <p:nvGrpSpPr>
          <p:cNvPr id="163" name="Google Shape;163;p23"/>
          <p:cNvGrpSpPr/>
          <p:nvPr/>
        </p:nvGrpSpPr>
        <p:grpSpPr>
          <a:xfrm>
            <a:off x="381000" y="381000"/>
            <a:ext cx="4953000" cy="571500"/>
            <a:chOff x="0" y="0"/>
            <a:chExt cx="4953000" cy="571500"/>
          </a:xfrm>
        </p:grpSpPr>
        <p:sp>
          <p:nvSpPr>
            <p:cNvPr id="164" name="Google Shape;164;p23"/>
            <p:cNvSpPr/>
            <p:nvPr/>
          </p:nvSpPr>
          <p:spPr>
            <a:xfrm>
              <a:off x="0" y="0"/>
              <a:ext cx="4953000" cy="571500"/>
            </a:xfrm>
            <a:prstGeom prst="roundRect">
              <a:avLst>
                <a:gd fmla="val 13333" name="adj"/>
              </a:avLst>
            </a:prstGeom>
            <a:solidFill>
              <a:srgbClr val="60A5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23"/>
            <p:cNvSpPr txBox="1"/>
            <p:nvPr/>
          </p:nvSpPr>
          <p:spPr>
            <a:xfrm>
              <a:off x="0" y="0"/>
              <a:ext cx="4953000" cy="571500"/>
            </a:xfrm>
            <a:prstGeom prst="rect">
              <a:avLst/>
            </a:prstGeom>
            <a:solidFill>
              <a:srgbClr val="60A5FA"/>
            </a:solidFill>
            <a:ln>
              <a:noFill/>
            </a:ln>
          </p:spPr>
          <p:txBody>
            <a:bodyPr anchorCtr="0" anchor="ctr" bIns="0" lIns="190500" spcFirstLastPara="1" rIns="0" wrap="square" tIns="0">
              <a:noAutofit/>
            </a:bodyPr>
            <a:lstStyle/>
            <a:p>
              <a:pPr indent="-355600" lvl="0" marL="457200" rtl="0" algn="l">
                <a:spcBef>
                  <a:spcPts val="0"/>
                </a:spcBef>
                <a:spcAft>
                  <a:spcPts val="0"/>
                </a:spcAft>
                <a:buClr>
                  <a:schemeClr val="lt1"/>
                </a:buClr>
                <a:buSzPts val="2000"/>
                <a:buFont typeface="Arial"/>
                <a:buAutoNum type="arabicPeriod"/>
              </a:pPr>
              <a:r>
                <a:rPr b="1" lang="en" sz="2000">
                  <a:solidFill>
                    <a:schemeClr val="lt1"/>
                  </a:solidFill>
                  <a:latin typeface="Arial"/>
                  <a:ea typeface="Arial"/>
                  <a:cs typeface="Arial"/>
                  <a:sym typeface="Arial"/>
                </a:rPr>
                <a:t>Create the Google Cloud project</a:t>
              </a:r>
              <a:endParaRPr b="1" sz="2000">
                <a:solidFill>
                  <a:schemeClr val="lt1"/>
                </a:solidFill>
                <a:latin typeface="Arial"/>
                <a:ea typeface="Arial"/>
                <a:cs typeface="Arial"/>
                <a:sym typeface="Arial"/>
              </a:endParaRPr>
            </a:p>
          </p:txBody>
        </p:sp>
      </p:grpSp>
      <p:grpSp>
        <p:nvGrpSpPr>
          <p:cNvPr id="166" name="Google Shape;166;p23"/>
          <p:cNvGrpSpPr/>
          <p:nvPr/>
        </p:nvGrpSpPr>
        <p:grpSpPr>
          <a:xfrm>
            <a:off x="381000" y="1333500"/>
            <a:ext cx="1905000" cy="2286000"/>
            <a:chOff x="0" y="0"/>
            <a:chExt cx="1905000" cy="2286000"/>
          </a:xfrm>
        </p:grpSpPr>
        <p:sp>
          <p:nvSpPr>
            <p:cNvPr id="167" name="Google Shape;167;p23"/>
            <p:cNvSpPr/>
            <p:nvPr/>
          </p:nvSpPr>
          <p:spPr>
            <a:xfrm>
              <a:off x="0" y="0"/>
              <a:ext cx="1905000" cy="2286000"/>
            </a:xfrm>
            <a:prstGeom prst="roundRect">
              <a:avLst>
                <a:gd fmla="val 6000" name="adj"/>
              </a:avLst>
            </a:prstGeom>
            <a:solidFill>
              <a:srgbClr val="111111"/>
            </a:solidFill>
            <a:ln cap="flat" cmpd="sng" w="14300">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23"/>
            <p:cNvSpPr txBox="1"/>
            <p:nvPr/>
          </p:nvSpPr>
          <p:spPr>
            <a:xfrm>
              <a:off x="0" y="0"/>
              <a:ext cx="1905000" cy="22860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2800">
                  <a:solidFill>
                    <a:srgbClr val="FFAB40"/>
                  </a:solidFill>
                  <a:latin typeface="Arial"/>
                  <a:ea typeface="Arial"/>
                  <a:cs typeface="Arial"/>
                  <a:sym typeface="Arial"/>
                </a:rPr>
                <a:t>01</a:t>
              </a:r>
              <a:endParaRPr b="1" sz="2800">
                <a:solidFill>
                  <a:srgbClr val="FFAB40"/>
                </a:solidFill>
                <a:latin typeface="Arial"/>
                <a:ea typeface="Arial"/>
                <a:cs typeface="Arial"/>
                <a:sym typeface="Arial"/>
              </a:endParaRPr>
            </a:p>
            <a:p>
              <a:pPr indent="0" lvl="0" marL="0" rtl="0" algn="l">
                <a:spcBef>
                  <a:spcPts val="1125"/>
                </a:spcBef>
                <a:spcAft>
                  <a:spcPts val="0"/>
                </a:spcAft>
                <a:buNone/>
              </a:pPr>
              <a:r>
                <a:rPr b="0" lang="en" sz="2100">
                  <a:solidFill>
                    <a:srgbClr val="FFFFFF"/>
                  </a:solidFill>
                  <a:latin typeface="Arial"/>
                  <a:ea typeface="Arial"/>
                  <a:cs typeface="Arial"/>
                  <a:sym typeface="Arial"/>
                </a:rPr>
                <a:t>Go to the </a:t>
              </a:r>
              <a:r>
                <a:rPr b="0" lang="en" sz="2100" u="sng">
                  <a:solidFill>
                    <a:srgbClr val="FFAB40"/>
                  </a:solidFill>
                  <a:latin typeface="Arial"/>
                  <a:ea typeface="Arial"/>
                  <a:cs typeface="Arial"/>
                  <a:sym typeface="Arial"/>
                  <a:hlinkClick r:id="rId4">
                    <a:extLst>
                      <a:ext uri="{A12FA001-AC4F-418D-AE19-62706E023703}">
                        <ahyp:hlinkClr val="tx"/>
                      </a:ext>
                    </a:extLst>
                  </a:hlinkClick>
                </a:rPr>
                <a:t>Google Cloud Console</a:t>
              </a:r>
              <a:r>
                <a:rPr b="0" lang="en" sz="2100">
                  <a:solidFill>
                    <a:srgbClr val="FFFFFF"/>
                  </a:solidFill>
                  <a:latin typeface="Arial"/>
                  <a:ea typeface="Arial"/>
                  <a:cs typeface="Arial"/>
                  <a:sym typeface="Arial"/>
                </a:rPr>
                <a:t>.</a:t>
              </a:r>
              <a:endParaRPr b="0" sz="2100">
                <a:solidFill>
                  <a:srgbClr val="FFFFFF"/>
                </a:solidFill>
                <a:latin typeface="Arial"/>
                <a:ea typeface="Arial"/>
                <a:cs typeface="Arial"/>
                <a:sym typeface="Arial"/>
              </a:endParaRPr>
            </a:p>
          </p:txBody>
        </p:sp>
      </p:grpSp>
      <p:grpSp>
        <p:nvGrpSpPr>
          <p:cNvPr id="169" name="Google Shape;169;p23"/>
          <p:cNvGrpSpPr/>
          <p:nvPr/>
        </p:nvGrpSpPr>
        <p:grpSpPr>
          <a:xfrm>
            <a:off x="2514600" y="1333500"/>
            <a:ext cx="1905000" cy="2286000"/>
            <a:chOff x="0" y="0"/>
            <a:chExt cx="1905000" cy="2286000"/>
          </a:xfrm>
        </p:grpSpPr>
        <p:sp>
          <p:nvSpPr>
            <p:cNvPr id="170" name="Google Shape;170;p23"/>
            <p:cNvSpPr/>
            <p:nvPr/>
          </p:nvSpPr>
          <p:spPr>
            <a:xfrm>
              <a:off x="0" y="0"/>
              <a:ext cx="1905000" cy="2286000"/>
            </a:xfrm>
            <a:prstGeom prst="roundRect">
              <a:avLst>
                <a:gd fmla="val 6000" name="adj"/>
              </a:avLst>
            </a:prstGeom>
            <a:solidFill>
              <a:srgbClr val="111111"/>
            </a:solidFill>
            <a:ln cap="flat" cmpd="sng" w="14300">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23"/>
            <p:cNvSpPr txBox="1"/>
            <p:nvPr/>
          </p:nvSpPr>
          <p:spPr>
            <a:xfrm>
              <a:off x="0" y="0"/>
              <a:ext cx="1905000" cy="22860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2800">
                  <a:solidFill>
                    <a:srgbClr val="FFAB40"/>
                  </a:solidFill>
                  <a:latin typeface="Arial"/>
                  <a:ea typeface="Arial"/>
                  <a:cs typeface="Arial"/>
                  <a:sym typeface="Arial"/>
                </a:rPr>
                <a:t>02</a:t>
              </a:r>
              <a:endParaRPr b="1" sz="2800">
                <a:solidFill>
                  <a:srgbClr val="FFAB40"/>
                </a:solidFill>
                <a:latin typeface="Arial"/>
                <a:ea typeface="Arial"/>
                <a:cs typeface="Arial"/>
                <a:sym typeface="Arial"/>
              </a:endParaRPr>
            </a:p>
            <a:p>
              <a:pPr indent="0" lvl="0" marL="0" rtl="0" algn="l">
                <a:spcBef>
                  <a:spcPts val="1125"/>
                </a:spcBef>
                <a:spcAft>
                  <a:spcPts val="0"/>
                </a:spcAft>
                <a:buNone/>
              </a:pPr>
              <a:r>
                <a:rPr b="0" lang="en" sz="1800">
                  <a:solidFill>
                    <a:srgbClr val="FFFFFF"/>
                  </a:solidFill>
                  <a:latin typeface="Arial"/>
                  <a:ea typeface="Arial"/>
                  <a:cs typeface="Arial"/>
                  <a:sym typeface="Arial"/>
                </a:rPr>
                <a:t>At the top of the screen, click the </a:t>
              </a:r>
              <a:r>
                <a:rPr b="1" lang="en" sz="1800">
                  <a:solidFill>
                    <a:srgbClr val="FFAB40"/>
                  </a:solidFill>
                  <a:latin typeface="Arial"/>
                  <a:ea typeface="Arial"/>
                  <a:cs typeface="Arial"/>
                  <a:sym typeface="Arial"/>
                </a:rPr>
                <a:t>project selector</a:t>
              </a:r>
              <a:r>
                <a:rPr b="0" lang="en" sz="1800">
                  <a:solidFill>
                    <a:srgbClr val="FFFFFF"/>
                  </a:solidFill>
                  <a:latin typeface="Arial"/>
                  <a:ea typeface="Arial"/>
                  <a:cs typeface="Arial"/>
                  <a:sym typeface="Arial"/>
                </a:rPr>
                <a:t>.</a:t>
              </a:r>
              <a:endParaRPr b="0" sz="1800">
                <a:solidFill>
                  <a:srgbClr val="FFFFFF"/>
                </a:solidFill>
                <a:latin typeface="Arial"/>
                <a:ea typeface="Arial"/>
                <a:cs typeface="Arial"/>
                <a:sym typeface="Arial"/>
              </a:endParaRPr>
            </a:p>
          </p:txBody>
        </p:sp>
      </p:grpSp>
      <p:grpSp>
        <p:nvGrpSpPr>
          <p:cNvPr id="172" name="Google Shape;172;p23"/>
          <p:cNvGrpSpPr/>
          <p:nvPr/>
        </p:nvGrpSpPr>
        <p:grpSpPr>
          <a:xfrm>
            <a:off x="4648200" y="1333500"/>
            <a:ext cx="1905000" cy="2286000"/>
            <a:chOff x="0" y="0"/>
            <a:chExt cx="1905000" cy="2286000"/>
          </a:xfrm>
        </p:grpSpPr>
        <p:sp>
          <p:nvSpPr>
            <p:cNvPr id="173" name="Google Shape;173;p23"/>
            <p:cNvSpPr/>
            <p:nvPr/>
          </p:nvSpPr>
          <p:spPr>
            <a:xfrm>
              <a:off x="0" y="0"/>
              <a:ext cx="1905000" cy="2286000"/>
            </a:xfrm>
            <a:prstGeom prst="roundRect">
              <a:avLst>
                <a:gd fmla="val 6000" name="adj"/>
              </a:avLst>
            </a:prstGeom>
            <a:solidFill>
              <a:srgbClr val="111111"/>
            </a:solidFill>
            <a:ln cap="flat" cmpd="sng" w="14300">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23"/>
            <p:cNvSpPr txBox="1"/>
            <p:nvPr/>
          </p:nvSpPr>
          <p:spPr>
            <a:xfrm>
              <a:off x="0" y="0"/>
              <a:ext cx="1905000" cy="22860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2800">
                  <a:solidFill>
                    <a:srgbClr val="FFAB40"/>
                  </a:solidFill>
                  <a:latin typeface="Arial"/>
                  <a:ea typeface="Arial"/>
                  <a:cs typeface="Arial"/>
                  <a:sym typeface="Arial"/>
                </a:rPr>
                <a:t>03</a:t>
              </a:r>
              <a:endParaRPr b="1" sz="2800">
                <a:solidFill>
                  <a:srgbClr val="FFAB40"/>
                </a:solidFill>
                <a:latin typeface="Arial"/>
                <a:ea typeface="Arial"/>
                <a:cs typeface="Arial"/>
                <a:sym typeface="Arial"/>
              </a:endParaRPr>
            </a:p>
            <a:p>
              <a:pPr indent="0" lvl="0" marL="0" rtl="0" algn="l">
                <a:spcBef>
                  <a:spcPts val="1125"/>
                </a:spcBef>
                <a:spcAft>
                  <a:spcPts val="0"/>
                </a:spcAft>
                <a:buNone/>
              </a:pPr>
              <a:r>
                <a:rPr b="0" lang="en" sz="2000">
                  <a:solidFill>
                    <a:srgbClr val="FFFFFF"/>
                  </a:solidFill>
                  <a:latin typeface="Arial"/>
                  <a:ea typeface="Arial"/>
                  <a:cs typeface="Arial"/>
                  <a:sym typeface="Arial"/>
                </a:rPr>
                <a:t>Click:</a:t>
              </a:r>
              <a:br>
                <a:rPr b="0" lang="en" sz="2000">
                  <a:solidFill>
                    <a:srgbClr val="FFFFFF"/>
                  </a:solidFill>
                  <a:latin typeface="Arial"/>
                  <a:ea typeface="Arial"/>
                  <a:cs typeface="Arial"/>
                  <a:sym typeface="Arial"/>
                </a:rPr>
              </a:br>
              <a:r>
                <a:rPr b="1" lang="en" sz="2200">
                  <a:solidFill>
                    <a:srgbClr val="FFAB40"/>
                  </a:solidFill>
                  <a:latin typeface="Arial"/>
                  <a:ea typeface="Arial"/>
                  <a:cs typeface="Arial"/>
                  <a:sym typeface="Arial"/>
                </a:rPr>
                <a:t>New Project</a:t>
              </a:r>
              <a:endParaRPr b="0" sz="2000">
                <a:solidFill>
                  <a:srgbClr val="FFFFFF"/>
                </a:solidFill>
                <a:latin typeface="Arial"/>
                <a:ea typeface="Arial"/>
                <a:cs typeface="Arial"/>
                <a:sym typeface="Arial"/>
              </a:endParaRPr>
            </a:p>
          </p:txBody>
        </p:sp>
      </p:grpSp>
      <p:grpSp>
        <p:nvGrpSpPr>
          <p:cNvPr id="175" name="Google Shape;175;p23"/>
          <p:cNvGrpSpPr/>
          <p:nvPr/>
        </p:nvGrpSpPr>
        <p:grpSpPr>
          <a:xfrm>
            <a:off x="6781800" y="1333500"/>
            <a:ext cx="1905000" cy="2286000"/>
            <a:chOff x="0" y="0"/>
            <a:chExt cx="1905000" cy="2286000"/>
          </a:xfrm>
        </p:grpSpPr>
        <p:sp>
          <p:nvSpPr>
            <p:cNvPr id="176" name="Google Shape;176;p23"/>
            <p:cNvSpPr/>
            <p:nvPr/>
          </p:nvSpPr>
          <p:spPr>
            <a:xfrm>
              <a:off x="0" y="0"/>
              <a:ext cx="1905000" cy="2286000"/>
            </a:xfrm>
            <a:prstGeom prst="roundRect">
              <a:avLst>
                <a:gd fmla="val 6000" name="adj"/>
              </a:avLst>
            </a:prstGeom>
            <a:solidFill>
              <a:srgbClr val="111111"/>
            </a:solidFill>
            <a:ln cap="flat" cmpd="sng" w="14300">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23"/>
            <p:cNvSpPr txBox="1"/>
            <p:nvPr/>
          </p:nvSpPr>
          <p:spPr>
            <a:xfrm>
              <a:off x="0" y="0"/>
              <a:ext cx="1905000" cy="22860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2590">
                  <a:solidFill>
                    <a:srgbClr val="FFAB40"/>
                  </a:solidFill>
                  <a:latin typeface="Arial"/>
                  <a:ea typeface="Arial"/>
                  <a:cs typeface="Arial"/>
                  <a:sym typeface="Arial"/>
                </a:rPr>
                <a:t>04</a:t>
              </a:r>
              <a:endParaRPr b="1" sz="2590">
                <a:solidFill>
                  <a:srgbClr val="FFAB40"/>
                </a:solidFill>
                <a:latin typeface="Arial"/>
                <a:ea typeface="Arial"/>
                <a:cs typeface="Arial"/>
                <a:sym typeface="Arial"/>
              </a:endParaRPr>
            </a:p>
            <a:p>
              <a:pPr indent="0" lvl="0" marL="0" rtl="0" algn="l">
                <a:spcBef>
                  <a:spcPts val="1125"/>
                </a:spcBef>
                <a:spcAft>
                  <a:spcPts val="0"/>
                </a:spcAft>
                <a:buNone/>
              </a:pPr>
              <a:r>
                <a:rPr b="0" lang="en" sz="1910">
                  <a:solidFill>
                    <a:srgbClr val="FFFFFF"/>
                  </a:solidFill>
                  <a:latin typeface="Arial"/>
                  <a:ea typeface="Arial"/>
                  <a:cs typeface="Arial"/>
                  <a:sym typeface="Arial"/>
                </a:rPr>
                <a:t>Give it a name such as:</a:t>
              </a:r>
              <a:br>
                <a:rPr b="0" lang="en" sz="1910">
                  <a:solidFill>
                    <a:srgbClr val="FFFFFF"/>
                  </a:solidFill>
                  <a:latin typeface="Arial"/>
                  <a:ea typeface="Arial"/>
                  <a:cs typeface="Arial"/>
                  <a:sym typeface="Arial"/>
                </a:rPr>
              </a:br>
              <a:r>
                <a:rPr b="1" lang="en" sz="1910">
                  <a:solidFill>
                    <a:srgbClr val="FFAB40"/>
                  </a:solidFill>
                  <a:highlight>
                    <a:srgbClr val="222222"/>
                  </a:highlight>
                  <a:latin typeface="Courier New"/>
                  <a:ea typeface="Courier New"/>
                  <a:cs typeface="Courier New"/>
                  <a:sym typeface="Courier New"/>
                </a:rPr>
                <a:t>community-feedback</a:t>
              </a:r>
              <a:endParaRPr b="0" sz="1910">
                <a:solidFill>
                  <a:srgbClr val="FFFFFF"/>
                </a:solidFill>
                <a:latin typeface="Arial"/>
                <a:ea typeface="Arial"/>
                <a:cs typeface="Arial"/>
                <a:sym typeface="Arial"/>
              </a:endParaRPr>
            </a:p>
          </p:txBody>
        </p:sp>
      </p:grpSp>
      <p:grpSp>
        <p:nvGrpSpPr>
          <p:cNvPr id="178" name="Google Shape;178;p23"/>
          <p:cNvGrpSpPr/>
          <p:nvPr/>
        </p:nvGrpSpPr>
        <p:grpSpPr>
          <a:xfrm>
            <a:off x="381000" y="3905250"/>
            <a:ext cx="8305800" cy="666900"/>
            <a:chOff x="0" y="0"/>
            <a:chExt cx="8305800" cy="666900"/>
          </a:xfrm>
        </p:grpSpPr>
        <p:sp>
          <p:nvSpPr>
            <p:cNvPr id="179" name="Google Shape;179;p23"/>
            <p:cNvSpPr/>
            <p:nvPr/>
          </p:nvSpPr>
          <p:spPr>
            <a:xfrm>
              <a:off x="0" y="0"/>
              <a:ext cx="8305800" cy="666900"/>
            </a:xfrm>
            <a:prstGeom prst="roundRect">
              <a:avLst>
                <a:gd fmla="val 17142" name="adj"/>
              </a:avLst>
            </a:prstGeom>
            <a:solidFill>
              <a:srgbClr val="FFAB40">
                <a:alpha val="10000"/>
              </a:srgbClr>
            </a:solidFill>
            <a:ln cap="flat" cmpd="sng" w="14300">
              <a:solidFill>
                <a:srgbClr val="FFAB4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 name="Google Shape;180;p23"/>
            <p:cNvSpPr txBox="1"/>
            <p:nvPr/>
          </p:nvSpPr>
          <p:spPr>
            <a:xfrm>
              <a:off x="0" y="0"/>
              <a:ext cx="8305800" cy="666900"/>
            </a:xfrm>
            <a:prstGeom prst="rect">
              <a:avLst/>
            </a:prstGeom>
            <a:noFill/>
            <a:ln>
              <a:noFill/>
            </a:ln>
          </p:spPr>
          <p:txBody>
            <a:bodyPr anchorCtr="0" anchor="t" bIns="0" lIns="190500" spcFirstLastPara="1" rIns="190500" wrap="square" tIns="0">
              <a:noAutofit/>
            </a:bodyPr>
            <a:lstStyle/>
            <a:p>
              <a:pPr indent="0" lvl="0" marL="0" rtl="0" algn="ctr">
                <a:spcBef>
                  <a:spcPts val="0"/>
                </a:spcBef>
                <a:spcAft>
                  <a:spcPts val="0"/>
                </a:spcAft>
                <a:buNone/>
              </a:pPr>
              <a:r>
                <a:rPr b="1" lang="en" sz="2300">
                  <a:solidFill>
                    <a:srgbClr val="000000"/>
                  </a:solidFill>
                  <a:highlight>
                    <a:srgbClr val="FFAB40"/>
                  </a:highlight>
                  <a:latin typeface="Arial"/>
                  <a:ea typeface="Arial"/>
                  <a:cs typeface="Arial"/>
                  <a:sym typeface="Arial"/>
                </a:rPr>
                <a:t>NOTE</a:t>
              </a:r>
              <a:r>
                <a:rPr lang="en" sz="2500">
                  <a:solidFill>
                    <a:srgbClr val="FFFFFF"/>
                  </a:solidFill>
                  <a:latin typeface="Arial"/>
                  <a:ea typeface="Arial"/>
                  <a:cs typeface="Arial"/>
                  <a:sym typeface="Arial"/>
                </a:rPr>
                <a:t>Google will create a unique </a:t>
              </a:r>
              <a:r>
                <a:rPr b="1" lang="en" sz="2500">
                  <a:solidFill>
                    <a:srgbClr val="FFAB40"/>
                  </a:solidFill>
                  <a:latin typeface="Arial"/>
                  <a:ea typeface="Arial"/>
                  <a:cs typeface="Arial"/>
                  <a:sym typeface="Arial"/>
                </a:rPr>
                <a:t>Project ID</a:t>
              </a:r>
              <a:r>
                <a:rPr lang="en" sz="2500">
                  <a:solidFill>
                    <a:srgbClr val="FFFFFF"/>
                  </a:solidFill>
                  <a:latin typeface="Arial"/>
                  <a:ea typeface="Arial"/>
                  <a:cs typeface="Arial"/>
                  <a:sym typeface="Arial"/>
                </a:rPr>
                <a:t>.</a:t>
              </a:r>
              <a:endParaRPr sz="2700">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4"/>
          <p:cNvSpPr txBox="1"/>
          <p:nvPr>
            <p:ph type="title"/>
          </p:nvPr>
        </p:nvSpPr>
        <p:spPr>
          <a:xfrm>
            <a:off x="155850" y="88550"/>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42672"/>
              <a:buNone/>
            </a:pPr>
            <a:r>
              <a:rPr lang="en" sz="2320"/>
              <a:t>Search</a:t>
            </a:r>
            <a:r>
              <a:rPr lang="en" sz="2320">
                <a:highlight>
                  <a:srgbClr val="FFD966"/>
                </a:highlight>
              </a:rPr>
              <a:t> “Billing Account Manager”</a:t>
            </a:r>
            <a:r>
              <a:rPr lang="en" sz="2320"/>
              <a:t> and click </a:t>
            </a:r>
            <a:r>
              <a:rPr lang="en" sz="2320">
                <a:highlight>
                  <a:srgbClr val="FFE599"/>
                </a:highlight>
              </a:rPr>
              <a:t>t</a:t>
            </a:r>
            <a:r>
              <a:rPr lang="en" sz="2320">
                <a:highlight>
                  <a:srgbClr val="FFD966"/>
                </a:highlight>
              </a:rPr>
              <a:t>hree dots</a:t>
            </a:r>
            <a:r>
              <a:rPr lang="en" sz="2320"/>
              <a:t> to </a:t>
            </a:r>
            <a:r>
              <a:rPr lang="en" sz="2320">
                <a:highlight>
                  <a:srgbClr val="FFD966"/>
                </a:highlight>
              </a:rPr>
              <a:t>enable billing</a:t>
            </a:r>
            <a:endParaRPr sz="2320">
              <a:highlight>
                <a:srgbClr val="FFD966"/>
              </a:highlight>
            </a:endParaRPr>
          </a:p>
        </p:txBody>
      </p:sp>
      <p:sp>
        <p:nvSpPr>
          <p:cNvPr id="186" name="Google Shape;186;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7" name="Google Shape;187;p24"/>
          <p:cNvPicPr preferRelativeResize="0"/>
          <p:nvPr/>
        </p:nvPicPr>
        <p:blipFill>
          <a:blip r:embed="rId3">
            <a:alphaModFix/>
          </a:blip>
          <a:stretch>
            <a:fillRect/>
          </a:stretch>
        </p:blipFill>
        <p:spPr>
          <a:xfrm>
            <a:off x="155850" y="740375"/>
            <a:ext cx="8832302" cy="4240601"/>
          </a:xfrm>
          <a:prstGeom prst="rect">
            <a:avLst/>
          </a:prstGeom>
          <a:noFill/>
          <a:ln>
            <a:noFill/>
          </a:ln>
        </p:spPr>
      </p:pic>
      <p:sp>
        <p:nvSpPr>
          <p:cNvPr id="188" name="Google Shape;188;p24"/>
          <p:cNvSpPr/>
          <p:nvPr/>
        </p:nvSpPr>
        <p:spPr>
          <a:xfrm>
            <a:off x="3324082" y="2886833"/>
            <a:ext cx="1168400" cy="882675"/>
          </a:xfrm>
          <a:custGeom>
            <a:rect b="b" l="l" r="r" t="t"/>
            <a:pathLst>
              <a:path extrusionOk="0" h="35307" w="46736">
                <a:moveTo>
                  <a:pt x="19709" y="31484"/>
                </a:moveTo>
                <a:cubicBezTo>
                  <a:pt x="14906" y="34687"/>
                  <a:pt x="6646" y="33117"/>
                  <a:pt x="2564" y="29035"/>
                </a:cubicBezTo>
                <a:cubicBezTo>
                  <a:pt x="-2946" y="23525"/>
                  <a:pt x="1953" y="11685"/>
                  <a:pt x="7463" y="6175"/>
                </a:cubicBezTo>
                <a:cubicBezTo>
                  <a:pt x="13505" y="133"/>
                  <a:pt x="25129" y="-1729"/>
                  <a:pt x="32772" y="2093"/>
                </a:cubicBezTo>
                <a:cubicBezTo>
                  <a:pt x="37260" y="4337"/>
                  <a:pt x="40654" y="8342"/>
                  <a:pt x="44202" y="11890"/>
                </a:cubicBezTo>
                <a:cubicBezTo>
                  <a:pt x="46903" y="14591"/>
                  <a:pt x="47717" y="20617"/>
                  <a:pt x="45018" y="23320"/>
                </a:cubicBezTo>
                <a:cubicBezTo>
                  <a:pt x="41016" y="27327"/>
                  <a:pt x="35143" y="29113"/>
                  <a:pt x="31139" y="33117"/>
                </a:cubicBezTo>
                <a:cubicBezTo>
                  <a:pt x="26901" y="37355"/>
                  <a:pt x="19171" y="33933"/>
                  <a:pt x="13178" y="33933"/>
                </a:cubicBezTo>
              </a:path>
            </a:pathLst>
          </a:custGeom>
          <a:noFill/>
          <a:ln cap="flat" cmpd="sng" w="76200">
            <a:solidFill>
              <a:schemeClr val="accent4"/>
            </a:solidFill>
            <a:prstDash val="solid"/>
            <a:round/>
            <a:headEnd len="med" w="med" type="none"/>
            <a:tailEnd len="med" w="med" type="none"/>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2" name="Shape 192"/>
        <p:cNvGrpSpPr/>
        <p:nvPr/>
      </p:nvGrpSpPr>
      <p:grpSpPr>
        <a:xfrm>
          <a:off x="0" y="0"/>
          <a:ext cx="0" cy="0"/>
          <a:chOff x="0" y="0"/>
          <a:chExt cx="0" cy="0"/>
        </a:xfrm>
      </p:grpSpPr>
      <p:sp>
        <p:nvSpPr>
          <p:cNvPr id="193" name="Google Shape;19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4" name="Google Shape;194;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5" name="Google Shape;195;p25"/>
          <p:cNvPicPr preferRelativeResize="0"/>
          <p:nvPr/>
        </p:nvPicPr>
        <p:blipFill>
          <a:blip r:embed="rId3">
            <a:alphaModFix/>
          </a:blip>
          <a:stretch>
            <a:fillRect/>
          </a:stretch>
        </p:blipFill>
        <p:spPr>
          <a:xfrm>
            <a:off x="142332" y="0"/>
            <a:ext cx="8859335" cy="5143499"/>
          </a:xfrm>
          <a:prstGeom prst="rect">
            <a:avLst/>
          </a:prstGeom>
          <a:noFill/>
          <a:ln>
            <a:noFill/>
          </a:ln>
        </p:spPr>
      </p:pic>
      <p:sp>
        <p:nvSpPr>
          <p:cNvPr id="196" name="Google Shape;196;p25"/>
          <p:cNvSpPr/>
          <p:nvPr/>
        </p:nvSpPr>
        <p:spPr>
          <a:xfrm>
            <a:off x="1497500" y="544550"/>
            <a:ext cx="2087400" cy="1270800"/>
          </a:xfrm>
          <a:prstGeom prst="upArrow">
            <a:avLst>
              <a:gd fmla="val 50000" name="adj1"/>
              <a:gd fmla="val 50000" name="adj2"/>
            </a:avLst>
          </a:prstGeom>
          <a:solidFill>
            <a:srgbClr val="FBB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Click here</a:t>
            </a:r>
            <a:endParaRPr b="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0" name="Shape 200"/>
        <p:cNvGrpSpPr/>
        <p:nvPr/>
      </p:nvGrpSpPr>
      <p:grpSpPr>
        <a:xfrm>
          <a:off x="0" y="0"/>
          <a:ext cx="0" cy="0"/>
          <a:chOff x="0" y="0"/>
          <a:chExt cx="0" cy="0"/>
        </a:xfrm>
      </p:grpSpPr>
      <p:pic>
        <p:nvPicPr>
          <p:cNvPr id="201" name="Google Shape;201;p26"/>
          <p:cNvPicPr preferRelativeResize="0"/>
          <p:nvPr/>
        </p:nvPicPr>
        <p:blipFill rotWithShape="1">
          <a:blip r:embed="rId3">
            <a:alphaModFix/>
          </a:blip>
          <a:srcRect b="0" l="1787" r="0" t="2477"/>
          <a:stretch/>
        </p:blipFill>
        <p:spPr>
          <a:xfrm>
            <a:off x="907575" y="558025"/>
            <a:ext cx="7199623" cy="4027450"/>
          </a:xfrm>
          <a:prstGeom prst="rect">
            <a:avLst/>
          </a:prstGeom>
          <a:noFill/>
          <a:ln>
            <a:noFill/>
          </a:ln>
        </p:spPr>
      </p:pic>
      <p:sp>
        <p:nvSpPr>
          <p:cNvPr id="202" name="Google Shape;202;p26"/>
          <p:cNvSpPr/>
          <p:nvPr/>
        </p:nvSpPr>
        <p:spPr>
          <a:xfrm>
            <a:off x="6761575" y="782800"/>
            <a:ext cx="1588200" cy="2983800"/>
          </a:xfrm>
          <a:prstGeom prst="upArrow">
            <a:avLst>
              <a:gd fmla="val 50000" name="adj1"/>
              <a:gd fmla="val 50000" name="adj2"/>
            </a:avLst>
          </a:prstGeom>
          <a:solidFill>
            <a:srgbClr val="FBB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Click here</a:t>
            </a:r>
            <a:endParaRPr b="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6" name="Shape 206"/>
        <p:cNvGrpSpPr/>
        <p:nvPr/>
      </p:nvGrpSpPr>
      <p:grpSpPr>
        <a:xfrm>
          <a:off x="0" y="0"/>
          <a:ext cx="0" cy="0"/>
          <a:chOff x="0" y="0"/>
          <a:chExt cx="0" cy="0"/>
        </a:xfrm>
      </p:grpSpPr>
      <p:pic>
        <p:nvPicPr>
          <p:cNvPr id="207" name="Google Shape;207;p27"/>
          <p:cNvPicPr preferRelativeResize="0"/>
          <p:nvPr/>
        </p:nvPicPr>
        <p:blipFill>
          <a:blip r:embed="rId3">
            <a:alphaModFix/>
          </a:blip>
          <a:stretch>
            <a:fillRect/>
          </a:stretch>
        </p:blipFill>
        <p:spPr>
          <a:xfrm>
            <a:off x="1196150" y="152400"/>
            <a:ext cx="6960730" cy="4838699"/>
          </a:xfrm>
          <a:prstGeom prst="rect">
            <a:avLst/>
          </a:prstGeom>
          <a:noFill/>
          <a:ln>
            <a:noFill/>
          </a:ln>
        </p:spPr>
      </p:pic>
      <p:sp>
        <p:nvSpPr>
          <p:cNvPr id="208" name="Google Shape;208;p27"/>
          <p:cNvSpPr/>
          <p:nvPr/>
        </p:nvSpPr>
        <p:spPr>
          <a:xfrm>
            <a:off x="2348375" y="3811900"/>
            <a:ext cx="2223600" cy="1179300"/>
          </a:xfrm>
          <a:prstGeom prst="leftArrow">
            <a:avLst>
              <a:gd fmla="val 50000" name="adj1"/>
              <a:gd fmla="val 50000" name="adj2"/>
            </a:avLst>
          </a:prstGeom>
          <a:solidFill>
            <a:srgbClr val="FBB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t>Click here</a:t>
            </a:r>
            <a:endParaRPr b="1" sz="1600"/>
          </a:p>
        </p:txBody>
      </p:sp>
      <p:sp>
        <p:nvSpPr>
          <p:cNvPr id="209" name="Google Shape;209;p27"/>
          <p:cNvSpPr/>
          <p:nvPr/>
        </p:nvSpPr>
        <p:spPr>
          <a:xfrm>
            <a:off x="3914000" y="2044200"/>
            <a:ext cx="2643300" cy="1055100"/>
          </a:xfrm>
          <a:prstGeom prst="leftArrow">
            <a:avLst>
              <a:gd fmla="val 50000" name="adj1"/>
              <a:gd fmla="val 50000" name="adj2"/>
            </a:avLst>
          </a:prstGeom>
          <a:solidFill>
            <a:srgbClr val="FBB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t>Name your project</a:t>
            </a:r>
            <a:endParaRPr b="1"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13" name="Shape 213"/>
        <p:cNvGrpSpPr/>
        <p:nvPr/>
      </p:nvGrpSpPr>
      <p:grpSpPr>
        <a:xfrm>
          <a:off x="0" y="0"/>
          <a:ext cx="0" cy="0"/>
          <a:chOff x="0" y="0"/>
          <a:chExt cx="0" cy="0"/>
        </a:xfrm>
      </p:grpSpPr>
      <p:pic>
        <p:nvPicPr>
          <p:cNvPr id="214" name="Google Shape;214;p28"/>
          <p:cNvPicPr preferRelativeResize="0"/>
          <p:nvPr/>
        </p:nvPicPr>
        <p:blipFill>
          <a:blip r:embed="rId3">
            <a:alphaModFix/>
          </a:blip>
          <a:stretch>
            <a:fillRect/>
          </a:stretch>
        </p:blipFill>
        <p:spPr>
          <a:xfrm>
            <a:off x="909773" y="68050"/>
            <a:ext cx="5032755" cy="5143500"/>
          </a:xfrm>
          <a:prstGeom prst="rect">
            <a:avLst/>
          </a:prstGeom>
          <a:noFill/>
          <a:ln>
            <a:noFill/>
          </a:ln>
        </p:spPr>
      </p:pic>
      <p:sp>
        <p:nvSpPr>
          <p:cNvPr id="215" name="Google Shape;215;p28"/>
          <p:cNvSpPr/>
          <p:nvPr/>
        </p:nvSpPr>
        <p:spPr>
          <a:xfrm>
            <a:off x="6182975" y="340350"/>
            <a:ext cx="2881500" cy="1588500"/>
          </a:xfrm>
          <a:prstGeom prst="leftArrow">
            <a:avLst>
              <a:gd fmla="val 50000" name="adj1"/>
              <a:gd fmla="val 50000" name="adj2"/>
            </a:avLst>
          </a:prstGeom>
          <a:solidFill>
            <a:srgbClr val="FBB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You can see a new notification.</a:t>
            </a:r>
            <a:endParaRPr b="1" sz="1800"/>
          </a:p>
        </p:txBody>
      </p:sp>
      <p:sp>
        <p:nvSpPr>
          <p:cNvPr id="216" name="Google Shape;216;p28"/>
          <p:cNvSpPr/>
          <p:nvPr/>
        </p:nvSpPr>
        <p:spPr>
          <a:xfrm>
            <a:off x="6727525" y="2654700"/>
            <a:ext cx="1860600" cy="1293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t>Close the notifications by clicking the section</a:t>
            </a:r>
            <a:r>
              <a:rPr lang="en"/>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0" name="Shape 220"/>
        <p:cNvGrpSpPr/>
        <p:nvPr/>
      </p:nvGrpSpPr>
      <p:grpSpPr>
        <a:xfrm>
          <a:off x="0" y="0"/>
          <a:ext cx="0" cy="0"/>
          <a:chOff x="0" y="0"/>
          <a:chExt cx="0" cy="0"/>
        </a:xfrm>
      </p:grpSpPr>
      <p:pic>
        <p:nvPicPr>
          <p:cNvPr id="221" name="Google Shape;221;p29"/>
          <p:cNvPicPr preferRelativeResize="0"/>
          <p:nvPr/>
        </p:nvPicPr>
        <p:blipFill>
          <a:blip r:embed="rId3">
            <a:alphaModFix/>
          </a:blip>
          <a:stretch>
            <a:fillRect/>
          </a:stretch>
        </p:blipFill>
        <p:spPr>
          <a:xfrm>
            <a:off x="878475" y="152400"/>
            <a:ext cx="4734519" cy="4838701"/>
          </a:xfrm>
          <a:prstGeom prst="rect">
            <a:avLst/>
          </a:prstGeom>
          <a:noFill/>
          <a:ln>
            <a:noFill/>
          </a:ln>
        </p:spPr>
      </p:pic>
      <p:sp>
        <p:nvSpPr>
          <p:cNvPr id="222" name="Google Shape;222;p29"/>
          <p:cNvSpPr/>
          <p:nvPr/>
        </p:nvSpPr>
        <p:spPr>
          <a:xfrm rot="1997536">
            <a:off x="3940492" y="605178"/>
            <a:ext cx="3643220" cy="2144494"/>
          </a:xfrm>
          <a:prstGeom prst="leftArrow">
            <a:avLst>
              <a:gd fmla="val 50000" name="adj1"/>
              <a:gd fmla="val 50000" name="adj2"/>
            </a:avLst>
          </a:prstGeom>
          <a:solidFill>
            <a:srgbClr val="FBB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t>Open Cloud Shell</a:t>
            </a:r>
            <a:endParaRPr b="1"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6" name="Shape 226"/>
        <p:cNvGrpSpPr/>
        <p:nvPr/>
      </p:nvGrpSpPr>
      <p:grpSpPr>
        <a:xfrm>
          <a:off x="0" y="0"/>
          <a:ext cx="0" cy="0"/>
          <a:chOff x="0" y="0"/>
          <a:chExt cx="0" cy="0"/>
        </a:xfrm>
      </p:grpSpPr>
      <p:sp>
        <p:nvSpPr>
          <p:cNvPr id="227" name="Google Shape;22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8" name="Google Shape;228;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9" name="Google Shape;229;p30"/>
          <p:cNvPicPr preferRelativeResize="0"/>
          <p:nvPr/>
        </p:nvPicPr>
        <p:blipFill>
          <a:blip r:embed="rId3">
            <a:alphaModFix/>
          </a:blip>
          <a:stretch>
            <a:fillRect/>
          </a:stretch>
        </p:blipFill>
        <p:spPr>
          <a:xfrm>
            <a:off x="0" y="445017"/>
            <a:ext cx="9144001" cy="3725967"/>
          </a:xfrm>
          <a:prstGeom prst="rect">
            <a:avLst/>
          </a:prstGeom>
          <a:noFill/>
          <a:ln>
            <a:noFill/>
          </a:ln>
        </p:spPr>
      </p:pic>
      <p:sp>
        <p:nvSpPr>
          <p:cNvPr id="230" name="Google Shape;230;p30"/>
          <p:cNvSpPr/>
          <p:nvPr/>
        </p:nvSpPr>
        <p:spPr>
          <a:xfrm>
            <a:off x="6483300" y="635325"/>
            <a:ext cx="2660700" cy="2405100"/>
          </a:xfrm>
          <a:prstGeom prst="downArrow">
            <a:avLst>
              <a:gd fmla="val 50000" name="adj1"/>
              <a:gd fmla="val 50000" name="adj2"/>
            </a:avLst>
          </a:prstGeom>
          <a:solidFill>
            <a:srgbClr val="FBB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Click here</a:t>
            </a:r>
            <a:endParaRPr b="1" sz="1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34" name="Shape 234"/>
        <p:cNvGrpSpPr/>
        <p:nvPr/>
      </p:nvGrpSpPr>
      <p:grpSpPr>
        <a:xfrm>
          <a:off x="0" y="0"/>
          <a:ext cx="0" cy="0"/>
          <a:chOff x="0" y="0"/>
          <a:chExt cx="0" cy="0"/>
        </a:xfrm>
      </p:grpSpPr>
      <p:sp>
        <p:nvSpPr>
          <p:cNvPr id="235" name="Google Shape;23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Make sure you are in the correct project.</a:t>
            </a:r>
            <a:endParaRPr>
              <a:solidFill>
                <a:schemeClr val="lt1"/>
              </a:solidFill>
            </a:endParaRPr>
          </a:p>
        </p:txBody>
      </p:sp>
      <p:pic>
        <p:nvPicPr>
          <p:cNvPr id="236" name="Google Shape;236;p31"/>
          <p:cNvPicPr preferRelativeResize="0"/>
          <p:nvPr/>
        </p:nvPicPr>
        <p:blipFill>
          <a:blip r:embed="rId3">
            <a:alphaModFix/>
          </a:blip>
          <a:stretch>
            <a:fillRect/>
          </a:stretch>
        </p:blipFill>
        <p:spPr>
          <a:xfrm>
            <a:off x="68075" y="1645250"/>
            <a:ext cx="9007852" cy="1853000"/>
          </a:xfrm>
          <a:prstGeom prst="rect">
            <a:avLst/>
          </a:prstGeom>
          <a:noFill/>
          <a:ln>
            <a:noFill/>
          </a:ln>
        </p:spPr>
      </p:pic>
      <p:sp>
        <p:nvSpPr>
          <p:cNvPr id="237" name="Google Shape;237;p31"/>
          <p:cNvSpPr/>
          <p:nvPr/>
        </p:nvSpPr>
        <p:spPr>
          <a:xfrm>
            <a:off x="2802200" y="3142550"/>
            <a:ext cx="3085800" cy="56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p31"/>
          <p:cNvSpPr/>
          <p:nvPr/>
        </p:nvSpPr>
        <p:spPr>
          <a:xfrm>
            <a:off x="4106850" y="3199250"/>
            <a:ext cx="828300" cy="12480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2" name="Shape 242"/>
        <p:cNvGrpSpPr/>
        <p:nvPr/>
      </p:nvGrpSpPr>
      <p:grpSpPr>
        <a:xfrm>
          <a:off x="0" y="0"/>
          <a:ext cx="0" cy="0"/>
          <a:chOff x="0" y="0"/>
          <a:chExt cx="0" cy="0"/>
        </a:xfrm>
      </p:grpSpPr>
      <p:sp>
        <p:nvSpPr>
          <p:cNvPr id="243" name="Google Shape;243;p32"/>
          <p:cNvSpPr txBox="1"/>
          <p:nvPr/>
        </p:nvSpPr>
        <p:spPr>
          <a:xfrm>
            <a:off x="578350" y="440000"/>
            <a:ext cx="5808900" cy="501600"/>
          </a:xfrm>
          <a:prstGeom prst="rect">
            <a:avLst/>
          </a:prstGeom>
          <a:solidFill>
            <a:srgbClr val="60A5FA"/>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2800">
                <a:solidFill>
                  <a:srgbClr val="FFFFFF"/>
                </a:solidFill>
                <a:latin typeface="Inter"/>
                <a:ea typeface="Inter"/>
                <a:cs typeface="Inter"/>
                <a:sym typeface="Inter"/>
              </a:rPr>
              <a:t> 2. </a:t>
            </a:r>
            <a:r>
              <a:rPr b="1" lang="en" sz="2800">
                <a:solidFill>
                  <a:srgbClr val="FFFFFF"/>
                </a:solidFill>
                <a:latin typeface="Inter"/>
                <a:ea typeface="Inter"/>
                <a:cs typeface="Inter"/>
                <a:sym typeface="Inter"/>
              </a:rPr>
              <a:t>Enable the required services</a:t>
            </a:r>
            <a:endParaRPr b="1" sz="2800">
              <a:solidFill>
                <a:srgbClr val="FFFFFF"/>
              </a:solidFill>
              <a:latin typeface="Inter"/>
              <a:ea typeface="Inter"/>
              <a:cs typeface="Inter"/>
              <a:sym typeface="Inter"/>
            </a:endParaRPr>
          </a:p>
          <a:p>
            <a:pPr indent="0" lvl="0" marL="0" rtl="0" algn="l">
              <a:spcBef>
                <a:spcPts val="900"/>
              </a:spcBef>
              <a:spcAft>
                <a:spcPts val="0"/>
              </a:spcAft>
              <a:buClr>
                <a:schemeClr val="dk1"/>
              </a:buClr>
              <a:buSzPts val="1100"/>
              <a:buFont typeface="Arial"/>
              <a:buNone/>
            </a:pPr>
            <a:r>
              <a:t/>
            </a:r>
            <a:endParaRPr b="1" sz="2200">
              <a:solidFill>
                <a:srgbClr val="FBBF24"/>
              </a:solidFill>
              <a:latin typeface="Inter"/>
              <a:ea typeface="Inter"/>
              <a:cs typeface="Inter"/>
              <a:sym typeface="Inter"/>
            </a:endParaRPr>
          </a:p>
          <a:p>
            <a:pPr indent="0" lvl="0" marL="0" rtl="0" algn="l">
              <a:spcBef>
                <a:spcPts val="0"/>
              </a:spcBef>
              <a:spcAft>
                <a:spcPts val="0"/>
              </a:spcAft>
              <a:buNone/>
            </a:pPr>
            <a:r>
              <a:t/>
            </a:r>
            <a:endParaRPr b="1" sz="2200">
              <a:solidFill>
                <a:srgbClr val="FBBF24"/>
              </a:solidFill>
              <a:latin typeface="Inter"/>
              <a:ea typeface="Inter"/>
              <a:cs typeface="Inter"/>
              <a:sym typeface="Inter"/>
            </a:endParaRPr>
          </a:p>
        </p:txBody>
      </p:sp>
      <p:grpSp>
        <p:nvGrpSpPr>
          <p:cNvPr id="244" name="Google Shape;244;p32"/>
          <p:cNvGrpSpPr/>
          <p:nvPr/>
        </p:nvGrpSpPr>
        <p:grpSpPr>
          <a:xfrm>
            <a:off x="476250" y="1714500"/>
            <a:ext cx="2533800" cy="2667000"/>
            <a:chOff x="0" y="0"/>
            <a:chExt cx="2533800" cy="2667000"/>
          </a:xfrm>
        </p:grpSpPr>
        <p:sp>
          <p:nvSpPr>
            <p:cNvPr id="245" name="Google Shape;245;p32"/>
            <p:cNvSpPr/>
            <p:nvPr/>
          </p:nvSpPr>
          <p:spPr>
            <a:xfrm>
              <a:off x="0" y="0"/>
              <a:ext cx="2533800" cy="2667000"/>
            </a:xfrm>
            <a:prstGeom prst="roundRect">
              <a:avLst>
                <a:gd fmla="val 4511"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32"/>
            <p:cNvSpPr txBox="1"/>
            <p:nvPr/>
          </p:nvSpPr>
          <p:spPr>
            <a:xfrm>
              <a:off x="92700" y="236800"/>
              <a:ext cx="2348400" cy="2035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38BDF8"/>
                  </a:solidFill>
                  <a:latin typeface="Inter ExtraBold"/>
                  <a:ea typeface="Inter ExtraBold"/>
                  <a:cs typeface="Inter ExtraBold"/>
                  <a:sym typeface="Inter ExtraBold"/>
                </a:rPr>
                <a:t>1. </a:t>
              </a:r>
              <a:r>
                <a:rPr b="0" lang="en" sz="1400">
                  <a:solidFill>
                    <a:srgbClr val="F8FAFC"/>
                  </a:solidFill>
                  <a:latin typeface="Inter SemiBold"/>
                  <a:ea typeface="Inter SemiBold"/>
                  <a:cs typeface="Inter SemiBold"/>
                  <a:sym typeface="Inter SemiBold"/>
                </a:rPr>
                <a:t>Run First:</a:t>
              </a:r>
              <a:endParaRPr>
                <a:latin typeface="Inter"/>
                <a:ea typeface="Inter"/>
                <a:cs typeface="Inter"/>
                <a:sym typeface="Inter"/>
              </a:endParaRPr>
            </a:p>
            <a:p>
              <a:pPr indent="0" lvl="0" marL="0" rtl="0" algn="l">
                <a:spcBef>
                  <a:spcPts val="1200"/>
                </a:spcBef>
                <a:spcAft>
                  <a:spcPts val="0"/>
                </a:spcAft>
                <a:buNone/>
              </a:pPr>
              <a:r>
                <a:rPr lang="en" sz="2000">
                  <a:solidFill>
                    <a:srgbClr val="34D399"/>
                  </a:solidFill>
                  <a:highlight>
                    <a:srgbClr val="0F172A"/>
                  </a:highlight>
                  <a:latin typeface="Arial"/>
                  <a:ea typeface="Arial"/>
                  <a:cs typeface="Arial"/>
                  <a:sym typeface="Arial"/>
                </a:rPr>
                <a:t>gcloud services enable run.googleapis.c</a:t>
              </a:r>
              <a:r>
                <a:rPr lang="en" sz="2000">
                  <a:solidFill>
                    <a:srgbClr val="34D399"/>
                  </a:solidFill>
                  <a:highlight>
                    <a:srgbClr val="0F172A"/>
                  </a:highlight>
                  <a:latin typeface="Arial"/>
                  <a:ea typeface="Arial"/>
                  <a:cs typeface="Arial"/>
                  <a:sym typeface="Arial"/>
                </a:rPr>
                <a:t>om</a:t>
              </a:r>
              <a:endParaRPr sz="2000">
                <a:solidFill>
                  <a:srgbClr val="34D399"/>
                </a:solidFill>
                <a:highlight>
                  <a:srgbClr val="0F172A"/>
                </a:highlight>
                <a:latin typeface="Arial"/>
                <a:ea typeface="Arial"/>
                <a:cs typeface="Arial"/>
                <a:sym typeface="Arial"/>
              </a:endParaRPr>
            </a:p>
          </p:txBody>
        </p:sp>
      </p:grpSp>
      <p:grpSp>
        <p:nvGrpSpPr>
          <p:cNvPr id="247" name="Google Shape;247;p32"/>
          <p:cNvGrpSpPr/>
          <p:nvPr/>
        </p:nvGrpSpPr>
        <p:grpSpPr>
          <a:xfrm>
            <a:off x="3295650" y="1714500"/>
            <a:ext cx="2533850" cy="2667000"/>
            <a:chOff x="0" y="0"/>
            <a:chExt cx="2533850" cy="2667000"/>
          </a:xfrm>
        </p:grpSpPr>
        <p:sp>
          <p:nvSpPr>
            <p:cNvPr id="248" name="Google Shape;248;p32"/>
            <p:cNvSpPr/>
            <p:nvPr/>
          </p:nvSpPr>
          <p:spPr>
            <a:xfrm>
              <a:off x="0" y="0"/>
              <a:ext cx="2533800" cy="2667000"/>
            </a:xfrm>
            <a:prstGeom prst="roundRect">
              <a:avLst>
                <a:gd fmla="val 4511"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32"/>
            <p:cNvSpPr txBox="1"/>
            <p:nvPr/>
          </p:nvSpPr>
          <p:spPr>
            <a:xfrm>
              <a:off x="62450" y="190500"/>
              <a:ext cx="2471400" cy="228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38BDF8"/>
                  </a:solidFill>
                  <a:latin typeface="Inter ExtraBold"/>
                  <a:ea typeface="Inter ExtraBold"/>
                  <a:cs typeface="Inter ExtraBold"/>
                  <a:sym typeface="Inter ExtraBold"/>
                </a:rPr>
                <a:t>2. </a:t>
              </a:r>
              <a:r>
                <a:rPr b="0" lang="en" sz="1400">
                  <a:solidFill>
                    <a:srgbClr val="F8FAFC"/>
                  </a:solidFill>
                  <a:latin typeface="Inter SemiBold"/>
                  <a:ea typeface="Inter SemiBold"/>
                  <a:cs typeface="Inter SemiBold"/>
                  <a:sym typeface="Inter SemiBold"/>
                </a:rPr>
                <a:t>Then:</a:t>
              </a:r>
              <a:endParaRPr>
                <a:latin typeface="Inter"/>
                <a:ea typeface="Inter"/>
                <a:cs typeface="Inter"/>
                <a:sym typeface="Inter"/>
              </a:endParaRPr>
            </a:p>
            <a:p>
              <a:pPr indent="0" lvl="0" marL="0" rtl="0" algn="l">
                <a:spcBef>
                  <a:spcPts val="1200"/>
                </a:spcBef>
                <a:spcAft>
                  <a:spcPts val="0"/>
                </a:spcAft>
                <a:buNone/>
              </a:pPr>
              <a:r>
                <a:rPr lang="en" sz="2000">
                  <a:solidFill>
                    <a:srgbClr val="34D399"/>
                  </a:solidFill>
                  <a:highlight>
                    <a:srgbClr val="0F172A"/>
                  </a:highlight>
                  <a:latin typeface="Arial"/>
                  <a:ea typeface="Arial"/>
                  <a:cs typeface="Arial"/>
                  <a:sym typeface="Arial"/>
                </a:rPr>
                <a:t>gcloud services enable cloudbuild.googleapis.com</a:t>
              </a:r>
              <a:endParaRPr sz="2000">
                <a:solidFill>
                  <a:srgbClr val="34D399"/>
                </a:solidFill>
                <a:highlight>
                  <a:srgbClr val="0F172A"/>
                </a:highlight>
                <a:latin typeface="Arial"/>
                <a:ea typeface="Arial"/>
                <a:cs typeface="Arial"/>
                <a:sym typeface="Arial"/>
              </a:endParaRPr>
            </a:p>
          </p:txBody>
        </p:sp>
      </p:grpSp>
      <p:grpSp>
        <p:nvGrpSpPr>
          <p:cNvPr id="250" name="Google Shape;250;p32"/>
          <p:cNvGrpSpPr/>
          <p:nvPr/>
        </p:nvGrpSpPr>
        <p:grpSpPr>
          <a:xfrm>
            <a:off x="6115050" y="1714500"/>
            <a:ext cx="2533800" cy="2667000"/>
            <a:chOff x="0" y="0"/>
            <a:chExt cx="2533800" cy="2667000"/>
          </a:xfrm>
        </p:grpSpPr>
        <p:sp>
          <p:nvSpPr>
            <p:cNvPr id="251" name="Google Shape;251;p32"/>
            <p:cNvSpPr/>
            <p:nvPr/>
          </p:nvSpPr>
          <p:spPr>
            <a:xfrm>
              <a:off x="0" y="0"/>
              <a:ext cx="2533800" cy="2667000"/>
            </a:xfrm>
            <a:prstGeom prst="roundRect">
              <a:avLst>
                <a:gd fmla="val 4511"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p32"/>
            <p:cNvSpPr txBox="1"/>
            <p:nvPr/>
          </p:nvSpPr>
          <p:spPr>
            <a:xfrm>
              <a:off x="190500" y="190500"/>
              <a:ext cx="2271300" cy="228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38BDF8"/>
                  </a:solidFill>
                  <a:latin typeface="Inter ExtraBold"/>
                  <a:ea typeface="Inter ExtraBold"/>
                  <a:cs typeface="Inter ExtraBold"/>
                  <a:sym typeface="Inter ExtraBold"/>
                </a:rPr>
                <a:t>3. </a:t>
              </a:r>
              <a:r>
                <a:rPr b="0" lang="en" sz="1400">
                  <a:solidFill>
                    <a:srgbClr val="F8FAFC"/>
                  </a:solidFill>
                  <a:latin typeface="Inter SemiBold"/>
                  <a:ea typeface="Inter SemiBold"/>
                  <a:cs typeface="Inter SemiBold"/>
                  <a:sym typeface="Inter SemiBold"/>
                </a:rPr>
                <a:t>Finally:</a:t>
              </a:r>
              <a:endParaRPr>
                <a:latin typeface="Inter"/>
                <a:ea typeface="Inter"/>
                <a:cs typeface="Inter"/>
                <a:sym typeface="Inter"/>
              </a:endParaRPr>
            </a:p>
            <a:p>
              <a:pPr indent="0" lvl="0" marL="0" rtl="0" algn="l">
                <a:spcBef>
                  <a:spcPts val="1200"/>
                </a:spcBef>
                <a:spcAft>
                  <a:spcPts val="0"/>
                </a:spcAft>
                <a:buNone/>
              </a:pPr>
              <a:r>
                <a:rPr lang="en" sz="2000">
                  <a:solidFill>
                    <a:srgbClr val="34D399"/>
                  </a:solidFill>
                  <a:highlight>
                    <a:srgbClr val="0F172A"/>
                  </a:highlight>
                  <a:latin typeface="Arial"/>
                  <a:ea typeface="Arial"/>
                  <a:cs typeface="Arial"/>
                  <a:sym typeface="Arial"/>
                </a:rPr>
                <a:t>gcloud services enable firestore.googleapis.com</a:t>
              </a:r>
              <a:endParaRPr sz="2000">
                <a:solidFill>
                  <a:srgbClr val="34D399"/>
                </a:solidFill>
                <a:highlight>
                  <a:srgbClr val="0F172A"/>
                </a:highlight>
                <a:latin typeface="Arial"/>
                <a:ea typeface="Arial"/>
                <a:cs typeface="Arial"/>
                <a:sym typeface="Arial"/>
              </a:endParaRPr>
            </a:p>
          </p:txBody>
        </p:sp>
      </p:grpSp>
      <p:sp>
        <p:nvSpPr>
          <p:cNvPr id="253" name="Google Shape;253;p32"/>
          <p:cNvSpPr txBox="1"/>
          <p:nvPr/>
        </p:nvSpPr>
        <p:spPr>
          <a:xfrm>
            <a:off x="750650" y="1123825"/>
            <a:ext cx="5014500" cy="501600"/>
          </a:xfrm>
          <a:prstGeom prst="rect">
            <a:avLst/>
          </a:prstGeom>
          <a:solidFill>
            <a:schemeClr val="dk1"/>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200">
                <a:solidFill>
                  <a:srgbClr val="FBBF24"/>
                </a:solidFill>
                <a:latin typeface="Inter"/>
                <a:ea typeface="Inter"/>
                <a:cs typeface="Inter"/>
                <a:sym typeface="Inter"/>
              </a:rPr>
              <a:t>We'll use Cloud Run and Firestore.</a:t>
            </a:r>
            <a:endParaRPr sz="18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7" name="Shape 257"/>
        <p:cNvGrpSpPr/>
        <p:nvPr/>
      </p:nvGrpSpPr>
      <p:grpSpPr>
        <a:xfrm>
          <a:off x="0" y="0"/>
          <a:ext cx="0" cy="0"/>
          <a:chOff x="0" y="0"/>
          <a:chExt cx="0" cy="0"/>
        </a:xfrm>
      </p:grpSpPr>
      <p:pic>
        <p:nvPicPr>
          <p:cNvPr id="258" name="Google Shape;258;p33"/>
          <p:cNvPicPr preferRelativeResize="0"/>
          <p:nvPr/>
        </p:nvPicPr>
        <p:blipFill>
          <a:blip r:embed="rId3">
            <a:alphaModFix/>
          </a:blip>
          <a:stretch>
            <a:fillRect/>
          </a:stretch>
        </p:blipFill>
        <p:spPr>
          <a:xfrm>
            <a:off x="152400" y="1638575"/>
            <a:ext cx="8839204" cy="2844256"/>
          </a:xfrm>
          <a:prstGeom prst="rect">
            <a:avLst/>
          </a:prstGeom>
          <a:noFill/>
          <a:ln>
            <a:noFill/>
          </a:ln>
        </p:spPr>
      </p:pic>
      <p:sp>
        <p:nvSpPr>
          <p:cNvPr id="259" name="Google Shape;259;p33"/>
          <p:cNvSpPr txBox="1"/>
          <p:nvPr/>
        </p:nvSpPr>
        <p:spPr>
          <a:xfrm>
            <a:off x="936000" y="623975"/>
            <a:ext cx="7272000" cy="510600"/>
          </a:xfrm>
          <a:prstGeom prst="rect">
            <a:avLst/>
          </a:prstGeom>
          <a:solidFill>
            <a:srgbClr val="188038"/>
          </a:solid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en" sz="1700">
                <a:solidFill>
                  <a:schemeClr val="lt1"/>
                </a:solidFill>
              </a:rPr>
              <a:t>APIs/services must be enabled before an application can use them</a:t>
            </a:r>
            <a:r>
              <a:rPr lang="en" sz="1700">
                <a:solidFill>
                  <a:schemeClr val="lt1"/>
                </a:solidFill>
              </a:rPr>
              <a:t>.</a:t>
            </a:r>
            <a:endParaRPr sz="2400">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3" name="Shape 263"/>
        <p:cNvGrpSpPr/>
        <p:nvPr/>
      </p:nvGrpSpPr>
      <p:grpSpPr>
        <a:xfrm>
          <a:off x="0" y="0"/>
          <a:ext cx="0" cy="0"/>
          <a:chOff x="0" y="0"/>
          <a:chExt cx="0" cy="0"/>
        </a:xfrm>
      </p:grpSpPr>
      <p:grpSp>
        <p:nvGrpSpPr>
          <p:cNvPr id="264" name="Google Shape;264;p34"/>
          <p:cNvGrpSpPr/>
          <p:nvPr/>
        </p:nvGrpSpPr>
        <p:grpSpPr>
          <a:xfrm>
            <a:off x="476250" y="381000"/>
            <a:ext cx="5445900" cy="533400"/>
            <a:chOff x="0" y="0"/>
            <a:chExt cx="5445900" cy="533400"/>
          </a:xfrm>
        </p:grpSpPr>
        <p:sp>
          <p:nvSpPr>
            <p:cNvPr id="265" name="Google Shape;265;p34"/>
            <p:cNvSpPr/>
            <p:nvPr/>
          </p:nvSpPr>
          <p:spPr>
            <a:xfrm>
              <a:off x="0" y="0"/>
              <a:ext cx="4762500" cy="533400"/>
            </a:xfrm>
            <a:prstGeom prst="roundRect">
              <a:avLst>
                <a:gd fmla="val 14285" name="adj"/>
              </a:avLst>
            </a:prstGeom>
            <a:solidFill>
              <a:srgbClr val="60A5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34"/>
            <p:cNvSpPr txBox="1"/>
            <p:nvPr/>
          </p:nvSpPr>
          <p:spPr>
            <a:xfrm>
              <a:off x="0" y="0"/>
              <a:ext cx="5445900" cy="533400"/>
            </a:xfrm>
            <a:prstGeom prst="rect">
              <a:avLst/>
            </a:prstGeom>
            <a:solidFill>
              <a:srgbClr val="60A5FA"/>
            </a:solidFill>
            <a:ln>
              <a:noFill/>
            </a:ln>
          </p:spPr>
          <p:txBody>
            <a:bodyPr anchorCtr="0" anchor="ctr" bIns="0" lIns="190500" spcFirstLastPara="1" rIns="0" wrap="square" tIns="0">
              <a:noAutofit/>
            </a:bodyPr>
            <a:lstStyle/>
            <a:p>
              <a:pPr indent="0" lvl="0" marL="0" rtl="0" algn="l">
                <a:spcBef>
                  <a:spcPts val="0"/>
                </a:spcBef>
                <a:spcAft>
                  <a:spcPts val="0"/>
                </a:spcAft>
                <a:buNone/>
              </a:pPr>
              <a:r>
                <a:rPr b="1" lang="en" sz="2300">
                  <a:solidFill>
                    <a:srgbClr val="FFFFFF"/>
                  </a:solidFill>
                  <a:latin typeface="Inter"/>
                  <a:ea typeface="Inter"/>
                  <a:cs typeface="Inter"/>
                  <a:sym typeface="Inter"/>
                </a:rPr>
                <a:t>3. Create the Firestore database</a:t>
              </a:r>
              <a:endParaRPr b="1" sz="2300">
                <a:solidFill>
                  <a:srgbClr val="FFFFFF"/>
                </a:solidFill>
                <a:latin typeface="Inter"/>
                <a:ea typeface="Inter"/>
                <a:cs typeface="Inter"/>
                <a:sym typeface="Inter"/>
              </a:endParaRPr>
            </a:p>
          </p:txBody>
        </p:sp>
      </p:grpSp>
      <p:grpSp>
        <p:nvGrpSpPr>
          <p:cNvPr id="267" name="Google Shape;267;p34"/>
          <p:cNvGrpSpPr/>
          <p:nvPr/>
        </p:nvGrpSpPr>
        <p:grpSpPr>
          <a:xfrm>
            <a:off x="476250" y="1143000"/>
            <a:ext cx="1905000" cy="2190900"/>
            <a:chOff x="0" y="0"/>
            <a:chExt cx="1905000" cy="2190900"/>
          </a:xfrm>
        </p:grpSpPr>
        <p:sp>
          <p:nvSpPr>
            <p:cNvPr id="268" name="Google Shape;268;p34"/>
            <p:cNvSpPr/>
            <p:nvPr/>
          </p:nvSpPr>
          <p:spPr>
            <a:xfrm>
              <a:off x="0" y="0"/>
              <a:ext cx="1905000" cy="2190900"/>
            </a:xfrm>
            <a:prstGeom prst="roundRect">
              <a:avLst>
                <a:gd fmla="val 5000"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34"/>
            <p:cNvSpPr txBox="1"/>
            <p:nvPr/>
          </p:nvSpPr>
          <p:spPr>
            <a:xfrm>
              <a:off x="0" y="0"/>
              <a:ext cx="1905000" cy="2190900"/>
            </a:xfrm>
            <a:prstGeom prst="rect">
              <a:avLst/>
            </a:prstGeom>
            <a:noFill/>
            <a:ln cap="flat" cmpd="sng" w="19050">
              <a:solidFill>
                <a:srgbClr val="34D399"/>
              </a:solidFill>
              <a:prstDash val="solid"/>
              <a:round/>
              <a:headEnd len="sm" w="sm" type="none"/>
              <a:tailEnd len="sm" w="sm" type="none"/>
            </a:ln>
          </p:spPr>
          <p:txBody>
            <a:bodyPr anchorCtr="0" anchor="t" bIns="171450" lIns="171450" spcFirstLastPara="1" rIns="171450" wrap="square" tIns="171450">
              <a:noAutofit/>
            </a:bodyPr>
            <a:lstStyle/>
            <a:p>
              <a:pPr indent="0" lvl="0" marL="0" rtl="0" algn="l">
                <a:spcBef>
                  <a:spcPts val="0"/>
                </a:spcBef>
                <a:spcAft>
                  <a:spcPts val="0"/>
                </a:spcAft>
                <a:buNone/>
              </a:pPr>
              <a:r>
                <a:rPr b="0" lang="en" sz="1600">
                  <a:solidFill>
                    <a:srgbClr val="38BDF8"/>
                  </a:solidFill>
                  <a:latin typeface="Inter ExtraBold"/>
                  <a:ea typeface="Inter ExtraBold"/>
                  <a:cs typeface="Inter ExtraBold"/>
                  <a:sym typeface="Inter ExtraBold"/>
                </a:rPr>
                <a:t>STEP 01</a:t>
              </a:r>
              <a:endParaRPr b="0" sz="1600">
                <a:solidFill>
                  <a:srgbClr val="38BDF8"/>
                </a:solidFill>
                <a:latin typeface="Inter ExtraBold"/>
                <a:ea typeface="Inter ExtraBold"/>
                <a:cs typeface="Inter ExtraBold"/>
                <a:sym typeface="Inter ExtraBold"/>
              </a:endParaRPr>
            </a:p>
            <a:p>
              <a:pPr indent="0" lvl="0" marL="0" rtl="0" algn="l">
                <a:spcBef>
                  <a:spcPts val="900"/>
                </a:spcBef>
                <a:spcAft>
                  <a:spcPts val="0"/>
                </a:spcAft>
                <a:buNone/>
              </a:pPr>
              <a:r>
                <a:rPr b="0" lang="en" sz="1600">
                  <a:solidFill>
                    <a:srgbClr val="F8FAFC"/>
                  </a:solidFill>
                  <a:latin typeface="Inter SemiBold"/>
                  <a:ea typeface="Inter SemiBold"/>
                  <a:cs typeface="Inter SemiBold"/>
                  <a:sym typeface="Inter SemiBold"/>
                </a:rPr>
                <a:t>Search Console</a:t>
              </a:r>
              <a:endParaRPr b="0" sz="1600">
                <a:solidFill>
                  <a:srgbClr val="F8FAFC"/>
                </a:solidFill>
                <a:latin typeface="Inter SemiBold"/>
                <a:ea typeface="Inter SemiBold"/>
                <a:cs typeface="Inter SemiBold"/>
                <a:sym typeface="Inter SemiBold"/>
              </a:endParaRPr>
            </a:p>
            <a:p>
              <a:pPr indent="0" lvl="0" marL="0" rtl="0" algn="l">
                <a:spcBef>
                  <a:spcPts val="600"/>
                </a:spcBef>
                <a:spcAft>
                  <a:spcPts val="0"/>
                </a:spcAft>
                <a:buNone/>
              </a:pPr>
              <a:r>
                <a:rPr b="0" lang="en" sz="1600">
                  <a:solidFill>
                    <a:srgbClr val="94A3B8"/>
                  </a:solidFill>
                  <a:latin typeface="Inter"/>
                  <a:ea typeface="Inter"/>
                  <a:cs typeface="Inter"/>
                  <a:sym typeface="Inter"/>
                </a:rPr>
                <a:t>In the Google Cloud Console, search for:</a:t>
              </a:r>
              <a:br>
                <a:rPr b="0" lang="en" sz="1600">
                  <a:solidFill>
                    <a:srgbClr val="94A3B8"/>
                  </a:solidFill>
                  <a:latin typeface="Inter"/>
                  <a:ea typeface="Inter"/>
                  <a:cs typeface="Inter"/>
                  <a:sym typeface="Inter"/>
                </a:rPr>
              </a:br>
              <a:br>
                <a:rPr b="0" lang="en" sz="1600">
                  <a:solidFill>
                    <a:srgbClr val="94A3B8"/>
                  </a:solidFill>
                  <a:latin typeface="Inter"/>
                  <a:ea typeface="Inter"/>
                  <a:cs typeface="Inter"/>
                  <a:sym typeface="Inter"/>
                </a:rPr>
              </a:br>
              <a:r>
                <a:rPr b="1" lang="en" sz="1600">
                  <a:solidFill>
                    <a:srgbClr val="34D399"/>
                  </a:solidFill>
                  <a:highlight>
                    <a:srgbClr val="0F172A"/>
                  </a:highlight>
                  <a:latin typeface="Inter"/>
                  <a:ea typeface="Inter"/>
                  <a:cs typeface="Inter"/>
                  <a:sym typeface="Inter"/>
                </a:rPr>
                <a:t>Firestore</a:t>
              </a:r>
              <a:endParaRPr b="0" sz="1600">
                <a:solidFill>
                  <a:srgbClr val="94A3B8"/>
                </a:solidFill>
                <a:latin typeface="Inter"/>
                <a:ea typeface="Inter"/>
                <a:cs typeface="Inter"/>
                <a:sym typeface="Inter"/>
              </a:endParaRPr>
            </a:p>
          </p:txBody>
        </p:sp>
      </p:grpSp>
      <p:grpSp>
        <p:nvGrpSpPr>
          <p:cNvPr id="270" name="Google Shape;270;p34"/>
          <p:cNvGrpSpPr/>
          <p:nvPr/>
        </p:nvGrpSpPr>
        <p:grpSpPr>
          <a:xfrm>
            <a:off x="2571750" y="1143000"/>
            <a:ext cx="1905000" cy="2190900"/>
            <a:chOff x="0" y="0"/>
            <a:chExt cx="1905000" cy="2190900"/>
          </a:xfrm>
        </p:grpSpPr>
        <p:sp>
          <p:nvSpPr>
            <p:cNvPr id="271" name="Google Shape;271;p34"/>
            <p:cNvSpPr/>
            <p:nvPr/>
          </p:nvSpPr>
          <p:spPr>
            <a:xfrm>
              <a:off x="0" y="0"/>
              <a:ext cx="1905000" cy="2190900"/>
            </a:xfrm>
            <a:prstGeom prst="roundRect">
              <a:avLst>
                <a:gd fmla="val 5000"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600"/>
            </a:p>
          </p:txBody>
        </p:sp>
        <p:sp>
          <p:nvSpPr>
            <p:cNvPr id="272" name="Google Shape;272;p34"/>
            <p:cNvSpPr txBox="1"/>
            <p:nvPr/>
          </p:nvSpPr>
          <p:spPr>
            <a:xfrm>
              <a:off x="0" y="0"/>
              <a:ext cx="1905000" cy="2190900"/>
            </a:xfrm>
            <a:prstGeom prst="rect">
              <a:avLst/>
            </a:prstGeom>
            <a:noFill/>
            <a:ln cap="flat" cmpd="sng" w="19050">
              <a:solidFill>
                <a:srgbClr val="34D399"/>
              </a:solidFill>
              <a:prstDash val="solid"/>
              <a:round/>
              <a:headEnd len="sm" w="sm" type="none"/>
              <a:tailEnd len="sm" w="sm" type="none"/>
            </a:ln>
          </p:spPr>
          <p:txBody>
            <a:bodyPr anchorCtr="0" anchor="t" bIns="171450" lIns="171450" spcFirstLastPara="1" rIns="171450" wrap="square" tIns="171450">
              <a:noAutofit/>
            </a:bodyPr>
            <a:lstStyle/>
            <a:p>
              <a:pPr indent="0" lvl="0" marL="0" rtl="0" algn="l">
                <a:spcBef>
                  <a:spcPts val="0"/>
                </a:spcBef>
                <a:spcAft>
                  <a:spcPts val="0"/>
                </a:spcAft>
                <a:buNone/>
              </a:pPr>
              <a:r>
                <a:rPr b="0" lang="en" sz="1600">
                  <a:solidFill>
                    <a:srgbClr val="38BDF8"/>
                  </a:solidFill>
                  <a:latin typeface="Inter ExtraBold"/>
                  <a:ea typeface="Inter ExtraBold"/>
                  <a:cs typeface="Inter ExtraBold"/>
                  <a:sym typeface="Inter ExtraBold"/>
                </a:rPr>
                <a:t>STEP 02</a:t>
              </a:r>
              <a:endParaRPr b="0" sz="1600">
                <a:solidFill>
                  <a:srgbClr val="38BDF8"/>
                </a:solidFill>
                <a:latin typeface="Inter ExtraBold"/>
                <a:ea typeface="Inter ExtraBold"/>
                <a:cs typeface="Inter ExtraBold"/>
                <a:sym typeface="Inter ExtraBold"/>
              </a:endParaRPr>
            </a:p>
            <a:p>
              <a:pPr indent="0" lvl="0" marL="0" rtl="0" algn="l">
                <a:spcBef>
                  <a:spcPts val="900"/>
                </a:spcBef>
                <a:spcAft>
                  <a:spcPts val="0"/>
                </a:spcAft>
                <a:buNone/>
              </a:pPr>
              <a:r>
                <a:rPr b="0" lang="en" sz="1600">
                  <a:solidFill>
                    <a:srgbClr val="F8FAFC"/>
                  </a:solidFill>
                  <a:latin typeface="Inter SemiBold"/>
                  <a:ea typeface="Inter SemiBold"/>
                  <a:cs typeface="Inter SemiBold"/>
                  <a:sym typeface="Inter SemiBold"/>
                </a:rPr>
                <a:t>Open Service</a:t>
              </a:r>
              <a:endParaRPr b="0" sz="1600">
                <a:solidFill>
                  <a:srgbClr val="F8FAFC"/>
                </a:solidFill>
                <a:latin typeface="Inter SemiBold"/>
                <a:ea typeface="Inter SemiBold"/>
                <a:cs typeface="Inter SemiBold"/>
                <a:sym typeface="Inter SemiBold"/>
              </a:endParaRPr>
            </a:p>
            <a:p>
              <a:pPr indent="0" lvl="0" marL="0" rtl="0" algn="l">
                <a:spcBef>
                  <a:spcPts val="600"/>
                </a:spcBef>
                <a:spcAft>
                  <a:spcPts val="0"/>
                </a:spcAft>
                <a:buNone/>
              </a:pPr>
              <a:r>
                <a:rPr b="0" lang="en" sz="1600">
                  <a:solidFill>
                    <a:srgbClr val="94A3B8"/>
                  </a:solidFill>
                  <a:latin typeface="Inter"/>
                  <a:ea typeface="Inter"/>
                  <a:cs typeface="Inter"/>
                  <a:sym typeface="Inter"/>
                </a:rPr>
                <a:t>From the search results, select and open:</a:t>
              </a:r>
              <a:br>
                <a:rPr b="0" lang="en" sz="1600">
                  <a:solidFill>
                    <a:srgbClr val="94A3B8"/>
                  </a:solidFill>
                  <a:latin typeface="Inter"/>
                  <a:ea typeface="Inter"/>
                  <a:cs typeface="Inter"/>
                  <a:sym typeface="Inter"/>
                </a:rPr>
              </a:br>
              <a:br>
                <a:rPr b="0" lang="en" sz="1600">
                  <a:solidFill>
                    <a:srgbClr val="94A3B8"/>
                  </a:solidFill>
                  <a:latin typeface="Inter"/>
                  <a:ea typeface="Inter"/>
                  <a:cs typeface="Inter"/>
                  <a:sym typeface="Inter"/>
                </a:rPr>
              </a:br>
              <a:r>
                <a:rPr b="1" lang="en" sz="1600">
                  <a:solidFill>
                    <a:srgbClr val="34D399"/>
                  </a:solidFill>
                  <a:highlight>
                    <a:srgbClr val="0F172A"/>
                  </a:highlight>
                  <a:latin typeface="Inter"/>
                  <a:ea typeface="Inter"/>
                  <a:cs typeface="Inter"/>
                  <a:sym typeface="Inter"/>
                </a:rPr>
                <a:t>Firestore</a:t>
              </a:r>
              <a:endParaRPr b="0" sz="1600">
                <a:solidFill>
                  <a:srgbClr val="94A3B8"/>
                </a:solidFill>
                <a:latin typeface="Inter"/>
                <a:ea typeface="Inter"/>
                <a:cs typeface="Inter"/>
                <a:sym typeface="Inter"/>
              </a:endParaRPr>
            </a:p>
          </p:txBody>
        </p:sp>
      </p:grpSp>
      <p:grpSp>
        <p:nvGrpSpPr>
          <p:cNvPr id="273" name="Google Shape;273;p34"/>
          <p:cNvGrpSpPr/>
          <p:nvPr/>
        </p:nvGrpSpPr>
        <p:grpSpPr>
          <a:xfrm>
            <a:off x="4667250" y="1143000"/>
            <a:ext cx="1905000" cy="2190900"/>
            <a:chOff x="0" y="0"/>
            <a:chExt cx="1905000" cy="2190900"/>
          </a:xfrm>
        </p:grpSpPr>
        <p:sp>
          <p:nvSpPr>
            <p:cNvPr id="274" name="Google Shape;274;p34"/>
            <p:cNvSpPr/>
            <p:nvPr/>
          </p:nvSpPr>
          <p:spPr>
            <a:xfrm>
              <a:off x="0" y="0"/>
              <a:ext cx="1905000" cy="2190900"/>
            </a:xfrm>
            <a:prstGeom prst="roundRect">
              <a:avLst>
                <a:gd fmla="val 5000"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 name="Google Shape;275;p34"/>
            <p:cNvSpPr txBox="1"/>
            <p:nvPr/>
          </p:nvSpPr>
          <p:spPr>
            <a:xfrm>
              <a:off x="0" y="0"/>
              <a:ext cx="1905000" cy="2190900"/>
            </a:xfrm>
            <a:prstGeom prst="rect">
              <a:avLst/>
            </a:prstGeom>
            <a:noFill/>
            <a:ln cap="flat" cmpd="sng" w="19050">
              <a:solidFill>
                <a:srgbClr val="34D399"/>
              </a:solidFill>
              <a:prstDash val="solid"/>
              <a:round/>
              <a:headEnd len="sm" w="sm" type="none"/>
              <a:tailEnd len="sm" w="sm" type="none"/>
            </a:ln>
          </p:spPr>
          <p:txBody>
            <a:bodyPr anchorCtr="0" anchor="t" bIns="171450" lIns="171450" spcFirstLastPara="1" rIns="171450" wrap="square" tIns="171450">
              <a:noAutofit/>
            </a:bodyPr>
            <a:lstStyle/>
            <a:p>
              <a:pPr indent="0" lvl="0" marL="0" rtl="0" algn="l">
                <a:spcBef>
                  <a:spcPts val="0"/>
                </a:spcBef>
                <a:spcAft>
                  <a:spcPts val="0"/>
                </a:spcAft>
                <a:buNone/>
              </a:pPr>
              <a:r>
                <a:rPr b="0" lang="en" sz="1500">
                  <a:solidFill>
                    <a:srgbClr val="38BDF8"/>
                  </a:solidFill>
                  <a:latin typeface="Inter ExtraBold"/>
                  <a:ea typeface="Inter ExtraBold"/>
                  <a:cs typeface="Inter ExtraBold"/>
                  <a:sym typeface="Inter ExtraBold"/>
                </a:rPr>
                <a:t>STEP 03</a:t>
              </a:r>
              <a:endParaRPr b="0" sz="1500">
                <a:solidFill>
                  <a:srgbClr val="38BDF8"/>
                </a:solidFill>
                <a:latin typeface="Inter ExtraBold"/>
                <a:ea typeface="Inter ExtraBold"/>
                <a:cs typeface="Inter ExtraBold"/>
                <a:sym typeface="Inter ExtraBold"/>
              </a:endParaRPr>
            </a:p>
            <a:p>
              <a:pPr indent="0" lvl="0" marL="0" rtl="0" algn="l">
                <a:spcBef>
                  <a:spcPts val="900"/>
                </a:spcBef>
                <a:spcAft>
                  <a:spcPts val="0"/>
                </a:spcAft>
                <a:buNone/>
              </a:pPr>
              <a:r>
                <a:rPr b="0" lang="en" sz="1500">
                  <a:solidFill>
                    <a:srgbClr val="F8FAFC"/>
                  </a:solidFill>
                  <a:latin typeface="Inter SemiBold"/>
                  <a:ea typeface="Inter SemiBold"/>
                  <a:cs typeface="Inter SemiBold"/>
                  <a:sym typeface="Inter SemiBold"/>
                </a:rPr>
                <a:t>Create Database</a:t>
              </a:r>
              <a:endParaRPr b="0" sz="1500">
                <a:solidFill>
                  <a:srgbClr val="F8FAFC"/>
                </a:solidFill>
                <a:latin typeface="Inter SemiBold"/>
                <a:ea typeface="Inter SemiBold"/>
                <a:cs typeface="Inter SemiBold"/>
                <a:sym typeface="Inter SemiBold"/>
              </a:endParaRPr>
            </a:p>
            <a:p>
              <a:pPr indent="0" lvl="0" marL="0" rtl="0" algn="l">
                <a:spcBef>
                  <a:spcPts val="600"/>
                </a:spcBef>
                <a:spcAft>
                  <a:spcPts val="0"/>
                </a:spcAft>
                <a:buNone/>
              </a:pPr>
              <a:r>
                <a:rPr b="0" lang="en" sz="1500">
                  <a:solidFill>
                    <a:srgbClr val="94A3B8"/>
                  </a:solidFill>
                  <a:latin typeface="Inter"/>
                  <a:ea typeface="Inter"/>
                  <a:cs typeface="Inter"/>
                  <a:sym typeface="Inter"/>
                </a:rPr>
                <a:t>Choose to initialize:</a:t>
              </a:r>
              <a:br>
                <a:rPr b="0" lang="en" sz="1500">
                  <a:solidFill>
                    <a:srgbClr val="94A3B8"/>
                  </a:solidFill>
                  <a:latin typeface="Inter"/>
                  <a:ea typeface="Inter"/>
                  <a:cs typeface="Inter"/>
                  <a:sym typeface="Inter"/>
                </a:rPr>
              </a:br>
              <a:br>
                <a:rPr b="0" lang="en" sz="1500">
                  <a:solidFill>
                    <a:srgbClr val="94A3B8"/>
                  </a:solidFill>
                  <a:latin typeface="Inter"/>
                  <a:ea typeface="Inter"/>
                  <a:cs typeface="Inter"/>
                  <a:sym typeface="Inter"/>
                </a:rPr>
              </a:br>
              <a:r>
                <a:rPr b="1" lang="en" sz="1500">
                  <a:solidFill>
                    <a:srgbClr val="34D399"/>
                  </a:solidFill>
                  <a:highlight>
                    <a:srgbClr val="0F172A"/>
                  </a:highlight>
                  <a:latin typeface="Inter"/>
                  <a:ea typeface="Inter"/>
                  <a:cs typeface="Inter"/>
                  <a:sym typeface="Inter"/>
                </a:rPr>
                <a:t>Create a Firestore database</a:t>
              </a:r>
              <a:endParaRPr b="0" sz="1500">
                <a:solidFill>
                  <a:srgbClr val="94A3B8"/>
                </a:solidFill>
                <a:latin typeface="Inter"/>
                <a:ea typeface="Inter"/>
                <a:cs typeface="Inter"/>
                <a:sym typeface="Inter"/>
              </a:endParaRPr>
            </a:p>
          </p:txBody>
        </p:sp>
      </p:grpSp>
      <p:grpSp>
        <p:nvGrpSpPr>
          <p:cNvPr id="276" name="Google Shape;276;p34"/>
          <p:cNvGrpSpPr/>
          <p:nvPr/>
        </p:nvGrpSpPr>
        <p:grpSpPr>
          <a:xfrm>
            <a:off x="6762750" y="1143000"/>
            <a:ext cx="1905000" cy="2190900"/>
            <a:chOff x="0" y="0"/>
            <a:chExt cx="1905000" cy="2190900"/>
          </a:xfrm>
        </p:grpSpPr>
        <p:sp>
          <p:nvSpPr>
            <p:cNvPr id="277" name="Google Shape;277;p34"/>
            <p:cNvSpPr/>
            <p:nvPr/>
          </p:nvSpPr>
          <p:spPr>
            <a:xfrm>
              <a:off x="0" y="0"/>
              <a:ext cx="1905000" cy="2190900"/>
            </a:xfrm>
            <a:prstGeom prst="roundRect">
              <a:avLst>
                <a:gd fmla="val 5000"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8" name="Google Shape;278;p34"/>
            <p:cNvSpPr txBox="1"/>
            <p:nvPr/>
          </p:nvSpPr>
          <p:spPr>
            <a:xfrm>
              <a:off x="0" y="0"/>
              <a:ext cx="1905000" cy="2190900"/>
            </a:xfrm>
            <a:prstGeom prst="rect">
              <a:avLst/>
            </a:prstGeom>
            <a:noFill/>
            <a:ln cap="flat" cmpd="sng" w="19050">
              <a:solidFill>
                <a:srgbClr val="34D399"/>
              </a:solidFill>
              <a:prstDash val="solid"/>
              <a:round/>
              <a:headEnd len="sm" w="sm" type="none"/>
              <a:tailEnd len="sm" w="sm" type="none"/>
            </a:ln>
          </p:spPr>
          <p:txBody>
            <a:bodyPr anchorCtr="0" anchor="t" bIns="171450" lIns="171450" spcFirstLastPara="1" rIns="171450" wrap="square" tIns="171450">
              <a:noAutofit/>
            </a:bodyPr>
            <a:lstStyle/>
            <a:p>
              <a:pPr indent="0" lvl="0" marL="0" rtl="0" algn="l">
                <a:spcBef>
                  <a:spcPts val="0"/>
                </a:spcBef>
                <a:spcAft>
                  <a:spcPts val="0"/>
                </a:spcAft>
                <a:buNone/>
              </a:pPr>
              <a:r>
                <a:rPr b="0" lang="en" sz="1600">
                  <a:solidFill>
                    <a:srgbClr val="38BDF8"/>
                  </a:solidFill>
                  <a:latin typeface="Inter ExtraBold"/>
                  <a:ea typeface="Inter ExtraBold"/>
                  <a:cs typeface="Inter ExtraBold"/>
                  <a:sym typeface="Inter ExtraBold"/>
                </a:rPr>
                <a:t>STEP 04</a:t>
              </a:r>
              <a:endParaRPr b="0" sz="1600">
                <a:solidFill>
                  <a:srgbClr val="38BDF8"/>
                </a:solidFill>
                <a:latin typeface="Inter ExtraBold"/>
                <a:ea typeface="Inter ExtraBold"/>
                <a:cs typeface="Inter ExtraBold"/>
                <a:sym typeface="Inter ExtraBold"/>
              </a:endParaRPr>
            </a:p>
            <a:p>
              <a:pPr indent="0" lvl="0" marL="0" rtl="0" algn="l">
                <a:spcBef>
                  <a:spcPts val="900"/>
                </a:spcBef>
                <a:spcAft>
                  <a:spcPts val="0"/>
                </a:spcAft>
                <a:buNone/>
              </a:pPr>
              <a:r>
                <a:rPr b="0" lang="en" sz="1600">
                  <a:solidFill>
                    <a:srgbClr val="F8FAFC"/>
                  </a:solidFill>
                  <a:latin typeface="Inter SemiBold"/>
                  <a:ea typeface="Inter SemiBold"/>
                  <a:cs typeface="Inter SemiBold"/>
                  <a:sym typeface="Inter SemiBold"/>
                </a:rPr>
                <a:t>Select Mode</a:t>
              </a:r>
              <a:endParaRPr b="0" sz="1600">
                <a:solidFill>
                  <a:srgbClr val="F8FAFC"/>
                </a:solidFill>
                <a:latin typeface="Inter SemiBold"/>
                <a:ea typeface="Inter SemiBold"/>
                <a:cs typeface="Inter SemiBold"/>
                <a:sym typeface="Inter SemiBold"/>
              </a:endParaRPr>
            </a:p>
            <a:p>
              <a:pPr indent="0" lvl="0" marL="0" rtl="0" algn="l">
                <a:spcBef>
                  <a:spcPts val="600"/>
                </a:spcBef>
                <a:spcAft>
                  <a:spcPts val="0"/>
                </a:spcAft>
                <a:buNone/>
              </a:pPr>
              <a:r>
                <a:rPr b="0" lang="en" sz="1600">
                  <a:solidFill>
                    <a:srgbClr val="94A3B8"/>
                  </a:solidFill>
                  <a:latin typeface="Inter"/>
                  <a:ea typeface="Inter"/>
                  <a:cs typeface="Inter"/>
                  <a:sym typeface="Inter"/>
                </a:rPr>
                <a:t>For this project, choose:</a:t>
              </a:r>
              <a:br>
                <a:rPr b="0" lang="en" sz="1600">
                  <a:solidFill>
                    <a:srgbClr val="94A3B8"/>
                  </a:solidFill>
                  <a:latin typeface="Inter"/>
                  <a:ea typeface="Inter"/>
                  <a:cs typeface="Inter"/>
                  <a:sym typeface="Inter"/>
                </a:rPr>
              </a:br>
              <a:br>
                <a:rPr b="0" lang="en" sz="1600">
                  <a:solidFill>
                    <a:srgbClr val="94A3B8"/>
                  </a:solidFill>
                  <a:latin typeface="Inter"/>
                  <a:ea typeface="Inter"/>
                  <a:cs typeface="Inter"/>
                  <a:sym typeface="Inter"/>
                </a:rPr>
              </a:br>
              <a:r>
                <a:rPr b="1" lang="en" sz="1600">
                  <a:solidFill>
                    <a:srgbClr val="34D399"/>
                  </a:solidFill>
                  <a:highlight>
                    <a:srgbClr val="0F172A"/>
                  </a:highlight>
                  <a:latin typeface="Inter"/>
                  <a:ea typeface="Inter"/>
                  <a:cs typeface="Inter"/>
                  <a:sym typeface="Inter"/>
                </a:rPr>
                <a:t>Firestore in Native mode</a:t>
              </a:r>
              <a:endParaRPr b="0" sz="1600">
                <a:solidFill>
                  <a:srgbClr val="94A3B8"/>
                </a:solidFill>
                <a:latin typeface="Inter"/>
                <a:ea typeface="Inter"/>
                <a:cs typeface="Inter"/>
                <a:sym typeface="Inter"/>
              </a:endParaRPr>
            </a:p>
          </p:txBody>
        </p:sp>
      </p:grpSp>
      <p:grpSp>
        <p:nvGrpSpPr>
          <p:cNvPr id="279" name="Google Shape;279;p34"/>
          <p:cNvGrpSpPr/>
          <p:nvPr/>
        </p:nvGrpSpPr>
        <p:grpSpPr>
          <a:xfrm>
            <a:off x="476250" y="3524250"/>
            <a:ext cx="8191500" cy="1047900"/>
            <a:chOff x="0" y="0"/>
            <a:chExt cx="8191500" cy="1047900"/>
          </a:xfrm>
        </p:grpSpPr>
        <p:sp>
          <p:nvSpPr>
            <p:cNvPr id="280" name="Google Shape;280;p34"/>
            <p:cNvSpPr/>
            <p:nvPr/>
          </p:nvSpPr>
          <p:spPr>
            <a:xfrm>
              <a:off x="0" y="0"/>
              <a:ext cx="8191500" cy="1047900"/>
            </a:xfrm>
            <a:prstGeom prst="roundRect">
              <a:avLst>
                <a:gd fmla="val 9090" name="adj"/>
              </a:avLst>
            </a:prstGeom>
            <a:solidFill>
              <a:srgbClr val="0F172A"/>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1" name="Google Shape;281;p34"/>
            <p:cNvSpPr txBox="1"/>
            <p:nvPr/>
          </p:nvSpPr>
          <p:spPr>
            <a:xfrm>
              <a:off x="0" y="0"/>
              <a:ext cx="8191500" cy="1047900"/>
            </a:xfrm>
            <a:prstGeom prst="rect">
              <a:avLst/>
            </a:prstGeom>
            <a:noFill/>
            <a:ln cap="flat" cmpd="sng" w="28575">
              <a:solidFill>
                <a:schemeClr val="accent4"/>
              </a:solidFill>
              <a:prstDash val="solid"/>
              <a:round/>
              <a:headEnd len="sm" w="sm" type="none"/>
              <a:tailEnd len="sm" w="sm" type="none"/>
            </a:ln>
          </p:spPr>
          <p:txBody>
            <a:bodyPr anchorCtr="0" anchor="ctr" bIns="190500" lIns="190500" spcFirstLastPara="1" rIns="190500" wrap="square" tIns="190500">
              <a:noAutofit/>
            </a:bodyPr>
            <a:lstStyle/>
            <a:p>
              <a:pPr indent="0" lvl="0" marL="0" rtl="0" algn="l">
                <a:spcBef>
                  <a:spcPts val="0"/>
                </a:spcBef>
                <a:spcAft>
                  <a:spcPts val="0"/>
                </a:spcAft>
                <a:buNone/>
              </a:pPr>
              <a:r>
                <a:rPr b="0" lang="en" sz="1500">
                  <a:solidFill>
                    <a:srgbClr val="FBBF24"/>
                  </a:solidFill>
                  <a:latin typeface="Inter ExtraBold"/>
                  <a:ea typeface="Inter ExtraBold"/>
                  <a:cs typeface="Inter ExtraBold"/>
                  <a:sym typeface="Inter ExtraBold"/>
                </a:rPr>
                <a:t>IMPORTANT NOTE</a:t>
              </a:r>
              <a:endParaRPr b="0" sz="1500">
                <a:solidFill>
                  <a:srgbClr val="FBBF24"/>
                </a:solidFill>
                <a:latin typeface="Inter ExtraBold"/>
                <a:ea typeface="Inter ExtraBold"/>
                <a:cs typeface="Inter ExtraBold"/>
                <a:sym typeface="Inter ExtraBold"/>
              </a:endParaRPr>
            </a:p>
            <a:p>
              <a:pPr indent="0" lvl="0" marL="0" rtl="0" algn="l">
                <a:spcBef>
                  <a:spcPts val="450"/>
                </a:spcBef>
                <a:spcAft>
                  <a:spcPts val="0"/>
                </a:spcAft>
                <a:buNone/>
              </a:pPr>
              <a:r>
                <a:rPr b="0" lang="en" sz="1450">
                  <a:solidFill>
                    <a:schemeClr val="lt1"/>
                  </a:solidFill>
                  <a:latin typeface="Inter"/>
                  <a:ea typeface="Inter"/>
                  <a:cs typeface="Inter"/>
                  <a:sym typeface="Inter"/>
                </a:rPr>
                <a:t>Google's current Firestore setup asks you to choose the database edition, access mode and location. For Native mode, Google recommends restrictive initial security rules when you're not planning to use Firebase web/mobile SDKs.</a:t>
              </a:r>
              <a:endParaRPr b="0" sz="1450">
                <a:solidFill>
                  <a:schemeClr val="lt1"/>
                </a:solidFill>
                <a:latin typeface="Inter"/>
                <a:ea typeface="Inter"/>
                <a:cs typeface="Inter"/>
                <a:sym typeface="Inte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5" name="Shape 285"/>
        <p:cNvGrpSpPr/>
        <p:nvPr/>
      </p:nvGrpSpPr>
      <p:grpSpPr>
        <a:xfrm>
          <a:off x="0" y="0"/>
          <a:ext cx="0" cy="0"/>
          <a:chOff x="0" y="0"/>
          <a:chExt cx="0" cy="0"/>
        </a:xfrm>
      </p:grpSpPr>
      <p:sp>
        <p:nvSpPr>
          <p:cNvPr id="286" name="Google Shape;286;p35"/>
          <p:cNvSpPr txBox="1"/>
          <p:nvPr>
            <p:ph type="title"/>
          </p:nvPr>
        </p:nvSpPr>
        <p:spPr>
          <a:xfrm>
            <a:off x="311700" y="445025"/>
            <a:ext cx="5349300" cy="572700"/>
          </a:xfrm>
          <a:prstGeom prst="rect">
            <a:avLst/>
          </a:prstGeom>
          <a:solidFill>
            <a:schemeClr val="lt1"/>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 the </a:t>
            </a:r>
            <a:r>
              <a:rPr lang="en"/>
              <a:t>search</a:t>
            </a:r>
            <a:r>
              <a:rPr lang="en"/>
              <a:t> bar, type “Firestore”.</a:t>
            </a:r>
            <a:endParaRPr/>
          </a:p>
        </p:txBody>
      </p:sp>
      <p:sp>
        <p:nvSpPr>
          <p:cNvPr id="287" name="Google Shape;287;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8" name="Google Shape;288;p35"/>
          <p:cNvPicPr preferRelativeResize="0"/>
          <p:nvPr/>
        </p:nvPicPr>
        <p:blipFill>
          <a:blip r:embed="rId3">
            <a:alphaModFix/>
          </a:blip>
          <a:stretch>
            <a:fillRect/>
          </a:stretch>
        </p:blipFill>
        <p:spPr>
          <a:xfrm>
            <a:off x="311700" y="1640825"/>
            <a:ext cx="8678851" cy="1861850"/>
          </a:xfrm>
          <a:prstGeom prst="rect">
            <a:avLst/>
          </a:prstGeom>
          <a:noFill/>
          <a:ln>
            <a:noFill/>
          </a:ln>
        </p:spPr>
      </p:pic>
      <p:sp>
        <p:nvSpPr>
          <p:cNvPr id="289" name="Google Shape;289;p35"/>
          <p:cNvSpPr/>
          <p:nvPr/>
        </p:nvSpPr>
        <p:spPr>
          <a:xfrm>
            <a:off x="1747200" y="1152475"/>
            <a:ext cx="2824800" cy="1206000"/>
          </a:xfrm>
          <a:prstGeom prst="leftArrow">
            <a:avLst>
              <a:gd fmla="val 50000" name="adj1"/>
              <a:gd fmla="val 50000" name="adj2"/>
            </a:avLst>
          </a:prstGeom>
          <a:solidFill>
            <a:srgbClr val="FBB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Type it here</a:t>
            </a:r>
            <a:endParaRPr/>
          </a:p>
        </p:txBody>
      </p:sp>
      <p:sp>
        <p:nvSpPr>
          <p:cNvPr id="290" name="Google Shape;290;p35"/>
          <p:cNvSpPr/>
          <p:nvPr/>
        </p:nvSpPr>
        <p:spPr>
          <a:xfrm rot="663144">
            <a:off x="1280120" y="2274845"/>
            <a:ext cx="1688518" cy="861409"/>
          </a:xfrm>
          <a:prstGeom prst="leftArrow">
            <a:avLst>
              <a:gd fmla="val 50000" name="adj1"/>
              <a:gd fmla="val 50000" name="adj2"/>
            </a:avLst>
          </a:prstGeom>
          <a:solidFill>
            <a:srgbClr val="FBB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Click here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4" name="Shape 294"/>
        <p:cNvGrpSpPr/>
        <p:nvPr/>
      </p:nvGrpSpPr>
      <p:grpSpPr>
        <a:xfrm>
          <a:off x="0" y="0"/>
          <a:ext cx="0" cy="0"/>
          <a:chOff x="0" y="0"/>
          <a:chExt cx="0" cy="0"/>
        </a:xfrm>
      </p:grpSpPr>
      <p:pic>
        <p:nvPicPr>
          <p:cNvPr id="295" name="Google Shape;295;p36"/>
          <p:cNvPicPr preferRelativeResize="0"/>
          <p:nvPr/>
        </p:nvPicPr>
        <p:blipFill>
          <a:blip r:embed="rId3">
            <a:alphaModFix/>
          </a:blip>
          <a:stretch>
            <a:fillRect/>
          </a:stretch>
        </p:blipFill>
        <p:spPr>
          <a:xfrm>
            <a:off x="152400" y="662925"/>
            <a:ext cx="8839202" cy="3385226"/>
          </a:xfrm>
          <a:prstGeom prst="rect">
            <a:avLst/>
          </a:prstGeom>
          <a:noFill/>
          <a:ln>
            <a:noFill/>
          </a:ln>
        </p:spPr>
      </p:pic>
      <p:sp>
        <p:nvSpPr>
          <p:cNvPr id="296" name="Google Shape;296;p36"/>
          <p:cNvSpPr/>
          <p:nvPr/>
        </p:nvSpPr>
        <p:spPr>
          <a:xfrm rot="-820219">
            <a:off x="3335385" y="1803912"/>
            <a:ext cx="2734257" cy="1418062"/>
          </a:xfrm>
          <a:prstGeom prst="leftArrow">
            <a:avLst>
              <a:gd fmla="val 50000" name="adj1"/>
              <a:gd fmla="val 50000" name="adj2"/>
            </a:avLst>
          </a:prstGeom>
          <a:solidFill>
            <a:srgbClr val="FBB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t>Click here</a:t>
            </a:r>
            <a:endParaRPr b="1" sz="2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00" name="Shape 300"/>
        <p:cNvGrpSpPr/>
        <p:nvPr/>
      </p:nvGrpSpPr>
      <p:grpSpPr>
        <a:xfrm>
          <a:off x="0" y="0"/>
          <a:ext cx="0" cy="0"/>
          <a:chOff x="0" y="0"/>
          <a:chExt cx="0" cy="0"/>
        </a:xfrm>
      </p:grpSpPr>
      <p:pic>
        <p:nvPicPr>
          <p:cNvPr id="301" name="Google Shape;301;p37"/>
          <p:cNvPicPr preferRelativeResize="0"/>
          <p:nvPr/>
        </p:nvPicPr>
        <p:blipFill rotWithShape="1">
          <a:blip r:embed="rId3">
            <a:alphaModFix/>
          </a:blip>
          <a:srcRect b="0" l="0" r="3707" t="0"/>
          <a:stretch/>
        </p:blipFill>
        <p:spPr>
          <a:xfrm>
            <a:off x="288550" y="152400"/>
            <a:ext cx="4828026" cy="4838700"/>
          </a:xfrm>
          <a:prstGeom prst="rect">
            <a:avLst/>
          </a:prstGeom>
          <a:noFill/>
          <a:ln>
            <a:noFill/>
          </a:ln>
        </p:spPr>
      </p:pic>
      <p:sp>
        <p:nvSpPr>
          <p:cNvPr id="302" name="Google Shape;302;p37"/>
          <p:cNvSpPr/>
          <p:nvPr/>
        </p:nvSpPr>
        <p:spPr>
          <a:xfrm>
            <a:off x="2178225" y="714575"/>
            <a:ext cx="3607800" cy="1066500"/>
          </a:xfrm>
          <a:prstGeom prst="leftArrow">
            <a:avLst>
              <a:gd fmla="val 50000" name="adj1"/>
              <a:gd fmla="val 50000" name="adj2"/>
            </a:avLst>
          </a:prstGeom>
          <a:solidFill>
            <a:srgbClr val="FBB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3" name="Google Shape;303;p37"/>
          <p:cNvSpPr/>
          <p:nvPr/>
        </p:nvSpPr>
        <p:spPr>
          <a:xfrm rot="3380500">
            <a:off x="2902015" y="2819965"/>
            <a:ext cx="1802471" cy="646919"/>
          </a:xfrm>
          <a:prstGeom prst="leftArrow">
            <a:avLst>
              <a:gd fmla="val 50000" name="adj1"/>
              <a:gd fmla="val 50000" name="adj2"/>
            </a:avLst>
          </a:prstGeom>
          <a:solidFill>
            <a:srgbClr val="FBB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Select this</a:t>
            </a:r>
            <a:endParaRPr/>
          </a:p>
        </p:txBody>
      </p:sp>
      <p:sp>
        <p:nvSpPr>
          <p:cNvPr id="304" name="Google Shape;304;p37"/>
          <p:cNvSpPr/>
          <p:nvPr/>
        </p:nvSpPr>
        <p:spPr>
          <a:xfrm>
            <a:off x="2546100" y="4344300"/>
            <a:ext cx="1928700" cy="646800"/>
          </a:xfrm>
          <a:prstGeom prst="leftArrow">
            <a:avLst>
              <a:gd fmla="val 50000" name="adj1"/>
              <a:gd fmla="val 50000" name="adj2"/>
            </a:avLst>
          </a:prstGeom>
          <a:solidFill>
            <a:srgbClr val="FBB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5" name="Google Shape;305;p37"/>
          <p:cNvSpPr/>
          <p:nvPr/>
        </p:nvSpPr>
        <p:spPr>
          <a:xfrm>
            <a:off x="5717825" y="306325"/>
            <a:ext cx="2859000" cy="3766500"/>
          </a:xfrm>
          <a:prstGeom prst="roundRect">
            <a:avLst>
              <a:gd fmla="val 16667" name="adj"/>
            </a:avLst>
          </a:prstGeom>
          <a:solidFill>
            <a:srgbClr val="FBB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04800" lvl="0" marL="457200" rtl="0" algn="l">
              <a:lnSpc>
                <a:spcPct val="115000"/>
              </a:lnSpc>
              <a:spcBef>
                <a:spcPts val="900"/>
              </a:spcBef>
              <a:spcAft>
                <a:spcPts val="0"/>
              </a:spcAft>
              <a:buClr>
                <a:srgbClr val="202124"/>
              </a:buClr>
              <a:buSzPts val="1200"/>
              <a:buFont typeface="Roboto"/>
              <a:buChar char="●"/>
            </a:pPr>
            <a:r>
              <a:rPr lang="en" sz="1200">
                <a:solidFill>
                  <a:srgbClr val="202124"/>
                </a:solidFill>
                <a:highlight>
                  <a:srgbClr val="FFFFFF"/>
                </a:highlight>
                <a:latin typeface="Roboto"/>
                <a:ea typeface="Roboto"/>
                <a:cs typeface="Roboto"/>
                <a:sym typeface="Roboto"/>
              </a:rPr>
              <a:t>Only include letters, numbers, and hyphen (</a:t>
            </a:r>
            <a:r>
              <a:rPr lang="en" sz="1100">
                <a:solidFill>
                  <a:srgbClr val="37474F"/>
                </a:solidFill>
                <a:highlight>
                  <a:srgbClr val="F1F3F4"/>
                </a:highlight>
                <a:latin typeface="Roboto Mono"/>
                <a:ea typeface="Roboto Mono"/>
                <a:cs typeface="Roboto Mono"/>
                <a:sym typeface="Roboto Mono"/>
              </a:rPr>
              <a:t>-</a:t>
            </a:r>
            <a:r>
              <a:rPr lang="en" sz="1200">
                <a:solidFill>
                  <a:srgbClr val="202124"/>
                </a:solidFill>
                <a:highlight>
                  <a:srgbClr val="FFFFFF"/>
                </a:highlight>
                <a:latin typeface="Roboto"/>
                <a:ea typeface="Roboto"/>
                <a:cs typeface="Roboto"/>
                <a:sym typeface="Roboto"/>
              </a:rPr>
              <a:t>) characters.</a:t>
            </a:r>
            <a:endParaRPr sz="1200">
              <a:solidFill>
                <a:srgbClr val="202124"/>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202124"/>
              </a:buClr>
              <a:buSzPts val="1200"/>
              <a:buFont typeface="Roboto"/>
              <a:buChar char="●"/>
            </a:pPr>
            <a:r>
              <a:rPr lang="en" sz="1200">
                <a:solidFill>
                  <a:srgbClr val="202124"/>
                </a:solidFill>
                <a:highlight>
                  <a:srgbClr val="FFFFFF"/>
                </a:highlight>
                <a:latin typeface="Roboto"/>
                <a:ea typeface="Roboto"/>
                <a:cs typeface="Roboto"/>
                <a:sym typeface="Roboto"/>
              </a:rPr>
              <a:t>Letters must be lowercase.</a:t>
            </a:r>
            <a:endParaRPr sz="1200">
              <a:solidFill>
                <a:srgbClr val="202124"/>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202124"/>
              </a:buClr>
              <a:buSzPts val="1200"/>
              <a:buFont typeface="Roboto"/>
              <a:buChar char="●"/>
            </a:pPr>
            <a:r>
              <a:rPr lang="en" sz="1200">
                <a:solidFill>
                  <a:srgbClr val="202124"/>
                </a:solidFill>
                <a:highlight>
                  <a:srgbClr val="FFFFFF"/>
                </a:highlight>
                <a:latin typeface="Roboto"/>
                <a:ea typeface="Roboto"/>
                <a:cs typeface="Roboto"/>
                <a:sym typeface="Roboto"/>
              </a:rPr>
              <a:t>The first character must be a letter.</a:t>
            </a:r>
            <a:endParaRPr sz="1200">
              <a:solidFill>
                <a:srgbClr val="202124"/>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202124"/>
              </a:buClr>
              <a:buSzPts val="1200"/>
              <a:buFont typeface="Roboto"/>
              <a:buChar char="●"/>
            </a:pPr>
            <a:r>
              <a:rPr lang="en" sz="1200">
                <a:solidFill>
                  <a:srgbClr val="202124"/>
                </a:solidFill>
                <a:highlight>
                  <a:srgbClr val="FFFFFF"/>
                </a:highlight>
                <a:latin typeface="Roboto"/>
                <a:ea typeface="Roboto"/>
                <a:cs typeface="Roboto"/>
                <a:sym typeface="Roboto"/>
              </a:rPr>
              <a:t>The last character must be a letter or number.</a:t>
            </a:r>
            <a:endParaRPr sz="1200">
              <a:solidFill>
                <a:srgbClr val="202124"/>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202124"/>
              </a:buClr>
              <a:buSzPts val="1200"/>
              <a:buFont typeface="Roboto"/>
              <a:buChar char="●"/>
            </a:pPr>
            <a:r>
              <a:rPr lang="en" sz="1200">
                <a:solidFill>
                  <a:srgbClr val="202124"/>
                </a:solidFill>
                <a:highlight>
                  <a:srgbClr val="FFFFFF"/>
                </a:highlight>
                <a:latin typeface="Roboto"/>
                <a:ea typeface="Roboto"/>
                <a:cs typeface="Roboto"/>
                <a:sym typeface="Roboto"/>
              </a:rPr>
              <a:t>Minimum of 4 characters.</a:t>
            </a:r>
            <a:endParaRPr sz="1200">
              <a:solidFill>
                <a:srgbClr val="202124"/>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202124"/>
              </a:buClr>
              <a:buSzPts val="1200"/>
              <a:buFont typeface="Roboto"/>
              <a:buChar char="●"/>
            </a:pPr>
            <a:r>
              <a:rPr lang="en" sz="1200">
                <a:solidFill>
                  <a:srgbClr val="202124"/>
                </a:solidFill>
                <a:highlight>
                  <a:srgbClr val="FFFFFF"/>
                </a:highlight>
                <a:latin typeface="Roboto"/>
                <a:ea typeface="Roboto"/>
                <a:cs typeface="Roboto"/>
                <a:sym typeface="Roboto"/>
              </a:rPr>
              <a:t>Maximum of 63 characters.</a:t>
            </a:r>
            <a:endParaRPr sz="1200">
              <a:solidFill>
                <a:srgbClr val="202124"/>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202124"/>
              </a:buClr>
              <a:buSzPts val="1200"/>
              <a:buFont typeface="Roboto"/>
              <a:buChar char="●"/>
            </a:pPr>
            <a:r>
              <a:rPr lang="en" sz="1200">
                <a:solidFill>
                  <a:srgbClr val="202124"/>
                </a:solidFill>
                <a:highlight>
                  <a:srgbClr val="FFFFFF"/>
                </a:highlight>
                <a:latin typeface="Roboto"/>
                <a:ea typeface="Roboto"/>
                <a:cs typeface="Roboto"/>
                <a:sym typeface="Roboto"/>
              </a:rPr>
              <a:t>Must not be a UUID or resemble a UUID. For example, don't use an ID like </a:t>
            </a:r>
            <a:r>
              <a:rPr lang="en" sz="1100">
                <a:solidFill>
                  <a:srgbClr val="37474F"/>
                </a:solidFill>
                <a:highlight>
                  <a:srgbClr val="F1F3F4"/>
                </a:highlight>
                <a:latin typeface="Roboto Mono"/>
                <a:ea typeface="Roboto Mono"/>
                <a:cs typeface="Roboto Mono"/>
                <a:sym typeface="Roboto Mono"/>
              </a:rPr>
              <a:t>f47ac10b-58cc-0372-8567-0e02b2c3d479</a:t>
            </a:r>
            <a:r>
              <a:rPr lang="en" sz="1200">
                <a:solidFill>
                  <a:srgbClr val="202124"/>
                </a:solidFill>
                <a:highlight>
                  <a:srgbClr val="FFFFFF"/>
                </a:highlight>
                <a:latin typeface="Roboto"/>
                <a:ea typeface="Roboto"/>
                <a:cs typeface="Roboto"/>
                <a:sym typeface="Roboto"/>
              </a:rPr>
              <a:t>.</a:t>
            </a:r>
            <a:endParaRPr sz="1200">
              <a:solidFill>
                <a:srgbClr val="202124"/>
              </a:solidFill>
              <a:highlight>
                <a:srgbClr val="FFFFFF"/>
              </a:highlight>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09" name="Shape 309"/>
        <p:cNvGrpSpPr/>
        <p:nvPr/>
      </p:nvGrpSpPr>
      <p:grpSpPr>
        <a:xfrm>
          <a:off x="0" y="0"/>
          <a:ext cx="0" cy="0"/>
          <a:chOff x="0" y="0"/>
          <a:chExt cx="0" cy="0"/>
        </a:xfrm>
      </p:grpSpPr>
      <p:pic>
        <p:nvPicPr>
          <p:cNvPr id="310" name="Google Shape;310;p38"/>
          <p:cNvPicPr preferRelativeResize="0"/>
          <p:nvPr/>
        </p:nvPicPr>
        <p:blipFill>
          <a:blip r:embed="rId3">
            <a:alphaModFix/>
          </a:blip>
          <a:stretch>
            <a:fillRect/>
          </a:stretch>
        </p:blipFill>
        <p:spPr>
          <a:xfrm>
            <a:off x="566421" y="0"/>
            <a:ext cx="6763209" cy="5143501"/>
          </a:xfrm>
          <a:prstGeom prst="rect">
            <a:avLst/>
          </a:prstGeom>
          <a:noFill/>
          <a:ln>
            <a:noFill/>
          </a:ln>
        </p:spPr>
      </p:pic>
      <p:sp>
        <p:nvSpPr>
          <p:cNvPr id="311" name="Google Shape;311;p38"/>
          <p:cNvSpPr/>
          <p:nvPr/>
        </p:nvSpPr>
        <p:spPr>
          <a:xfrm>
            <a:off x="4617400" y="1293325"/>
            <a:ext cx="2337000" cy="1077900"/>
          </a:xfrm>
          <a:prstGeom prst="leftArrow">
            <a:avLst>
              <a:gd fmla="val 50000" name="adj1"/>
              <a:gd fmla="val 50000" name="adj2"/>
            </a:avLst>
          </a:prstGeom>
          <a:solidFill>
            <a:srgbClr val="FBB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2" name="Google Shape;312;p38"/>
          <p:cNvSpPr/>
          <p:nvPr/>
        </p:nvSpPr>
        <p:spPr>
          <a:xfrm>
            <a:off x="3006400" y="2371225"/>
            <a:ext cx="5559000" cy="1973700"/>
          </a:xfrm>
          <a:prstGeom prst="leftArrow">
            <a:avLst>
              <a:gd fmla="val 50000" name="adj1"/>
              <a:gd fmla="val 50000" name="adj2"/>
            </a:avLst>
          </a:prstGeom>
          <a:solidFill>
            <a:srgbClr val="FBB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en" sz="1200">
                <a:solidFill>
                  <a:schemeClr val="dk1"/>
                </a:solidFill>
              </a:rPr>
              <a:t>**For Native mode, Google recommends restrictive initial security rules when you're not planning to use Firebase web/mobile SDKs.</a:t>
            </a:r>
            <a:endParaRPr b="1" sz="15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16" name="Shape 316"/>
        <p:cNvGrpSpPr/>
        <p:nvPr/>
      </p:nvGrpSpPr>
      <p:grpSpPr>
        <a:xfrm>
          <a:off x="0" y="0"/>
          <a:ext cx="0" cy="0"/>
          <a:chOff x="0" y="0"/>
          <a:chExt cx="0" cy="0"/>
        </a:xfrm>
      </p:grpSpPr>
      <p:pic>
        <p:nvPicPr>
          <p:cNvPr id="317" name="Google Shape;317;p39"/>
          <p:cNvPicPr preferRelativeResize="0"/>
          <p:nvPr/>
        </p:nvPicPr>
        <p:blipFill>
          <a:blip r:embed="rId3">
            <a:alphaModFix/>
          </a:blip>
          <a:stretch>
            <a:fillRect/>
          </a:stretch>
        </p:blipFill>
        <p:spPr>
          <a:xfrm>
            <a:off x="538100" y="152400"/>
            <a:ext cx="6734782" cy="4838700"/>
          </a:xfrm>
          <a:prstGeom prst="rect">
            <a:avLst/>
          </a:prstGeom>
          <a:noFill/>
          <a:ln>
            <a:noFill/>
          </a:ln>
        </p:spPr>
      </p:pic>
      <p:sp>
        <p:nvSpPr>
          <p:cNvPr id="318" name="Google Shape;318;p39"/>
          <p:cNvSpPr/>
          <p:nvPr/>
        </p:nvSpPr>
        <p:spPr>
          <a:xfrm>
            <a:off x="3199275" y="1316025"/>
            <a:ext cx="5196000" cy="3743700"/>
          </a:xfrm>
          <a:prstGeom prst="leftArrow">
            <a:avLst>
              <a:gd fmla="val 50000" name="adj1"/>
              <a:gd fmla="val 50000" name="adj2"/>
            </a:avLst>
          </a:prstGeom>
          <a:solidFill>
            <a:srgbClr val="FBB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700">
                <a:solidFill>
                  <a:schemeClr val="dk1"/>
                </a:solidFill>
              </a:rPr>
              <a:t>Choose an appropriate location close to your intended users.</a:t>
            </a:r>
            <a:endParaRPr b="1" sz="17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b="1" lang="en" sz="1700">
                <a:solidFill>
                  <a:schemeClr val="dk1"/>
                </a:solidFill>
              </a:rPr>
              <a:t>For example, if tit’s a UK application, you could choose a European region.</a:t>
            </a:r>
            <a:endParaRPr b="1" sz="1700">
              <a:solidFill>
                <a:schemeClr val="dk1"/>
              </a:solidFill>
            </a:endParaRPr>
          </a:p>
        </p:txBody>
      </p:sp>
      <p:sp>
        <p:nvSpPr>
          <p:cNvPr id="319" name="Google Shape;319;p39"/>
          <p:cNvSpPr txBox="1"/>
          <p:nvPr/>
        </p:nvSpPr>
        <p:spPr>
          <a:xfrm>
            <a:off x="4742175" y="215550"/>
            <a:ext cx="4061400" cy="726000"/>
          </a:xfrm>
          <a:prstGeom prst="rect">
            <a:avLst/>
          </a:prstGeom>
          <a:solidFill>
            <a:srgbClr val="FBBF24"/>
          </a:solidFill>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Compare the price. London is more expensive. </a:t>
            </a:r>
            <a:endParaRPr sz="18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23" name="Shape 323"/>
        <p:cNvGrpSpPr/>
        <p:nvPr/>
      </p:nvGrpSpPr>
      <p:grpSpPr>
        <a:xfrm>
          <a:off x="0" y="0"/>
          <a:ext cx="0" cy="0"/>
          <a:chOff x="0" y="0"/>
          <a:chExt cx="0" cy="0"/>
        </a:xfrm>
      </p:grpSpPr>
      <p:pic>
        <p:nvPicPr>
          <p:cNvPr id="324" name="Google Shape;324;p40"/>
          <p:cNvPicPr preferRelativeResize="0"/>
          <p:nvPr/>
        </p:nvPicPr>
        <p:blipFill>
          <a:blip r:embed="rId3">
            <a:alphaModFix/>
          </a:blip>
          <a:stretch>
            <a:fillRect/>
          </a:stretch>
        </p:blipFill>
        <p:spPr>
          <a:xfrm>
            <a:off x="1003275" y="152400"/>
            <a:ext cx="5766381" cy="4838700"/>
          </a:xfrm>
          <a:prstGeom prst="rect">
            <a:avLst/>
          </a:prstGeom>
          <a:noFill/>
          <a:ln>
            <a:noFill/>
          </a:ln>
        </p:spPr>
      </p:pic>
      <p:sp>
        <p:nvSpPr>
          <p:cNvPr id="325" name="Google Shape;325;p40"/>
          <p:cNvSpPr/>
          <p:nvPr/>
        </p:nvSpPr>
        <p:spPr>
          <a:xfrm rot="-1287187">
            <a:off x="2802185" y="3380808"/>
            <a:ext cx="2336908" cy="1145891"/>
          </a:xfrm>
          <a:prstGeom prst="leftArrow">
            <a:avLst>
              <a:gd fmla="val 50000" name="adj1"/>
              <a:gd fmla="val 50000" name="adj2"/>
            </a:avLst>
          </a:prstGeom>
          <a:solidFill>
            <a:srgbClr val="FBB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t>Click to create</a:t>
            </a:r>
            <a:endParaRPr b="1" sz="15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29" name="Shape 329"/>
        <p:cNvGrpSpPr/>
        <p:nvPr/>
      </p:nvGrpSpPr>
      <p:grpSpPr>
        <a:xfrm>
          <a:off x="0" y="0"/>
          <a:ext cx="0" cy="0"/>
          <a:chOff x="0" y="0"/>
          <a:chExt cx="0" cy="0"/>
        </a:xfrm>
      </p:grpSpPr>
      <p:pic>
        <p:nvPicPr>
          <p:cNvPr id="330" name="Google Shape;330;p41"/>
          <p:cNvPicPr preferRelativeResize="0"/>
          <p:nvPr/>
        </p:nvPicPr>
        <p:blipFill>
          <a:blip r:embed="rId3">
            <a:alphaModFix/>
          </a:blip>
          <a:stretch>
            <a:fillRect/>
          </a:stretch>
        </p:blipFill>
        <p:spPr>
          <a:xfrm>
            <a:off x="152400" y="299875"/>
            <a:ext cx="8839204" cy="464403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34" name="Shape 334"/>
        <p:cNvGrpSpPr/>
        <p:nvPr/>
      </p:nvGrpSpPr>
      <p:grpSpPr>
        <a:xfrm>
          <a:off x="0" y="0"/>
          <a:ext cx="0" cy="0"/>
          <a:chOff x="0" y="0"/>
          <a:chExt cx="0" cy="0"/>
        </a:xfrm>
      </p:grpSpPr>
      <p:sp>
        <p:nvSpPr>
          <p:cNvPr id="335" name="Google Shape;335;p42"/>
          <p:cNvSpPr txBox="1"/>
          <p:nvPr/>
        </p:nvSpPr>
        <p:spPr>
          <a:xfrm>
            <a:off x="476250" y="381000"/>
            <a:ext cx="5334000" cy="762000"/>
          </a:xfrm>
          <a:prstGeom prst="rect">
            <a:avLst/>
          </a:prstGeom>
          <a:solidFill>
            <a:srgbClr val="60A5FA"/>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2600">
                <a:solidFill>
                  <a:schemeClr val="lt1"/>
                </a:solidFill>
                <a:latin typeface="Arial"/>
                <a:ea typeface="Arial"/>
                <a:cs typeface="Arial"/>
                <a:sym typeface="Arial"/>
              </a:rPr>
              <a:t>  </a:t>
            </a:r>
            <a:r>
              <a:rPr b="1" lang="en" sz="2600">
                <a:solidFill>
                  <a:schemeClr val="lt1"/>
                </a:solidFill>
                <a:latin typeface="Arial"/>
                <a:ea typeface="Arial"/>
                <a:cs typeface="Arial"/>
                <a:sym typeface="Arial"/>
              </a:rPr>
              <a:t>4. Create the application folder</a:t>
            </a:r>
            <a:endParaRPr b="1" sz="2600">
              <a:solidFill>
                <a:schemeClr val="lt1"/>
              </a:solidFill>
              <a:latin typeface="Arial"/>
              <a:ea typeface="Arial"/>
              <a:cs typeface="Arial"/>
              <a:sym typeface="Arial"/>
            </a:endParaRPr>
          </a:p>
        </p:txBody>
      </p:sp>
      <p:grpSp>
        <p:nvGrpSpPr>
          <p:cNvPr id="336" name="Google Shape;336;p42"/>
          <p:cNvGrpSpPr/>
          <p:nvPr/>
        </p:nvGrpSpPr>
        <p:grpSpPr>
          <a:xfrm>
            <a:off x="601050" y="1235875"/>
            <a:ext cx="2476500" cy="2952900"/>
            <a:chOff x="0" y="0"/>
            <a:chExt cx="2476500" cy="2952900"/>
          </a:xfrm>
        </p:grpSpPr>
        <p:sp>
          <p:nvSpPr>
            <p:cNvPr id="337" name="Google Shape;337;p42"/>
            <p:cNvSpPr/>
            <p:nvPr/>
          </p:nvSpPr>
          <p:spPr>
            <a:xfrm>
              <a:off x="0" y="0"/>
              <a:ext cx="2476500" cy="2952900"/>
            </a:xfrm>
            <a:prstGeom prst="roundRect">
              <a:avLst>
                <a:gd fmla="val 4615" name="adj"/>
              </a:avLst>
            </a:prstGeom>
            <a:solidFill>
              <a:schemeClr val="dk1"/>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 name="Google Shape;338;p42"/>
            <p:cNvSpPr txBox="1"/>
            <p:nvPr/>
          </p:nvSpPr>
          <p:spPr>
            <a:xfrm>
              <a:off x="190500" y="238125"/>
              <a:ext cx="2095500" cy="24765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b="1" lang="en" sz="2200">
                  <a:solidFill>
                    <a:srgbClr val="FFAB40"/>
                  </a:solidFill>
                  <a:latin typeface="Arial"/>
                  <a:ea typeface="Arial"/>
                  <a:cs typeface="Arial"/>
                  <a:sym typeface="Arial"/>
                </a:rPr>
                <a:t>Step 01</a:t>
              </a:r>
              <a:endParaRPr b="1" sz="2200">
                <a:solidFill>
                  <a:srgbClr val="FFAB40"/>
                </a:solidFill>
                <a:latin typeface="Arial"/>
                <a:ea typeface="Arial"/>
                <a:cs typeface="Arial"/>
                <a:sym typeface="Arial"/>
              </a:endParaRPr>
            </a:p>
            <a:p>
              <a:pPr indent="0" lvl="0" marL="0" rtl="0" algn="l">
                <a:spcBef>
                  <a:spcPts val="900"/>
                </a:spcBef>
                <a:spcAft>
                  <a:spcPts val="0"/>
                </a:spcAft>
                <a:buNone/>
              </a:pPr>
              <a:r>
                <a:rPr b="1" lang="en" sz="1600">
                  <a:solidFill>
                    <a:schemeClr val="lt1"/>
                  </a:solidFill>
                  <a:latin typeface="Arial"/>
                  <a:ea typeface="Arial"/>
                  <a:cs typeface="Arial"/>
                  <a:sym typeface="Arial"/>
                </a:rPr>
                <a:t>Access Terminal</a:t>
              </a:r>
              <a:endParaRPr b="1" sz="1600">
                <a:solidFill>
                  <a:schemeClr val="lt1"/>
                </a:solidFill>
                <a:latin typeface="Arial"/>
                <a:ea typeface="Arial"/>
                <a:cs typeface="Arial"/>
                <a:sym typeface="Arial"/>
              </a:endParaRPr>
            </a:p>
            <a:p>
              <a:pPr indent="0" lvl="0" marL="0" rtl="0" algn="l">
                <a:spcBef>
                  <a:spcPts val="1200"/>
                </a:spcBef>
                <a:spcAft>
                  <a:spcPts val="0"/>
                </a:spcAft>
                <a:buNone/>
              </a:pPr>
              <a:r>
                <a:rPr b="1" lang="en" sz="1600">
                  <a:solidFill>
                    <a:schemeClr val="lt1"/>
                  </a:solidFill>
                </a:rPr>
                <a:t>G</a:t>
              </a:r>
              <a:r>
                <a:rPr b="1" lang="en" sz="1600">
                  <a:solidFill>
                    <a:schemeClr val="lt1"/>
                  </a:solidFill>
                </a:rPr>
                <a:t>o</a:t>
              </a:r>
              <a:r>
                <a:rPr b="1" lang="en" sz="1600">
                  <a:solidFill>
                    <a:schemeClr val="lt1"/>
                  </a:solidFill>
                </a:rPr>
                <a:t> back to Cloud Shell to begin setting up your environment.</a:t>
              </a:r>
              <a:endParaRPr b="1" sz="1600">
                <a:solidFill>
                  <a:schemeClr val="lt1"/>
                </a:solidFill>
              </a:endParaRPr>
            </a:p>
            <a:p>
              <a:pPr indent="0" lvl="0" marL="0" rtl="0" algn="l">
                <a:spcBef>
                  <a:spcPts val="1800"/>
                </a:spcBef>
                <a:spcAft>
                  <a:spcPts val="0"/>
                </a:spcAft>
                <a:buNone/>
              </a:pPr>
              <a:r>
                <a:rPr b="1" lang="en" sz="1600">
                  <a:solidFill>
                    <a:schemeClr val="lt1"/>
                  </a:solidFill>
                  <a:highlight>
                    <a:schemeClr val="dk1"/>
                  </a:highlight>
                  <a:latin typeface="Material Icons"/>
                  <a:ea typeface="Material Icons"/>
                  <a:cs typeface="Material Icons"/>
                  <a:sym typeface="Material Icons"/>
                </a:rPr>
                <a:t>terminal</a:t>
              </a:r>
              <a:r>
                <a:rPr b="1" lang="en" sz="1600">
                  <a:solidFill>
                    <a:schemeClr val="lt1"/>
                  </a:solidFill>
                  <a:highlight>
                    <a:schemeClr val="dk1"/>
                  </a:highlight>
                  <a:latin typeface="Arial"/>
                  <a:ea typeface="Arial"/>
                  <a:cs typeface="Arial"/>
                  <a:sym typeface="Arial"/>
                </a:rPr>
                <a:t>Cloud Shell Active</a:t>
              </a:r>
              <a:endParaRPr b="1" sz="1600">
                <a:solidFill>
                  <a:schemeClr val="lt1"/>
                </a:solidFill>
                <a:highlight>
                  <a:schemeClr val="dk1"/>
                </a:highlight>
              </a:endParaRPr>
            </a:p>
          </p:txBody>
        </p:sp>
      </p:grpSp>
      <p:grpSp>
        <p:nvGrpSpPr>
          <p:cNvPr id="339" name="Google Shape;339;p42"/>
          <p:cNvGrpSpPr/>
          <p:nvPr/>
        </p:nvGrpSpPr>
        <p:grpSpPr>
          <a:xfrm>
            <a:off x="3413175" y="1235875"/>
            <a:ext cx="2476500" cy="2952900"/>
            <a:chOff x="79425" y="-56725"/>
            <a:chExt cx="2476500" cy="2952900"/>
          </a:xfrm>
        </p:grpSpPr>
        <p:sp>
          <p:nvSpPr>
            <p:cNvPr id="340" name="Google Shape;340;p42"/>
            <p:cNvSpPr/>
            <p:nvPr/>
          </p:nvSpPr>
          <p:spPr>
            <a:xfrm>
              <a:off x="79425" y="-56725"/>
              <a:ext cx="2476500" cy="2952900"/>
            </a:xfrm>
            <a:prstGeom prst="roundRect">
              <a:avLst>
                <a:gd fmla="val 4615" name="adj"/>
              </a:avLst>
            </a:prstGeom>
            <a:solidFill>
              <a:schemeClr val="dk1"/>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1" name="Google Shape;341;p42"/>
            <p:cNvSpPr txBox="1"/>
            <p:nvPr/>
          </p:nvSpPr>
          <p:spPr>
            <a:xfrm>
              <a:off x="190500" y="238125"/>
              <a:ext cx="20955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FFAB40"/>
                  </a:solidFill>
                  <a:latin typeface="Arial"/>
                  <a:ea typeface="Arial"/>
                  <a:cs typeface="Arial"/>
                  <a:sym typeface="Arial"/>
                </a:rPr>
                <a:t>Step 02</a:t>
              </a:r>
              <a:endParaRPr b="1" sz="2000">
                <a:solidFill>
                  <a:srgbClr val="FFAB40"/>
                </a:solidFill>
                <a:latin typeface="Arial"/>
                <a:ea typeface="Arial"/>
                <a:cs typeface="Arial"/>
                <a:sym typeface="Arial"/>
              </a:endParaRPr>
            </a:p>
            <a:p>
              <a:pPr indent="0" lvl="0" marL="0" rtl="0" algn="l">
                <a:spcBef>
                  <a:spcPts val="900"/>
                </a:spcBef>
                <a:spcAft>
                  <a:spcPts val="0"/>
                </a:spcAft>
                <a:buNone/>
              </a:pPr>
              <a:r>
                <a:rPr b="1" lang="en" sz="1600">
                  <a:solidFill>
                    <a:schemeClr val="lt1"/>
                  </a:solidFill>
                  <a:latin typeface="Arial"/>
                  <a:ea typeface="Arial"/>
                  <a:cs typeface="Arial"/>
                  <a:sym typeface="Arial"/>
                </a:rPr>
                <a:t>Create Directory</a:t>
              </a:r>
              <a:endParaRPr b="1" sz="1600">
                <a:solidFill>
                  <a:schemeClr val="lt1"/>
                </a:solidFill>
                <a:latin typeface="Arial"/>
                <a:ea typeface="Arial"/>
                <a:cs typeface="Arial"/>
                <a:sym typeface="Arial"/>
              </a:endParaRPr>
            </a:p>
            <a:p>
              <a:pPr indent="0" lvl="0" marL="0" rtl="0" algn="l">
                <a:spcBef>
                  <a:spcPts val="1200"/>
                </a:spcBef>
                <a:spcAft>
                  <a:spcPts val="0"/>
                </a:spcAft>
                <a:buNone/>
              </a:pPr>
              <a:r>
                <a:rPr b="0" lang="en" sz="1700">
                  <a:solidFill>
                    <a:schemeClr val="lt1"/>
                  </a:solidFill>
                  <a:latin typeface="Arial"/>
                  <a:ea typeface="Arial"/>
                  <a:cs typeface="Arial"/>
                  <a:sym typeface="Arial"/>
                </a:rPr>
                <a:t>Run the command to create the workspace folder:</a:t>
              </a:r>
              <a:endParaRPr b="0" sz="1700">
                <a:solidFill>
                  <a:schemeClr val="lt1"/>
                </a:solidFill>
                <a:latin typeface="Arial"/>
                <a:ea typeface="Arial"/>
                <a:cs typeface="Arial"/>
                <a:sym typeface="Arial"/>
              </a:endParaRPr>
            </a:p>
            <a:p>
              <a:pPr indent="0" lvl="0" marL="0" rtl="0" algn="l">
                <a:spcBef>
                  <a:spcPts val="1200"/>
                </a:spcBef>
                <a:spcAft>
                  <a:spcPts val="0"/>
                </a:spcAft>
                <a:buNone/>
              </a:pPr>
              <a:r>
                <a:rPr b="1" lang="en" sz="1500">
                  <a:solidFill>
                    <a:schemeClr val="lt1"/>
                  </a:solidFill>
                  <a:highlight>
                    <a:srgbClr val="0F172A"/>
                  </a:highlight>
                  <a:latin typeface="Courier New"/>
                  <a:ea typeface="Courier New"/>
                  <a:cs typeface="Courier New"/>
                  <a:sym typeface="Courier New"/>
                </a:rPr>
                <a:t>$ mkdir community-feedback</a:t>
              </a:r>
              <a:endParaRPr b="1" sz="1500">
                <a:solidFill>
                  <a:schemeClr val="lt1"/>
                </a:solidFill>
                <a:highlight>
                  <a:srgbClr val="0F172A"/>
                </a:highlight>
                <a:latin typeface="Courier New"/>
                <a:ea typeface="Courier New"/>
                <a:cs typeface="Courier New"/>
                <a:sym typeface="Courier New"/>
              </a:endParaRPr>
            </a:p>
          </p:txBody>
        </p:sp>
      </p:grpSp>
      <p:grpSp>
        <p:nvGrpSpPr>
          <p:cNvPr id="342" name="Google Shape;342;p42"/>
          <p:cNvGrpSpPr/>
          <p:nvPr/>
        </p:nvGrpSpPr>
        <p:grpSpPr>
          <a:xfrm>
            <a:off x="6168550" y="1235875"/>
            <a:ext cx="2476500" cy="2952900"/>
            <a:chOff x="0" y="0"/>
            <a:chExt cx="2476500" cy="2952900"/>
          </a:xfrm>
        </p:grpSpPr>
        <p:sp>
          <p:nvSpPr>
            <p:cNvPr id="343" name="Google Shape;343;p42"/>
            <p:cNvSpPr/>
            <p:nvPr/>
          </p:nvSpPr>
          <p:spPr>
            <a:xfrm>
              <a:off x="0" y="0"/>
              <a:ext cx="2476500" cy="2952900"/>
            </a:xfrm>
            <a:prstGeom prst="roundRect">
              <a:avLst>
                <a:gd fmla="val 4615" name="adj"/>
              </a:avLst>
            </a:prstGeom>
            <a:solidFill>
              <a:schemeClr val="dk1"/>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42"/>
            <p:cNvSpPr txBox="1"/>
            <p:nvPr/>
          </p:nvSpPr>
          <p:spPr>
            <a:xfrm>
              <a:off x="190500" y="238125"/>
              <a:ext cx="20955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FFAB40"/>
                  </a:solidFill>
                  <a:latin typeface="Arial"/>
                  <a:ea typeface="Arial"/>
                  <a:cs typeface="Arial"/>
                  <a:sym typeface="Arial"/>
                </a:rPr>
                <a:t>Step 03</a:t>
              </a:r>
              <a:endParaRPr b="1" sz="2000">
                <a:solidFill>
                  <a:srgbClr val="FFAB40"/>
                </a:solidFill>
                <a:latin typeface="Arial"/>
                <a:ea typeface="Arial"/>
                <a:cs typeface="Arial"/>
                <a:sym typeface="Arial"/>
              </a:endParaRPr>
            </a:p>
            <a:p>
              <a:pPr indent="0" lvl="0" marL="0" rtl="0" algn="l">
                <a:spcBef>
                  <a:spcPts val="900"/>
                </a:spcBef>
                <a:spcAft>
                  <a:spcPts val="0"/>
                </a:spcAft>
                <a:buNone/>
              </a:pPr>
              <a:r>
                <a:rPr b="1" lang="en" sz="1600">
                  <a:solidFill>
                    <a:schemeClr val="lt1"/>
                  </a:solidFill>
                  <a:latin typeface="Arial"/>
                  <a:ea typeface="Arial"/>
                  <a:cs typeface="Arial"/>
                  <a:sym typeface="Arial"/>
                </a:rPr>
                <a:t>Enter &amp; Verify</a:t>
              </a:r>
              <a:endParaRPr b="1" sz="1600">
                <a:solidFill>
                  <a:schemeClr val="lt1"/>
                </a:solidFill>
                <a:latin typeface="Arial"/>
                <a:ea typeface="Arial"/>
                <a:cs typeface="Arial"/>
                <a:sym typeface="Arial"/>
              </a:endParaRPr>
            </a:p>
            <a:p>
              <a:pPr indent="0" lvl="0" marL="0" rtl="0" algn="l">
                <a:spcBef>
                  <a:spcPts val="1200"/>
                </a:spcBef>
                <a:spcAft>
                  <a:spcPts val="0"/>
                </a:spcAft>
                <a:buNone/>
              </a:pPr>
              <a:r>
                <a:rPr b="0" lang="en" sz="1700">
                  <a:solidFill>
                    <a:schemeClr val="lt1"/>
                  </a:solidFill>
                  <a:latin typeface="Arial"/>
                  <a:ea typeface="Arial"/>
                  <a:cs typeface="Arial"/>
                  <a:sym typeface="Arial"/>
                </a:rPr>
                <a:t>Change directory and check your location:</a:t>
              </a:r>
              <a:endParaRPr b="0" sz="1700">
                <a:solidFill>
                  <a:schemeClr val="lt1"/>
                </a:solidFill>
                <a:latin typeface="Arial"/>
                <a:ea typeface="Arial"/>
                <a:cs typeface="Arial"/>
                <a:sym typeface="Arial"/>
              </a:endParaRPr>
            </a:p>
            <a:p>
              <a:pPr indent="0" lvl="0" marL="0" rtl="0" algn="l">
                <a:spcBef>
                  <a:spcPts val="1200"/>
                </a:spcBef>
                <a:spcAft>
                  <a:spcPts val="0"/>
                </a:spcAft>
                <a:buNone/>
              </a:pPr>
              <a:r>
                <a:rPr b="1" lang="en" sz="1500">
                  <a:solidFill>
                    <a:schemeClr val="lt1"/>
                  </a:solidFill>
                  <a:highlight>
                    <a:srgbClr val="0F172A"/>
                  </a:highlight>
                  <a:latin typeface="Courier New"/>
                  <a:ea typeface="Courier New"/>
                  <a:cs typeface="Courier New"/>
                  <a:sym typeface="Courier New"/>
                </a:rPr>
                <a:t>$ cd community-feedback</a:t>
              </a:r>
              <a:endParaRPr b="1" sz="1500">
                <a:solidFill>
                  <a:schemeClr val="lt1"/>
                </a:solidFill>
                <a:highlight>
                  <a:srgbClr val="0F172A"/>
                </a:highlight>
                <a:latin typeface="Courier New"/>
                <a:ea typeface="Courier New"/>
                <a:cs typeface="Courier New"/>
                <a:sym typeface="Courier New"/>
              </a:endParaRPr>
            </a:p>
            <a:p>
              <a:pPr indent="0" lvl="0" marL="0" rtl="0" algn="l">
                <a:spcBef>
                  <a:spcPts val="450"/>
                </a:spcBef>
                <a:spcAft>
                  <a:spcPts val="0"/>
                </a:spcAft>
                <a:buNone/>
              </a:pPr>
              <a:r>
                <a:rPr b="1" lang="en" sz="1500">
                  <a:solidFill>
                    <a:schemeClr val="lt1"/>
                  </a:solidFill>
                  <a:highlight>
                    <a:srgbClr val="0F172A"/>
                  </a:highlight>
                  <a:latin typeface="Courier New"/>
                  <a:ea typeface="Courier New"/>
                  <a:cs typeface="Courier New"/>
                  <a:sym typeface="Courier New"/>
                </a:rPr>
                <a:t>$ pwd</a:t>
              </a:r>
              <a:endParaRPr b="1" sz="1500">
                <a:solidFill>
                  <a:schemeClr val="lt1"/>
                </a:solidFill>
                <a:highlight>
                  <a:srgbClr val="0F172A"/>
                </a:highlight>
                <a:latin typeface="Courier New"/>
                <a:ea typeface="Courier New"/>
                <a:cs typeface="Courier New"/>
                <a:sym typeface="Courier New"/>
              </a:endParaRPr>
            </a:p>
          </p:txBody>
        </p:sp>
      </p:grpSp>
      <p:sp>
        <p:nvSpPr>
          <p:cNvPr id="345" name="Google Shape;345;p42"/>
          <p:cNvSpPr txBox="1"/>
          <p:nvPr/>
        </p:nvSpPr>
        <p:spPr>
          <a:xfrm>
            <a:off x="533100" y="4281650"/>
            <a:ext cx="8077800" cy="762000"/>
          </a:xfrm>
          <a:prstGeom prst="rect">
            <a:avLst/>
          </a:prstGeom>
          <a:noFill/>
          <a:ln cap="flat" cmpd="sng" w="38100">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sz="1900">
                <a:solidFill>
                  <a:schemeClr val="lt1"/>
                </a:solidFill>
                <a:latin typeface="Roboto Mono"/>
                <a:ea typeface="Roboto Mono"/>
                <a:cs typeface="Roboto Mono"/>
                <a:sym typeface="Roboto Mono"/>
              </a:rPr>
              <a:t>pwd</a:t>
            </a:r>
            <a:r>
              <a:rPr lang="en" sz="1900">
                <a:solidFill>
                  <a:schemeClr val="lt1"/>
                </a:solidFill>
              </a:rPr>
              <a:t> means </a:t>
            </a:r>
            <a:r>
              <a:rPr b="1" lang="en" sz="1900">
                <a:solidFill>
                  <a:schemeClr val="lt1"/>
                </a:solidFill>
              </a:rPr>
              <a:t>“print working directory.” </a:t>
            </a:r>
            <a:r>
              <a:rPr lang="en" sz="1900">
                <a:solidFill>
                  <a:schemeClr val="lt1"/>
                </a:solidFill>
              </a:rPr>
              <a:t>It is a simple terminal command that tells you </a:t>
            </a:r>
            <a:r>
              <a:rPr b="1" lang="en" sz="1900">
                <a:solidFill>
                  <a:schemeClr val="lt1"/>
                </a:solidFill>
              </a:rPr>
              <a:t>which folder you are currently working in</a:t>
            </a:r>
            <a:r>
              <a:rPr lang="en" sz="1900">
                <a:solidFill>
                  <a:schemeClr val="lt1"/>
                </a:solidFill>
              </a:rPr>
              <a:t>.</a:t>
            </a:r>
            <a:endParaRPr sz="1900">
              <a:solidFill>
                <a:schemeClr val="l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49" name="Shape 349"/>
        <p:cNvGrpSpPr/>
        <p:nvPr/>
      </p:nvGrpSpPr>
      <p:grpSpPr>
        <a:xfrm>
          <a:off x="0" y="0"/>
          <a:ext cx="0" cy="0"/>
          <a:chOff x="0" y="0"/>
          <a:chExt cx="0" cy="0"/>
        </a:xfrm>
      </p:grpSpPr>
      <p:sp>
        <p:nvSpPr>
          <p:cNvPr id="350" name="Google Shape;350;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351" name="Google Shape;351;p43"/>
          <p:cNvPicPr preferRelativeResize="0"/>
          <p:nvPr/>
        </p:nvPicPr>
        <p:blipFill>
          <a:blip r:embed="rId3">
            <a:alphaModFix/>
          </a:blip>
          <a:stretch>
            <a:fillRect/>
          </a:stretch>
        </p:blipFill>
        <p:spPr>
          <a:xfrm>
            <a:off x="311700" y="237701"/>
            <a:ext cx="8231499" cy="47761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5" name="Shape 355"/>
        <p:cNvGrpSpPr/>
        <p:nvPr/>
      </p:nvGrpSpPr>
      <p:grpSpPr>
        <a:xfrm>
          <a:off x="0" y="0"/>
          <a:ext cx="0" cy="0"/>
          <a:chOff x="0" y="0"/>
          <a:chExt cx="0" cy="0"/>
        </a:xfrm>
      </p:grpSpPr>
      <p:grpSp>
        <p:nvGrpSpPr>
          <p:cNvPr id="356" name="Google Shape;356;p44"/>
          <p:cNvGrpSpPr/>
          <p:nvPr/>
        </p:nvGrpSpPr>
        <p:grpSpPr>
          <a:xfrm>
            <a:off x="476250" y="381000"/>
            <a:ext cx="5334000" cy="762000"/>
            <a:chOff x="0" y="0"/>
            <a:chExt cx="5334000" cy="762000"/>
          </a:xfrm>
        </p:grpSpPr>
        <p:sp>
          <p:nvSpPr>
            <p:cNvPr id="357" name="Google Shape;357;p44"/>
            <p:cNvSpPr/>
            <p:nvPr/>
          </p:nvSpPr>
          <p:spPr>
            <a:xfrm>
              <a:off x="0" y="0"/>
              <a:ext cx="5334000" cy="762000"/>
            </a:xfrm>
            <a:prstGeom prst="rect">
              <a:avLst/>
            </a:prstGeom>
            <a:solidFill>
              <a:srgbClr val="60A5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 name="Google Shape;358;p44"/>
            <p:cNvSpPr txBox="1"/>
            <p:nvPr/>
          </p:nvSpPr>
          <p:spPr>
            <a:xfrm>
              <a:off x="0" y="0"/>
              <a:ext cx="5334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600">
                  <a:solidFill>
                    <a:srgbClr val="FFFFFF"/>
                  </a:solidFill>
                  <a:latin typeface="Arial"/>
                  <a:ea typeface="Arial"/>
                  <a:cs typeface="Arial"/>
                  <a:sym typeface="Arial"/>
                </a:rPr>
                <a:t>5. Create the Python application</a:t>
              </a:r>
              <a:endParaRPr b="1" sz="2600">
                <a:solidFill>
                  <a:srgbClr val="FFFFFF"/>
                </a:solidFill>
                <a:latin typeface="Arial"/>
                <a:ea typeface="Arial"/>
                <a:cs typeface="Arial"/>
                <a:sym typeface="Arial"/>
              </a:endParaRPr>
            </a:p>
          </p:txBody>
        </p:sp>
      </p:grpSp>
      <p:grpSp>
        <p:nvGrpSpPr>
          <p:cNvPr id="359" name="Google Shape;359;p44"/>
          <p:cNvGrpSpPr/>
          <p:nvPr/>
        </p:nvGrpSpPr>
        <p:grpSpPr>
          <a:xfrm>
            <a:off x="600075" y="1285875"/>
            <a:ext cx="2476500" cy="2857500"/>
            <a:chOff x="0" y="0"/>
            <a:chExt cx="2476500" cy="2857500"/>
          </a:xfrm>
        </p:grpSpPr>
        <p:sp>
          <p:nvSpPr>
            <p:cNvPr id="360" name="Google Shape;360;p44"/>
            <p:cNvSpPr/>
            <p:nvPr/>
          </p:nvSpPr>
          <p:spPr>
            <a:xfrm>
              <a:off x="0" y="0"/>
              <a:ext cx="2476500" cy="2857500"/>
            </a:xfrm>
            <a:prstGeom prst="roundRect">
              <a:avLst>
                <a:gd fmla="val 4615" name="adj"/>
              </a:avLst>
            </a:prstGeom>
            <a:solidFill>
              <a:srgbClr val="000000"/>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1" name="Google Shape;361;p44"/>
            <p:cNvSpPr txBox="1"/>
            <p:nvPr/>
          </p:nvSpPr>
          <p:spPr>
            <a:xfrm>
              <a:off x="190500" y="238125"/>
              <a:ext cx="20955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FFAB40"/>
                  </a:solidFill>
                  <a:latin typeface="Arial"/>
                  <a:ea typeface="Arial"/>
                  <a:cs typeface="Arial"/>
                  <a:sym typeface="Arial"/>
                </a:rPr>
                <a:t>Step 01</a:t>
              </a:r>
              <a:endParaRPr b="1" sz="2000">
                <a:solidFill>
                  <a:srgbClr val="FFAB40"/>
                </a:solidFill>
                <a:latin typeface="Arial"/>
                <a:ea typeface="Arial"/>
                <a:cs typeface="Arial"/>
                <a:sym typeface="Arial"/>
              </a:endParaRPr>
            </a:p>
            <a:p>
              <a:pPr indent="0" lvl="0" marL="0" rtl="0" algn="l">
                <a:spcBef>
                  <a:spcPts val="900"/>
                </a:spcBef>
                <a:spcAft>
                  <a:spcPts val="0"/>
                </a:spcAft>
                <a:buNone/>
              </a:pPr>
              <a:r>
                <a:rPr b="1" lang="en" sz="1600">
                  <a:solidFill>
                    <a:srgbClr val="FFFFFF"/>
                  </a:solidFill>
                  <a:latin typeface="Arial"/>
                  <a:ea typeface="Arial"/>
                  <a:cs typeface="Arial"/>
                  <a:sym typeface="Arial"/>
                </a:rPr>
                <a:t>Create File</a:t>
              </a:r>
              <a:endParaRPr b="1" sz="1600">
                <a:solidFill>
                  <a:srgbClr val="FFFFFF"/>
                </a:solidFill>
                <a:latin typeface="Arial"/>
                <a:ea typeface="Arial"/>
                <a:cs typeface="Arial"/>
                <a:sym typeface="Arial"/>
              </a:endParaRPr>
            </a:p>
            <a:p>
              <a:pPr indent="0" lvl="0" marL="0" rtl="0" algn="l">
                <a:spcBef>
                  <a:spcPts val="1200"/>
                </a:spcBef>
                <a:spcAft>
                  <a:spcPts val="0"/>
                </a:spcAft>
                <a:buNone/>
              </a:pPr>
              <a:r>
                <a:rPr b="0" lang="en" sz="1400">
                  <a:solidFill>
                    <a:srgbClr val="FFFFFF"/>
                  </a:solidFill>
                  <a:latin typeface="Arial"/>
                  <a:ea typeface="Arial"/>
                  <a:cs typeface="Arial"/>
                  <a:sym typeface="Arial"/>
                </a:rPr>
                <a:t>Create the main file in your workspace directory:</a:t>
              </a:r>
              <a:endParaRPr b="0" sz="1400">
                <a:solidFill>
                  <a:srgbClr val="FFFFFF"/>
                </a:solidFill>
                <a:latin typeface="Arial"/>
                <a:ea typeface="Arial"/>
                <a:cs typeface="Arial"/>
                <a:sym typeface="Arial"/>
              </a:endParaRPr>
            </a:p>
            <a:p>
              <a:pPr indent="0" lvl="0" marL="0" rtl="0" algn="l">
                <a:spcBef>
                  <a:spcPts val="1500"/>
                </a:spcBef>
                <a:spcAft>
                  <a:spcPts val="0"/>
                </a:spcAft>
                <a:buNone/>
              </a:pPr>
              <a:r>
                <a:rPr b="1" lang="en" sz="1400">
                  <a:solidFill>
                    <a:srgbClr val="FFFFFF"/>
                  </a:solidFill>
                  <a:highlight>
                    <a:srgbClr val="0F172A"/>
                  </a:highlight>
                  <a:latin typeface="Courier New"/>
                  <a:ea typeface="Courier New"/>
                  <a:cs typeface="Courier New"/>
                  <a:sym typeface="Courier New"/>
                </a:rPr>
                <a:t>$ touch main.py</a:t>
              </a:r>
              <a:endParaRPr b="1" sz="1400">
                <a:solidFill>
                  <a:srgbClr val="FFFFFF"/>
                </a:solidFill>
                <a:highlight>
                  <a:srgbClr val="0F172A"/>
                </a:highlight>
                <a:latin typeface="Courier New"/>
                <a:ea typeface="Courier New"/>
                <a:cs typeface="Courier New"/>
                <a:sym typeface="Courier New"/>
              </a:endParaRPr>
            </a:p>
          </p:txBody>
        </p:sp>
      </p:grpSp>
      <p:grpSp>
        <p:nvGrpSpPr>
          <p:cNvPr id="362" name="Google Shape;362;p44"/>
          <p:cNvGrpSpPr/>
          <p:nvPr/>
        </p:nvGrpSpPr>
        <p:grpSpPr>
          <a:xfrm>
            <a:off x="3333750" y="1285875"/>
            <a:ext cx="2476500" cy="2857500"/>
            <a:chOff x="0" y="0"/>
            <a:chExt cx="2476500" cy="2857500"/>
          </a:xfrm>
        </p:grpSpPr>
        <p:sp>
          <p:nvSpPr>
            <p:cNvPr id="363" name="Google Shape;363;p44"/>
            <p:cNvSpPr/>
            <p:nvPr/>
          </p:nvSpPr>
          <p:spPr>
            <a:xfrm>
              <a:off x="0" y="0"/>
              <a:ext cx="2476500" cy="2857500"/>
            </a:xfrm>
            <a:prstGeom prst="roundRect">
              <a:avLst>
                <a:gd fmla="val 4615" name="adj"/>
              </a:avLst>
            </a:prstGeom>
            <a:solidFill>
              <a:srgbClr val="000000"/>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4" name="Google Shape;364;p44"/>
            <p:cNvSpPr txBox="1"/>
            <p:nvPr/>
          </p:nvSpPr>
          <p:spPr>
            <a:xfrm>
              <a:off x="190500" y="238125"/>
              <a:ext cx="20955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FFAB40"/>
                  </a:solidFill>
                  <a:latin typeface="Arial"/>
                  <a:ea typeface="Arial"/>
                  <a:cs typeface="Arial"/>
                  <a:sym typeface="Arial"/>
                </a:rPr>
                <a:t>Step 02</a:t>
              </a:r>
              <a:endParaRPr b="1" sz="2000">
                <a:solidFill>
                  <a:srgbClr val="FFAB40"/>
                </a:solidFill>
                <a:latin typeface="Arial"/>
                <a:ea typeface="Arial"/>
                <a:cs typeface="Arial"/>
                <a:sym typeface="Arial"/>
              </a:endParaRPr>
            </a:p>
            <a:p>
              <a:pPr indent="0" lvl="0" marL="0" rtl="0" algn="l">
                <a:spcBef>
                  <a:spcPts val="900"/>
                </a:spcBef>
                <a:spcAft>
                  <a:spcPts val="0"/>
                </a:spcAft>
                <a:buNone/>
              </a:pPr>
              <a:r>
                <a:rPr b="1" lang="en" sz="1600">
                  <a:solidFill>
                    <a:srgbClr val="FFFFFF"/>
                  </a:solidFill>
                  <a:latin typeface="Arial"/>
                  <a:ea typeface="Arial"/>
                  <a:cs typeface="Arial"/>
                  <a:sym typeface="Arial"/>
                </a:rPr>
                <a:t>Open Editor</a:t>
              </a:r>
              <a:endParaRPr b="1" sz="1600">
                <a:solidFill>
                  <a:srgbClr val="FFFFFF"/>
                </a:solidFill>
                <a:latin typeface="Arial"/>
                <a:ea typeface="Arial"/>
                <a:cs typeface="Arial"/>
                <a:sym typeface="Arial"/>
              </a:endParaRPr>
            </a:p>
            <a:p>
              <a:pPr indent="0" lvl="0" marL="0" rtl="0" algn="l">
                <a:spcBef>
                  <a:spcPts val="1200"/>
                </a:spcBef>
                <a:spcAft>
                  <a:spcPts val="0"/>
                </a:spcAft>
                <a:buNone/>
              </a:pPr>
              <a:r>
                <a:rPr b="0" lang="en" sz="1400">
                  <a:solidFill>
                    <a:srgbClr val="FFFFFF"/>
                  </a:solidFill>
                  <a:latin typeface="Arial"/>
                  <a:ea typeface="Arial"/>
                  <a:cs typeface="Arial"/>
                  <a:sym typeface="Arial"/>
                </a:rPr>
                <a:t>Open the file in Cloud Shell. You can click:</a:t>
              </a:r>
              <a:endParaRPr b="0" sz="1400">
                <a:solidFill>
                  <a:srgbClr val="FFFFFF"/>
                </a:solidFill>
                <a:latin typeface="Arial"/>
                <a:ea typeface="Arial"/>
                <a:cs typeface="Arial"/>
                <a:sym typeface="Arial"/>
              </a:endParaRPr>
            </a:p>
            <a:p>
              <a:pPr indent="0" lvl="0" marL="0" rtl="0" algn="l">
                <a:spcBef>
                  <a:spcPts val="1200"/>
                </a:spcBef>
                <a:spcAft>
                  <a:spcPts val="0"/>
                </a:spcAft>
                <a:buNone/>
              </a:pPr>
              <a:r>
                <a:rPr b="1" lang="en" sz="1400">
                  <a:solidFill>
                    <a:srgbClr val="FFAB40"/>
                  </a:solidFill>
                  <a:latin typeface="Arial"/>
                  <a:ea typeface="Arial"/>
                  <a:cs typeface="Arial"/>
                  <a:sym typeface="Arial"/>
                </a:rPr>
                <a:t>Open Editor</a:t>
              </a:r>
              <a:endParaRPr b="1" sz="1400">
                <a:solidFill>
                  <a:srgbClr val="FFAB40"/>
                </a:solidFill>
                <a:latin typeface="Arial"/>
                <a:ea typeface="Arial"/>
                <a:cs typeface="Arial"/>
                <a:sym typeface="Arial"/>
              </a:endParaRPr>
            </a:p>
            <a:p>
              <a:pPr indent="0" lvl="0" marL="0" rtl="0" algn="l">
                <a:spcBef>
                  <a:spcPts val="600"/>
                </a:spcBef>
                <a:spcAft>
                  <a:spcPts val="0"/>
                </a:spcAft>
                <a:buNone/>
              </a:pPr>
              <a:r>
                <a:rPr b="0" lang="en" sz="1200">
                  <a:solidFill>
                    <a:srgbClr val="94A3B8"/>
                  </a:solidFill>
                  <a:latin typeface="Arial"/>
                  <a:ea typeface="Arial"/>
                  <a:cs typeface="Arial"/>
                  <a:sym typeface="Arial"/>
                </a:rPr>
                <a:t>from Cloud Shell.</a:t>
              </a:r>
              <a:endParaRPr b="0" sz="1200">
                <a:solidFill>
                  <a:srgbClr val="94A3B8"/>
                </a:solidFill>
                <a:latin typeface="Arial"/>
                <a:ea typeface="Arial"/>
                <a:cs typeface="Arial"/>
                <a:sym typeface="Arial"/>
              </a:endParaRPr>
            </a:p>
          </p:txBody>
        </p:sp>
      </p:grpSp>
      <p:grpSp>
        <p:nvGrpSpPr>
          <p:cNvPr id="365" name="Google Shape;365;p44"/>
          <p:cNvGrpSpPr/>
          <p:nvPr/>
        </p:nvGrpSpPr>
        <p:grpSpPr>
          <a:xfrm>
            <a:off x="6162675" y="1285875"/>
            <a:ext cx="2476500" cy="2857500"/>
            <a:chOff x="0" y="0"/>
            <a:chExt cx="2476500" cy="2857500"/>
          </a:xfrm>
        </p:grpSpPr>
        <p:sp>
          <p:nvSpPr>
            <p:cNvPr id="366" name="Google Shape;366;p44"/>
            <p:cNvSpPr/>
            <p:nvPr/>
          </p:nvSpPr>
          <p:spPr>
            <a:xfrm>
              <a:off x="0" y="0"/>
              <a:ext cx="2476500" cy="2857500"/>
            </a:xfrm>
            <a:prstGeom prst="roundRect">
              <a:avLst>
                <a:gd fmla="val 4615" name="adj"/>
              </a:avLst>
            </a:prstGeom>
            <a:solidFill>
              <a:srgbClr val="000000"/>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7" name="Google Shape;367;p44"/>
            <p:cNvSpPr txBox="1"/>
            <p:nvPr/>
          </p:nvSpPr>
          <p:spPr>
            <a:xfrm>
              <a:off x="190500" y="238125"/>
              <a:ext cx="20955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FFAB40"/>
                  </a:solidFill>
                  <a:latin typeface="Arial"/>
                  <a:ea typeface="Arial"/>
                  <a:cs typeface="Arial"/>
                  <a:sym typeface="Arial"/>
                </a:rPr>
                <a:t>Step 03</a:t>
              </a:r>
              <a:endParaRPr b="1" sz="2000">
                <a:solidFill>
                  <a:srgbClr val="FFAB40"/>
                </a:solidFill>
                <a:latin typeface="Arial"/>
                <a:ea typeface="Arial"/>
                <a:cs typeface="Arial"/>
                <a:sym typeface="Arial"/>
              </a:endParaRPr>
            </a:p>
            <a:p>
              <a:pPr indent="0" lvl="0" marL="0" rtl="0" algn="l">
                <a:spcBef>
                  <a:spcPts val="900"/>
                </a:spcBef>
                <a:spcAft>
                  <a:spcPts val="0"/>
                </a:spcAft>
                <a:buNone/>
              </a:pPr>
              <a:r>
                <a:rPr b="1" lang="en" sz="1600">
                  <a:solidFill>
                    <a:srgbClr val="FFFFFF"/>
                  </a:solidFill>
                  <a:latin typeface="Arial"/>
                  <a:ea typeface="Arial"/>
                  <a:cs typeface="Arial"/>
                  <a:sym typeface="Arial"/>
                </a:rPr>
                <a:t>Verify Structure</a:t>
              </a:r>
              <a:endParaRPr b="1" sz="1600">
                <a:solidFill>
                  <a:srgbClr val="FFFFFF"/>
                </a:solidFill>
                <a:latin typeface="Arial"/>
                <a:ea typeface="Arial"/>
                <a:cs typeface="Arial"/>
                <a:sym typeface="Arial"/>
              </a:endParaRPr>
            </a:p>
            <a:p>
              <a:pPr indent="0" lvl="0" marL="0" rtl="0" algn="l">
                <a:spcBef>
                  <a:spcPts val="1200"/>
                </a:spcBef>
                <a:spcAft>
                  <a:spcPts val="0"/>
                </a:spcAft>
                <a:buNone/>
              </a:pPr>
              <a:r>
                <a:rPr b="0" lang="en" sz="1400">
                  <a:solidFill>
                    <a:srgbClr val="FFFFFF"/>
                  </a:solidFill>
                  <a:latin typeface="Arial"/>
                  <a:ea typeface="Arial"/>
                  <a:cs typeface="Arial"/>
                  <a:sym typeface="Arial"/>
                </a:rPr>
                <a:t>Your folder structure should look like this:</a:t>
              </a:r>
              <a:endParaRPr b="0" sz="1400">
                <a:solidFill>
                  <a:srgbClr val="FFFFFF"/>
                </a:solidFill>
                <a:latin typeface="Arial"/>
                <a:ea typeface="Arial"/>
                <a:cs typeface="Arial"/>
                <a:sym typeface="Arial"/>
              </a:endParaRPr>
            </a:p>
            <a:p>
              <a:pPr indent="0" lvl="0" marL="0" rtl="0" algn="l">
                <a:spcBef>
                  <a:spcPts val="1200"/>
                </a:spcBef>
                <a:spcAft>
                  <a:spcPts val="0"/>
                </a:spcAft>
                <a:buNone/>
              </a:pPr>
              <a:r>
                <a:rPr b="1" lang="en" sz="1300">
                  <a:solidFill>
                    <a:srgbClr val="FFFFFF"/>
                  </a:solidFill>
                  <a:highlight>
                    <a:srgbClr val="0F172A"/>
                  </a:highlight>
                  <a:latin typeface="Courier New"/>
                  <a:ea typeface="Courier New"/>
                  <a:cs typeface="Courier New"/>
                  <a:sym typeface="Courier New"/>
                </a:rPr>
                <a:t>community-feedback/</a:t>
              </a:r>
              <a:endParaRPr b="1" sz="1300">
                <a:solidFill>
                  <a:srgbClr val="FFFFFF"/>
                </a:solidFill>
                <a:highlight>
                  <a:srgbClr val="0F172A"/>
                </a:highlight>
                <a:latin typeface="Courier New"/>
                <a:ea typeface="Courier New"/>
                <a:cs typeface="Courier New"/>
                <a:sym typeface="Courier New"/>
              </a:endParaRPr>
            </a:p>
            <a:p>
              <a:pPr indent="0" lvl="0" marL="0" rtl="0" algn="l">
                <a:spcBef>
                  <a:spcPts val="0"/>
                </a:spcBef>
                <a:spcAft>
                  <a:spcPts val="0"/>
                </a:spcAft>
                <a:buNone/>
              </a:pPr>
              <a:r>
                <a:rPr b="1" lang="en" sz="1300">
                  <a:solidFill>
                    <a:srgbClr val="FFFFFF"/>
                  </a:solidFill>
                  <a:highlight>
                    <a:srgbClr val="0F172A"/>
                  </a:highlight>
                  <a:latin typeface="Courier New"/>
                  <a:ea typeface="Courier New"/>
                  <a:cs typeface="Courier New"/>
                  <a:sym typeface="Courier New"/>
                </a:rPr>
                <a:t>└── main.py</a:t>
              </a:r>
              <a:endParaRPr b="1" sz="1300">
                <a:solidFill>
                  <a:srgbClr val="FFFFFF"/>
                </a:solidFill>
                <a:highlight>
                  <a:srgbClr val="0F172A"/>
                </a:highlight>
                <a:latin typeface="Courier New"/>
                <a:ea typeface="Courier New"/>
                <a:cs typeface="Courier New"/>
                <a:sym typeface="Courier New"/>
              </a:endParaRPr>
            </a:p>
          </p:txBody>
        </p:sp>
      </p:grpSp>
      <p:grpSp>
        <p:nvGrpSpPr>
          <p:cNvPr id="368" name="Google Shape;368;p44"/>
          <p:cNvGrpSpPr/>
          <p:nvPr/>
        </p:nvGrpSpPr>
        <p:grpSpPr>
          <a:xfrm>
            <a:off x="533100" y="4333875"/>
            <a:ext cx="8077800" cy="571500"/>
            <a:chOff x="0" y="0"/>
            <a:chExt cx="8077800" cy="571500"/>
          </a:xfrm>
        </p:grpSpPr>
        <p:sp>
          <p:nvSpPr>
            <p:cNvPr id="369" name="Google Shape;369;p44"/>
            <p:cNvSpPr/>
            <p:nvPr/>
          </p:nvSpPr>
          <p:spPr>
            <a:xfrm>
              <a:off x="0" y="0"/>
              <a:ext cx="8077800" cy="571500"/>
            </a:xfrm>
            <a:prstGeom prst="rect">
              <a:avLst/>
            </a:prstGeom>
            <a:solidFill>
              <a:srgbClr val="000000">
                <a:alpha val="0"/>
              </a:srgbClr>
            </a:solidFill>
            <a:ln cap="flat" cmpd="sng" w="38100">
              <a:solidFill>
                <a:srgbClr val="FFAB4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0" name="Google Shape;370;p44"/>
            <p:cNvSpPr txBox="1"/>
            <p:nvPr/>
          </p:nvSpPr>
          <p:spPr>
            <a:xfrm>
              <a:off x="0" y="0"/>
              <a:ext cx="8077800" cy="571500"/>
            </a:xfrm>
            <a:prstGeom prst="rect">
              <a:avLst/>
            </a:prstGeom>
            <a:noFill/>
            <a:ln>
              <a:noFill/>
            </a:ln>
          </p:spPr>
          <p:txBody>
            <a:bodyPr anchorCtr="0" anchor="ctr" bIns="0" lIns="190500" spcFirstLastPara="1" rIns="0" wrap="square" tIns="0">
              <a:noAutofit/>
            </a:bodyPr>
            <a:lstStyle/>
            <a:p>
              <a:pPr indent="0" lvl="0" marL="0" rtl="0" algn="l">
                <a:spcBef>
                  <a:spcPts val="0"/>
                </a:spcBef>
                <a:spcAft>
                  <a:spcPts val="0"/>
                </a:spcAft>
                <a:buNone/>
              </a:pPr>
              <a:r>
                <a:rPr b="0" lang="en" sz="1600">
                  <a:solidFill>
                    <a:srgbClr val="FFFFFF"/>
                  </a:solidFill>
                  <a:latin typeface="Arial"/>
                  <a:ea typeface="Arial"/>
                  <a:cs typeface="Arial"/>
                  <a:sym typeface="Arial"/>
                </a:rPr>
                <a:t>We will use </a:t>
              </a:r>
              <a:r>
                <a:rPr b="1" lang="en" sz="1600">
                  <a:solidFill>
                    <a:srgbClr val="FFAB40"/>
                  </a:solidFill>
                  <a:latin typeface="Arial"/>
                  <a:ea typeface="Arial"/>
                  <a:cs typeface="Arial"/>
                  <a:sym typeface="Arial"/>
                </a:rPr>
                <a:t>Python + Flask</a:t>
              </a:r>
              <a:r>
                <a:rPr b="0" lang="en" sz="1600">
                  <a:solidFill>
                    <a:srgbClr val="FFFFFF"/>
                  </a:solidFill>
                  <a:latin typeface="Arial"/>
                  <a:ea typeface="Arial"/>
                  <a:cs typeface="Arial"/>
                  <a:sym typeface="Arial"/>
                </a:rPr>
                <a:t> to build the application.</a:t>
              </a:r>
              <a:endParaRPr b="0" sz="1600">
                <a:solidFill>
                  <a:srgbClr val="FFFFFF"/>
                </a:solidFill>
                <a:latin typeface="Arial"/>
                <a:ea typeface="Arial"/>
                <a:cs typeface="Arial"/>
                <a:sym typeface="Arial"/>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74" name="Shape 374"/>
        <p:cNvGrpSpPr/>
        <p:nvPr/>
      </p:nvGrpSpPr>
      <p:grpSpPr>
        <a:xfrm>
          <a:off x="0" y="0"/>
          <a:ext cx="0" cy="0"/>
          <a:chOff x="0" y="0"/>
          <a:chExt cx="0" cy="0"/>
        </a:xfrm>
      </p:grpSpPr>
      <p:pic>
        <p:nvPicPr>
          <p:cNvPr id="375" name="Google Shape;375;p45"/>
          <p:cNvPicPr preferRelativeResize="0"/>
          <p:nvPr/>
        </p:nvPicPr>
        <p:blipFill>
          <a:blip r:embed="rId3">
            <a:alphaModFix/>
          </a:blip>
          <a:stretch>
            <a:fillRect/>
          </a:stretch>
        </p:blipFill>
        <p:spPr>
          <a:xfrm>
            <a:off x="329850" y="152400"/>
            <a:ext cx="8484296" cy="48387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79" name="Shape 379"/>
        <p:cNvGrpSpPr/>
        <p:nvPr/>
      </p:nvGrpSpPr>
      <p:grpSpPr>
        <a:xfrm>
          <a:off x="0" y="0"/>
          <a:ext cx="0" cy="0"/>
          <a:chOff x="0" y="0"/>
          <a:chExt cx="0" cy="0"/>
        </a:xfrm>
      </p:grpSpPr>
      <p:pic>
        <p:nvPicPr>
          <p:cNvPr id="380" name="Google Shape;380;p46"/>
          <p:cNvPicPr preferRelativeResize="0"/>
          <p:nvPr/>
        </p:nvPicPr>
        <p:blipFill>
          <a:blip r:embed="rId3">
            <a:alphaModFix/>
          </a:blip>
          <a:stretch>
            <a:fillRect/>
          </a:stretch>
        </p:blipFill>
        <p:spPr>
          <a:xfrm>
            <a:off x="385413" y="152400"/>
            <a:ext cx="8373166" cy="4838699"/>
          </a:xfrm>
          <a:prstGeom prst="rect">
            <a:avLst/>
          </a:prstGeom>
          <a:noFill/>
          <a:ln>
            <a:noFill/>
          </a:ln>
        </p:spPr>
      </p:pic>
      <p:sp>
        <p:nvSpPr>
          <p:cNvPr id="381" name="Google Shape;381;p46"/>
          <p:cNvSpPr/>
          <p:nvPr/>
        </p:nvSpPr>
        <p:spPr>
          <a:xfrm>
            <a:off x="3153875" y="2571750"/>
            <a:ext cx="3006300" cy="888300"/>
          </a:xfrm>
          <a:prstGeom prst="leftArrow">
            <a:avLst>
              <a:gd fmla="val 50000" name="adj1"/>
              <a:gd fmla="val 50000" name="adj2"/>
            </a:avLst>
          </a:prstGeom>
          <a:solidFill>
            <a:srgbClr val="FBB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5" name="Shape 385"/>
        <p:cNvGrpSpPr/>
        <p:nvPr/>
      </p:nvGrpSpPr>
      <p:grpSpPr>
        <a:xfrm>
          <a:off x="0" y="0"/>
          <a:ext cx="0" cy="0"/>
          <a:chOff x="0" y="0"/>
          <a:chExt cx="0" cy="0"/>
        </a:xfrm>
      </p:grpSpPr>
      <p:sp>
        <p:nvSpPr>
          <p:cNvPr id="386" name="Google Shape;386;p47"/>
          <p:cNvSpPr txBox="1"/>
          <p:nvPr/>
        </p:nvSpPr>
        <p:spPr>
          <a:xfrm>
            <a:off x="571500" y="476250"/>
            <a:ext cx="8001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400">
                <a:solidFill>
                  <a:srgbClr val="F8FAFC"/>
                </a:solidFill>
                <a:latin typeface="Inter ExtraBold"/>
                <a:ea typeface="Inter ExtraBold"/>
                <a:cs typeface="Inter ExtraBold"/>
                <a:sym typeface="Inter ExtraBold"/>
              </a:rPr>
              <a:t>Get Started: Copy the Starter Code</a:t>
            </a:r>
            <a:endParaRPr b="0" sz="2400">
              <a:solidFill>
                <a:srgbClr val="F8FAFC"/>
              </a:solidFill>
              <a:latin typeface="Inter ExtraBold"/>
              <a:ea typeface="Inter ExtraBold"/>
              <a:cs typeface="Inter ExtraBold"/>
              <a:sym typeface="Inter ExtraBold"/>
            </a:endParaRPr>
          </a:p>
          <a:p>
            <a:pPr indent="0" lvl="0" marL="0" rtl="0" algn="l">
              <a:spcBef>
                <a:spcPts val="600"/>
              </a:spcBef>
              <a:spcAft>
                <a:spcPts val="0"/>
              </a:spcAft>
              <a:buNone/>
            </a:pPr>
            <a:r>
              <a:rPr b="0" lang="en" sz="1500">
                <a:solidFill>
                  <a:schemeClr val="lt1"/>
                </a:solidFill>
                <a:latin typeface="Inter"/>
                <a:ea typeface="Inter"/>
                <a:cs typeface="Inter"/>
                <a:sym typeface="Inter"/>
              </a:rPr>
              <a:t>Download the required Python templates to begin building your community application.</a:t>
            </a:r>
            <a:endParaRPr b="0" sz="1500">
              <a:solidFill>
                <a:schemeClr val="lt1"/>
              </a:solidFill>
              <a:latin typeface="Inter"/>
              <a:ea typeface="Inter"/>
              <a:cs typeface="Inter"/>
              <a:sym typeface="Inter"/>
            </a:endParaRPr>
          </a:p>
        </p:txBody>
      </p:sp>
      <p:grpSp>
        <p:nvGrpSpPr>
          <p:cNvPr id="387" name="Google Shape;387;p47"/>
          <p:cNvGrpSpPr/>
          <p:nvPr/>
        </p:nvGrpSpPr>
        <p:grpSpPr>
          <a:xfrm>
            <a:off x="571500" y="1524000"/>
            <a:ext cx="3810000" cy="2667000"/>
            <a:chOff x="0" y="0"/>
            <a:chExt cx="3810000" cy="2667000"/>
          </a:xfrm>
        </p:grpSpPr>
        <p:sp>
          <p:nvSpPr>
            <p:cNvPr id="388" name="Google Shape;388;p47"/>
            <p:cNvSpPr/>
            <p:nvPr/>
          </p:nvSpPr>
          <p:spPr>
            <a:xfrm>
              <a:off x="0" y="0"/>
              <a:ext cx="3810000" cy="2667000"/>
            </a:xfrm>
            <a:prstGeom prst="roundRect">
              <a:avLst>
                <a:gd fmla="val 4285"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9" name="Google Shape;389;p47"/>
            <p:cNvSpPr txBox="1"/>
            <p:nvPr/>
          </p:nvSpPr>
          <p:spPr>
            <a:xfrm>
              <a:off x="228600" y="228600"/>
              <a:ext cx="3352800" cy="220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3200">
                  <a:solidFill>
                    <a:srgbClr val="38BDF8"/>
                  </a:solidFill>
                  <a:latin typeface="Material Icons"/>
                  <a:ea typeface="Material Icons"/>
                  <a:cs typeface="Material Icons"/>
                  <a:sym typeface="Material Icons"/>
                </a:rPr>
                <a:t>description</a:t>
              </a:r>
              <a:endParaRPr sz="3200">
                <a:solidFill>
                  <a:srgbClr val="38BDF8"/>
                </a:solidFill>
                <a:latin typeface="Material Icons"/>
                <a:ea typeface="Material Icons"/>
                <a:cs typeface="Material Icons"/>
                <a:sym typeface="Material Icons"/>
              </a:endParaRPr>
            </a:p>
            <a:p>
              <a:pPr indent="0" lvl="0" marL="0" rtl="0" algn="l">
                <a:spcBef>
                  <a:spcPts val="1200"/>
                </a:spcBef>
                <a:spcAft>
                  <a:spcPts val="0"/>
                </a:spcAft>
                <a:buNone/>
              </a:pPr>
              <a:r>
                <a:rPr b="1" lang="en" sz="1800" u="sng">
                  <a:solidFill>
                    <a:srgbClr val="38BDF8"/>
                  </a:solidFill>
                  <a:latin typeface="Inter"/>
                  <a:ea typeface="Inter"/>
                  <a:cs typeface="Inter"/>
                  <a:sym typeface="Inter"/>
                  <a:hlinkClick r:id="rId4">
                    <a:extLst>
                      <a:ext uri="{A12FA001-AC4F-418D-AE19-62706E023703}">
                        <ahyp:hlinkClr val="tx"/>
                      </a:ext>
                    </a:extLst>
                  </a:hlinkClick>
                </a:rPr>
                <a:t>main.py</a:t>
              </a:r>
              <a:endParaRPr b="1" sz="1800">
                <a:solidFill>
                  <a:srgbClr val="F8FAFC"/>
                </a:solidFill>
                <a:latin typeface="Inter"/>
                <a:ea typeface="Inter"/>
                <a:cs typeface="Inter"/>
                <a:sym typeface="Inter"/>
              </a:endParaRPr>
            </a:p>
            <a:p>
              <a:pPr indent="0" lvl="0" marL="0" rtl="0" algn="l">
                <a:spcBef>
                  <a:spcPts val="900"/>
                </a:spcBef>
                <a:spcAft>
                  <a:spcPts val="0"/>
                </a:spcAft>
                <a:buNone/>
              </a:pPr>
              <a:r>
                <a:rPr b="1" lang="en">
                  <a:solidFill>
                    <a:schemeClr val="lt1"/>
                  </a:solidFill>
                  <a:latin typeface="Inter"/>
                  <a:ea typeface="Inter"/>
                  <a:cs typeface="Inter"/>
                  <a:sym typeface="Inter"/>
                </a:rPr>
                <a:t>The central script for your web service. It initialises the Flask application and handles direct communications with your Firestore database.</a:t>
              </a:r>
              <a:endParaRPr b="1">
                <a:solidFill>
                  <a:schemeClr val="lt1"/>
                </a:solidFill>
                <a:latin typeface="Inter"/>
                <a:ea typeface="Inter"/>
                <a:cs typeface="Inter"/>
                <a:sym typeface="Inter"/>
              </a:endParaRPr>
            </a:p>
          </p:txBody>
        </p:sp>
      </p:grpSp>
      <p:grpSp>
        <p:nvGrpSpPr>
          <p:cNvPr id="390" name="Google Shape;390;p47"/>
          <p:cNvGrpSpPr/>
          <p:nvPr/>
        </p:nvGrpSpPr>
        <p:grpSpPr>
          <a:xfrm>
            <a:off x="4762500" y="1524000"/>
            <a:ext cx="3810000" cy="2667000"/>
            <a:chOff x="0" y="0"/>
            <a:chExt cx="3810000" cy="2667000"/>
          </a:xfrm>
        </p:grpSpPr>
        <p:sp>
          <p:nvSpPr>
            <p:cNvPr id="391" name="Google Shape;391;p47"/>
            <p:cNvSpPr/>
            <p:nvPr/>
          </p:nvSpPr>
          <p:spPr>
            <a:xfrm>
              <a:off x="0" y="0"/>
              <a:ext cx="3810000" cy="2667000"/>
            </a:xfrm>
            <a:prstGeom prst="roundRect">
              <a:avLst>
                <a:gd fmla="val 4285"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2" name="Google Shape;392;p47"/>
            <p:cNvSpPr txBox="1"/>
            <p:nvPr/>
          </p:nvSpPr>
          <p:spPr>
            <a:xfrm>
              <a:off x="228600" y="228600"/>
              <a:ext cx="3352800" cy="220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520">
                  <a:solidFill>
                    <a:srgbClr val="34D399"/>
                  </a:solidFill>
                  <a:latin typeface="Material Icons"/>
                  <a:ea typeface="Material Icons"/>
                  <a:cs typeface="Material Icons"/>
                  <a:sym typeface="Material Icons"/>
                </a:rPr>
                <a:t>cloud_download</a:t>
              </a:r>
              <a:endParaRPr sz="1520">
                <a:solidFill>
                  <a:srgbClr val="34D399"/>
                </a:solidFill>
                <a:latin typeface="Material Icons"/>
                <a:ea typeface="Material Icons"/>
                <a:cs typeface="Material Icons"/>
                <a:sym typeface="Material Icons"/>
              </a:endParaRPr>
            </a:p>
            <a:p>
              <a:pPr indent="0" lvl="0" marL="0" rtl="0" algn="l">
                <a:spcBef>
                  <a:spcPts val="1200"/>
                </a:spcBef>
                <a:spcAft>
                  <a:spcPts val="0"/>
                </a:spcAft>
                <a:buNone/>
              </a:pPr>
              <a:r>
                <a:rPr b="1" lang="en" sz="1655">
                  <a:solidFill>
                    <a:srgbClr val="F8FAFC"/>
                  </a:solidFill>
                  <a:latin typeface="Inter"/>
                  <a:ea typeface="Inter"/>
                  <a:cs typeface="Inter"/>
                  <a:sym typeface="Inter"/>
                </a:rPr>
                <a:t>Source File Download</a:t>
              </a:r>
              <a:endParaRPr b="1" sz="1655">
                <a:solidFill>
                  <a:srgbClr val="F8FAFC"/>
                </a:solidFill>
                <a:latin typeface="Inter"/>
                <a:ea typeface="Inter"/>
                <a:cs typeface="Inter"/>
                <a:sym typeface="Inter"/>
              </a:endParaRPr>
            </a:p>
            <a:p>
              <a:pPr indent="0" lvl="0" marL="0" rtl="0" algn="l">
                <a:spcBef>
                  <a:spcPts val="900"/>
                </a:spcBef>
                <a:spcAft>
                  <a:spcPts val="0"/>
                </a:spcAft>
                <a:buNone/>
              </a:pPr>
              <a:r>
                <a:rPr b="0" lang="en" sz="1323">
                  <a:solidFill>
                    <a:schemeClr val="lt1"/>
                  </a:solidFill>
                  <a:latin typeface="Inter"/>
                  <a:ea typeface="Inter"/>
                  <a:cs typeface="Inter"/>
                  <a:sym typeface="Inter"/>
                </a:rPr>
                <a:t>Access the complete project files and configurations stored securely on Google Drive:</a:t>
              </a:r>
              <a:endParaRPr b="0" sz="1323">
                <a:solidFill>
                  <a:schemeClr val="lt1"/>
                </a:solidFill>
                <a:latin typeface="Inter"/>
                <a:ea typeface="Inter"/>
                <a:cs typeface="Inter"/>
                <a:sym typeface="Inter"/>
              </a:endParaRPr>
            </a:p>
            <a:p>
              <a:pPr indent="0" lvl="0" marL="0" rtl="0" algn="l">
                <a:spcBef>
                  <a:spcPts val="900"/>
                </a:spcBef>
                <a:spcAft>
                  <a:spcPts val="0"/>
                </a:spcAft>
                <a:buNone/>
              </a:pPr>
              <a:r>
                <a:rPr lang="en" sz="1275" u="sng">
                  <a:solidFill>
                    <a:srgbClr val="34D399"/>
                  </a:solidFill>
                  <a:latin typeface="Roboto Mono"/>
                  <a:ea typeface="Roboto Mono"/>
                  <a:cs typeface="Roboto Mono"/>
                  <a:sym typeface="Roboto Mono"/>
                  <a:hlinkClick r:id="rId5">
                    <a:extLst>
                      <a:ext uri="{A12FA001-AC4F-418D-AE19-62706E023703}">
                        <ahyp:hlinkClr val="tx"/>
                      </a:ext>
                    </a:extLst>
                  </a:hlinkClick>
                </a:rPr>
                <a:t>https://drive.google.com/file/d/1mTnTEEIGxJpn3vBvoK8MHs9x4wdJw9vu/view?usp=drive_link</a:t>
              </a:r>
              <a:endParaRPr sz="1275">
                <a:latin typeface="Roboto Mono"/>
                <a:ea typeface="Roboto Mono"/>
                <a:cs typeface="Roboto Mono"/>
                <a:sym typeface="Roboto Mono"/>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96" name="Shape 396"/>
        <p:cNvGrpSpPr/>
        <p:nvPr/>
      </p:nvGrpSpPr>
      <p:grpSpPr>
        <a:xfrm>
          <a:off x="0" y="0"/>
          <a:ext cx="0" cy="0"/>
          <a:chOff x="0" y="0"/>
          <a:chExt cx="0" cy="0"/>
        </a:xfrm>
      </p:grpSpPr>
      <p:pic>
        <p:nvPicPr>
          <p:cNvPr id="397" name="Google Shape;397;p48"/>
          <p:cNvPicPr preferRelativeResize="0"/>
          <p:nvPr/>
        </p:nvPicPr>
        <p:blipFill>
          <a:blip r:embed="rId3">
            <a:alphaModFix/>
          </a:blip>
          <a:stretch>
            <a:fillRect/>
          </a:stretch>
        </p:blipFill>
        <p:spPr>
          <a:xfrm>
            <a:off x="152400" y="617550"/>
            <a:ext cx="8839200" cy="4230188"/>
          </a:xfrm>
          <a:prstGeom prst="rect">
            <a:avLst/>
          </a:prstGeom>
          <a:noFill/>
          <a:ln>
            <a:noFill/>
          </a:ln>
        </p:spPr>
      </p:pic>
      <p:sp>
        <p:nvSpPr>
          <p:cNvPr id="398" name="Google Shape;398;p48"/>
          <p:cNvSpPr/>
          <p:nvPr/>
        </p:nvSpPr>
        <p:spPr>
          <a:xfrm>
            <a:off x="3573625" y="3448875"/>
            <a:ext cx="3528300" cy="113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9" name="Google Shape;399;p48"/>
          <p:cNvSpPr/>
          <p:nvPr/>
        </p:nvSpPr>
        <p:spPr>
          <a:xfrm>
            <a:off x="3879950" y="805475"/>
            <a:ext cx="4628700" cy="1951200"/>
          </a:xfrm>
          <a:prstGeom prst="cloudCallout">
            <a:avLst>
              <a:gd fmla="val -20833" name="adj1"/>
              <a:gd fmla="val 62500" name="adj2"/>
            </a:avLst>
          </a:prstGeom>
          <a:solidFill>
            <a:srgbClr val="FBBF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t>( ) = Default database</a:t>
            </a:r>
            <a:endParaRPr sz="2000"/>
          </a:p>
          <a:p>
            <a:pPr indent="0" lvl="0" marL="0" rtl="0" algn="ctr">
              <a:spcBef>
                <a:spcPts val="0"/>
              </a:spcBef>
              <a:spcAft>
                <a:spcPts val="0"/>
              </a:spcAft>
              <a:buNone/>
            </a:pPr>
            <a:r>
              <a:t/>
            </a:r>
            <a:endParaRPr sz="2000"/>
          </a:p>
          <a:p>
            <a:pPr indent="0" lvl="0" marL="0" rtl="0" algn="ctr">
              <a:spcBef>
                <a:spcPts val="0"/>
              </a:spcBef>
              <a:spcAft>
                <a:spcPts val="0"/>
              </a:spcAft>
              <a:buNone/>
            </a:pPr>
            <a:r>
              <a:rPr lang="en" sz="2000"/>
              <a:t>Change it to the name of your database</a:t>
            </a:r>
            <a:endParaRPr sz="20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3" name="Shape 403"/>
        <p:cNvGrpSpPr/>
        <p:nvPr/>
      </p:nvGrpSpPr>
      <p:grpSpPr>
        <a:xfrm>
          <a:off x="0" y="0"/>
          <a:ext cx="0" cy="0"/>
          <a:chOff x="0" y="0"/>
          <a:chExt cx="0" cy="0"/>
        </a:xfrm>
      </p:grpSpPr>
      <p:sp>
        <p:nvSpPr>
          <p:cNvPr id="404" name="Google Shape;404;p49"/>
          <p:cNvSpPr txBox="1"/>
          <p:nvPr/>
        </p:nvSpPr>
        <p:spPr>
          <a:xfrm>
            <a:off x="571500" y="476250"/>
            <a:ext cx="800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F8FAFC"/>
                </a:solidFill>
                <a:latin typeface="Inter ExtraBold"/>
                <a:ea typeface="Inter ExtraBold"/>
                <a:cs typeface="Inter ExtraBold"/>
                <a:sym typeface="Inter ExtraBold"/>
              </a:rPr>
              <a:t>How Python Communicates with Firestore</a:t>
            </a:r>
            <a:endParaRPr b="0" sz="2400">
              <a:solidFill>
                <a:srgbClr val="F8FAFC"/>
              </a:solidFill>
              <a:latin typeface="Inter ExtraBold"/>
              <a:ea typeface="Inter ExtraBold"/>
              <a:cs typeface="Inter ExtraBold"/>
              <a:sym typeface="Inter ExtraBold"/>
            </a:endParaRPr>
          </a:p>
        </p:txBody>
      </p:sp>
      <p:grpSp>
        <p:nvGrpSpPr>
          <p:cNvPr id="405" name="Google Shape;405;p49"/>
          <p:cNvGrpSpPr/>
          <p:nvPr/>
        </p:nvGrpSpPr>
        <p:grpSpPr>
          <a:xfrm>
            <a:off x="571500" y="1285875"/>
            <a:ext cx="3810000" cy="3238500"/>
            <a:chOff x="0" y="0"/>
            <a:chExt cx="3810000" cy="3238500"/>
          </a:xfrm>
        </p:grpSpPr>
        <p:sp>
          <p:nvSpPr>
            <p:cNvPr id="406" name="Google Shape;406;p49"/>
            <p:cNvSpPr/>
            <p:nvPr/>
          </p:nvSpPr>
          <p:spPr>
            <a:xfrm>
              <a:off x="0" y="0"/>
              <a:ext cx="3810000" cy="3238500"/>
            </a:xfrm>
            <a:prstGeom prst="roundRect">
              <a:avLst>
                <a:gd fmla="val 3529"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7" name="Google Shape;407;p49"/>
            <p:cNvSpPr txBox="1"/>
            <p:nvPr/>
          </p:nvSpPr>
          <p:spPr>
            <a:xfrm>
              <a:off x="228600" y="228600"/>
              <a:ext cx="3352800" cy="27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38BDF8"/>
                  </a:solidFill>
                  <a:latin typeface="Inter"/>
                  <a:ea typeface="Inter"/>
                  <a:cs typeface="Inter"/>
                  <a:sym typeface="Inter"/>
                </a:rPr>
                <a:t>S</a:t>
              </a:r>
              <a:r>
                <a:rPr b="1" lang="en" sz="2000">
                  <a:solidFill>
                    <a:srgbClr val="38BDF8"/>
                  </a:solidFill>
                  <a:latin typeface="Inter"/>
                  <a:ea typeface="Inter"/>
                  <a:cs typeface="Inter"/>
                  <a:sym typeface="Inter"/>
                </a:rPr>
                <a:t>t</a:t>
              </a:r>
              <a:r>
                <a:rPr b="1" lang="en" sz="2000">
                  <a:solidFill>
                    <a:srgbClr val="38BDF8"/>
                  </a:solidFill>
                  <a:latin typeface="Inter"/>
                  <a:ea typeface="Inter"/>
                  <a:cs typeface="Inter"/>
                  <a:sym typeface="Inter"/>
                </a:rPr>
                <a:t>ep</a:t>
              </a:r>
              <a:r>
                <a:rPr b="1" lang="en" sz="1800">
                  <a:solidFill>
                    <a:srgbClr val="38BDF8"/>
                  </a:solidFill>
                  <a:latin typeface="Inter"/>
                  <a:ea typeface="Inter"/>
                  <a:cs typeface="Inter"/>
                  <a:sym typeface="Inter"/>
                </a:rPr>
                <a:t> 1: Initialise Client</a:t>
              </a:r>
              <a:endParaRPr sz="2100">
                <a:latin typeface="Inter"/>
                <a:ea typeface="Inter"/>
                <a:cs typeface="Inter"/>
                <a:sym typeface="Inter"/>
              </a:endParaRPr>
            </a:p>
            <a:p>
              <a:pPr indent="0" lvl="0" marL="0" rtl="0" algn="l">
                <a:spcBef>
                  <a:spcPts val="0"/>
                </a:spcBef>
                <a:spcAft>
                  <a:spcPts val="0"/>
                </a:spcAft>
                <a:buNone/>
              </a:pPr>
              <a:r>
                <a:rPr b="0" lang="en" sz="2000">
                  <a:solidFill>
                    <a:srgbClr val="94A3B8"/>
                  </a:solidFill>
                  <a:latin typeface="Inter Medium"/>
                  <a:ea typeface="Inter Medium"/>
                  <a:cs typeface="Inter Medium"/>
                  <a:sym typeface="Inter Medium"/>
                </a:rPr>
                <a:t>The important line is:</a:t>
              </a:r>
              <a:endParaRPr b="0" sz="2000">
                <a:solidFill>
                  <a:srgbClr val="94A3B8"/>
                </a:solidFill>
                <a:latin typeface="Inter Medium"/>
                <a:ea typeface="Inter Medium"/>
                <a:cs typeface="Inter Medium"/>
                <a:sym typeface="Inter Medium"/>
              </a:endParaRPr>
            </a:p>
            <a:p>
              <a:pPr indent="0" lvl="0" marL="0" rtl="0" algn="l">
                <a:spcBef>
                  <a:spcPts val="900"/>
                </a:spcBef>
                <a:spcAft>
                  <a:spcPts val="0"/>
                </a:spcAft>
                <a:buNone/>
              </a:pPr>
              <a:r>
                <a:rPr lang="en" sz="1900">
                  <a:solidFill>
                    <a:srgbClr val="38BDF8"/>
                  </a:solidFill>
                  <a:highlight>
                    <a:srgbClr val="0F172A"/>
                  </a:highlight>
                  <a:latin typeface="Roboto Mono"/>
                  <a:ea typeface="Roboto Mono"/>
                  <a:cs typeface="Roboto Mono"/>
                  <a:sym typeface="Roboto Mono"/>
                </a:rPr>
                <a:t>db = firestore.Client()</a:t>
              </a:r>
              <a:endParaRPr sz="1900">
                <a:solidFill>
                  <a:srgbClr val="38BDF8"/>
                </a:solidFill>
                <a:highlight>
                  <a:srgbClr val="0F172A"/>
                </a:highlight>
                <a:latin typeface="Roboto Mono"/>
                <a:ea typeface="Roboto Mono"/>
                <a:cs typeface="Roboto Mono"/>
                <a:sym typeface="Roboto Mono"/>
              </a:endParaRPr>
            </a:p>
            <a:p>
              <a:pPr indent="0" lvl="0" marL="0" rtl="0" algn="l">
                <a:spcBef>
                  <a:spcPts val="1500"/>
                </a:spcBef>
                <a:spcAft>
                  <a:spcPts val="0"/>
                </a:spcAft>
                <a:buNone/>
              </a:pPr>
              <a:r>
                <a:rPr b="0" lang="en" sz="1850">
                  <a:solidFill>
                    <a:srgbClr val="CBD5E1"/>
                  </a:solidFill>
                  <a:latin typeface="Inter"/>
                  <a:ea typeface="Inter"/>
                  <a:cs typeface="Inter"/>
                  <a:sym typeface="Inter"/>
                </a:rPr>
                <a:t>"This creates a connection between our Python application and Firestore."</a:t>
              </a:r>
              <a:endParaRPr b="0" sz="1850">
                <a:solidFill>
                  <a:srgbClr val="CBD5E1"/>
                </a:solidFill>
                <a:latin typeface="Inter"/>
                <a:ea typeface="Inter"/>
                <a:cs typeface="Inter"/>
                <a:sym typeface="Inter"/>
              </a:endParaRPr>
            </a:p>
          </p:txBody>
        </p:sp>
      </p:grpSp>
      <p:grpSp>
        <p:nvGrpSpPr>
          <p:cNvPr id="408" name="Google Shape;408;p49"/>
          <p:cNvGrpSpPr/>
          <p:nvPr/>
        </p:nvGrpSpPr>
        <p:grpSpPr>
          <a:xfrm>
            <a:off x="4762500" y="1285875"/>
            <a:ext cx="3810000" cy="3238500"/>
            <a:chOff x="0" y="0"/>
            <a:chExt cx="3810000" cy="3238500"/>
          </a:xfrm>
        </p:grpSpPr>
        <p:sp>
          <p:nvSpPr>
            <p:cNvPr id="409" name="Google Shape;409;p49"/>
            <p:cNvSpPr/>
            <p:nvPr/>
          </p:nvSpPr>
          <p:spPr>
            <a:xfrm>
              <a:off x="0" y="0"/>
              <a:ext cx="3810000" cy="3238500"/>
            </a:xfrm>
            <a:prstGeom prst="roundRect">
              <a:avLst>
                <a:gd fmla="val 3529"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0" name="Google Shape;410;p49"/>
            <p:cNvSpPr txBox="1"/>
            <p:nvPr/>
          </p:nvSpPr>
          <p:spPr>
            <a:xfrm>
              <a:off x="228600" y="228600"/>
              <a:ext cx="3352800" cy="27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918">
                  <a:solidFill>
                    <a:srgbClr val="34D399"/>
                  </a:solidFill>
                  <a:latin typeface="Inter"/>
                  <a:ea typeface="Inter"/>
                  <a:cs typeface="Inter"/>
                  <a:sym typeface="Inter"/>
                </a:rPr>
                <a:t>Step 2: Save Feedback</a:t>
              </a:r>
              <a:endParaRPr sz="2195">
                <a:latin typeface="Inter"/>
                <a:ea typeface="Inter"/>
                <a:cs typeface="Inter"/>
                <a:sym typeface="Inter"/>
              </a:endParaRPr>
            </a:p>
            <a:p>
              <a:pPr indent="0" lvl="0" marL="0" rtl="0" algn="l">
                <a:spcBef>
                  <a:spcPts val="0"/>
                </a:spcBef>
                <a:spcAft>
                  <a:spcPts val="0"/>
                </a:spcAft>
                <a:buNone/>
              </a:pPr>
              <a:r>
                <a:rPr b="0" lang="en" sz="2103">
                  <a:solidFill>
                    <a:srgbClr val="94A3B8"/>
                  </a:solidFill>
                  <a:latin typeface="Inter Medium"/>
                  <a:ea typeface="Inter Medium"/>
                  <a:cs typeface="Inter Medium"/>
                  <a:sym typeface="Inter Medium"/>
                </a:rPr>
                <a:t>Then:</a:t>
              </a:r>
              <a:endParaRPr b="0" sz="2103">
                <a:solidFill>
                  <a:srgbClr val="94A3B8"/>
                </a:solidFill>
                <a:latin typeface="Inter Medium"/>
                <a:ea typeface="Inter Medium"/>
                <a:cs typeface="Inter Medium"/>
                <a:sym typeface="Inter Medium"/>
              </a:endParaRPr>
            </a:p>
            <a:p>
              <a:pPr indent="0" lvl="0" marL="0" rtl="0" algn="l">
                <a:spcBef>
                  <a:spcPts val="900"/>
                </a:spcBef>
                <a:spcAft>
                  <a:spcPts val="0"/>
                </a:spcAft>
                <a:buNone/>
              </a:pPr>
              <a:r>
                <a:rPr lang="en" sz="1871">
                  <a:solidFill>
                    <a:srgbClr val="34D399"/>
                  </a:solidFill>
                  <a:highlight>
                    <a:srgbClr val="0F172A"/>
                  </a:highlight>
                  <a:latin typeface="Roboto Mono"/>
                  <a:ea typeface="Roboto Mono"/>
                  <a:cs typeface="Roboto Mono"/>
                  <a:sym typeface="Roboto Mono"/>
                </a:rPr>
                <a:t>db.collection("feedback").add(feedback_data)</a:t>
              </a:r>
              <a:endParaRPr sz="1871">
                <a:solidFill>
                  <a:srgbClr val="34D399"/>
                </a:solidFill>
                <a:highlight>
                  <a:srgbClr val="0F172A"/>
                </a:highlight>
                <a:latin typeface="Roboto Mono"/>
                <a:ea typeface="Roboto Mono"/>
                <a:cs typeface="Roboto Mono"/>
                <a:sym typeface="Roboto Mono"/>
              </a:endParaRPr>
            </a:p>
            <a:p>
              <a:pPr indent="0" lvl="0" marL="0" rtl="0" algn="l">
                <a:spcBef>
                  <a:spcPts val="1500"/>
                </a:spcBef>
                <a:spcAft>
                  <a:spcPts val="0"/>
                </a:spcAft>
                <a:buNone/>
              </a:pPr>
              <a:r>
                <a:rPr b="0" lang="en" sz="2103">
                  <a:solidFill>
                    <a:srgbClr val="F8FAFC"/>
                  </a:solidFill>
                  <a:latin typeface="Inter SemiBold"/>
                  <a:ea typeface="Inter SemiBold"/>
                  <a:cs typeface="Inter SemiBold"/>
                  <a:sym typeface="Inter SemiBold"/>
                </a:rPr>
                <a:t>Means:</a:t>
              </a:r>
              <a:endParaRPr b="0" sz="2103">
                <a:solidFill>
                  <a:srgbClr val="F8FAFC"/>
                </a:solidFill>
                <a:latin typeface="Inter SemiBold"/>
                <a:ea typeface="Inter SemiBold"/>
                <a:cs typeface="Inter SemiBold"/>
                <a:sym typeface="Inter SemiBold"/>
              </a:endParaRPr>
            </a:p>
            <a:p>
              <a:pPr indent="0" lvl="0" marL="0" rtl="0" algn="l">
                <a:spcBef>
                  <a:spcPts val="600"/>
                </a:spcBef>
                <a:spcAft>
                  <a:spcPts val="0"/>
                </a:spcAft>
                <a:buNone/>
              </a:pPr>
              <a:r>
                <a:rPr b="0" lang="en" sz="1964">
                  <a:solidFill>
                    <a:srgbClr val="CBD5E1"/>
                  </a:solidFill>
                  <a:latin typeface="Inter"/>
                  <a:ea typeface="Inter"/>
                  <a:cs typeface="Inter"/>
                  <a:sym typeface="Inter"/>
                </a:rPr>
                <a:t>"Take the feedback and save it in the </a:t>
              </a:r>
              <a:r>
                <a:rPr b="0" lang="en" sz="1964">
                  <a:solidFill>
                    <a:srgbClr val="34D399"/>
                  </a:solidFill>
                  <a:latin typeface="Roboto Mono SemiBold"/>
                  <a:ea typeface="Roboto Mono SemiBold"/>
                  <a:cs typeface="Roboto Mono SemiBold"/>
                  <a:sym typeface="Roboto Mono SemiBold"/>
                </a:rPr>
                <a:t>feedback</a:t>
              </a:r>
              <a:r>
                <a:rPr b="0" lang="en" sz="1964">
                  <a:solidFill>
                    <a:srgbClr val="CBD5E1"/>
                  </a:solidFill>
                  <a:latin typeface="Inter"/>
                  <a:ea typeface="Inter"/>
                  <a:cs typeface="Inter"/>
                  <a:sym typeface="Inter"/>
                </a:rPr>
                <a:t> collection."</a:t>
              </a:r>
              <a:endParaRPr b="0" sz="1964">
                <a:solidFill>
                  <a:srgbClr val="CBD5E1"/>
                </a:solidFill>
                <a:latin typeface="Inter"/>
                <a:ea typeface="Inter"/>
                <a:cs typeface="Inter"/>
                <a:sym typeface="Inter"/>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4" name="Shape 414"/>
        <p:cNvGrpSpPr/>
        <p:nvPr/>
      </p:nvGrpSpPr>
      <p:grpSpPr>
        <a:xfrm>
          <a:off x="0" y="0"/>
          <a:ext cx="0" cy="0"/>
          <a:chOff x="0" y="0"/>
          <a:chExt cx="0" cy="0"/>
        </a:xfrm>
      </p:grpSpPr>
      <p:sp>
        <p:nvSpPr>
          <p:cNvPr id="415" name="Google Shape;415;p50"/>
          <p:cNvSpPr txBox="1"/>
          <p:nvPr>
            <p:ph type="title"/>
          </p:nvPr>
        </p:nvSpPr>
        <p:spPr>
          <a:xfrm>
            <a:off x="571500" y="476250"/>
            <a:ext cx="8001000" cy="571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0" lang="en" sz="2400">
                <a:solidFill>
                  <a:srgbClr val="F8FAFC"/>
                </a:solidFill>
                <a:latin typeface="Inter ExtraBold"/>
                <a:ea typeface="Inter ExtraBold"/>
                <a:cs typeface="Inter ExtraBold"/>
                <a:sym typeface="Inter ExtraBold"/>
              </a:rPr>
              <a:t>Architecture</a:t>
            </a:r>
            <a:endParaRPr b="0" sz="2400">
              <a:solidFill>
                <a:srgbClr val="F8FAFC"/>
              </a:solidFill>
              <a:latin typeface="Inter ExtraBold"/>
              <a:ea typeface="Inter ExtraBold"/>
              <a:cs typeface="Inter ExtraBold"/>
              <a:sym typeface="Inter ExtraBold"/>
            </a:endParaRPr>
          </a:p>
        </p:txBody>
      </p:sp>
      <p:grpSp>
        <p:nvGrpSpPr>
          <p:cNvPr id="416" name="Google Shape;416;p50"/>
          <p:cNvGrpSpPr/>
          <p:nvPr/>
        </p:nvGrpSpPr>
        <p:grpSpPr>
          <a:xfrm>
            <a:off x="571500" y="1524000"/>
            <a:ext cx="7981800" cy="2476500"/>
            <a:chOff x="571500" y="1524000"/>
            <a:chExt cx="7981800" cy="2476500"/>
          </a:xfrm>
        </p:grpSpPr>
        <p:sp>
          <p:nvSpPr>
            <p:cNvPr id="417" name="Google Shape;417;p50"/>
            <p:cNvSpPr/>
            <p:nvPr/>
          </p:nvSpPr>
          <p:spPr>
            <a:xfrm>
              <a:off x="571500" y="1524000"/>
              <a:ext cx="1809600" cy="2476500"/>
            </a:xfrm>
            <a:prstGeom prst="roundRect">
              <a:avLst>
                <a:gd fmla="val 6315"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8" name="Google Shape;418;p50"/>
            <p:cNvSpPr txBox="1"/>
            <p:nvPr/>
          </p:nvSpPr>
          <p:spPr>
            <a:xfrm>
              <a:off x="571500" y="1524000"/>
              <a:ext cx="1809600" cy="24765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1100">
                  <a:solidFill>
                    <a:srgbClr val="38BDF8"/>
                  </a:solidFill>
                  <a:latin typeface="Inter"/>
                  <a:ea typeface="Inter"/>
                  <a:cs typeface="Inter"/>
                  <a:sym typeface="Inter"/>
                </a:rPr>
                <a:t>STEP 01</a:t>
              </a:r>
              <a:endParaRPr b="1" sz="1100">
                <a:solidFill>
                  <a:srgbClr val="38BDF8"/>
                </a:solidFill>
                <a:latin typeface="Inter"/>
                <a:ea typeface="Inter"/>
                <a:cs typeface="Inter"/>
                <a:sym typeface="Inter"/>
              </a:endParaRPr>
            </a:p>
            <a:p>
              <a:pPr indent="0" lvl="0" marL="0" rtl="0" algn="l">
                <a:spcBef>
                  <a:spcPts val="900"/>
                </a:spcBef>
                <a:spcAft>
                  <a:spcPts val="0"/>
                </a:spcAft>
                <a:buNone/>
              </a:pPr>
              <a:r>
                <a:rPr b="1" lang="en" sz="1600">
                  <a:solidFill>
                    <a:srgbClr val="F8FAFC"/>
                  </a:solidFill>
                  <a:latin typeface="Inter"/>
                  <a:ea typeface="Inter"/>
                  <a:cs typeface="Inter"/>
                  <a:sym typeface="Inter"/>
                </a:rPr>
                <a:t>HTML Form</a:t>
              </a:r>
              <a:endParaRPr b="1" sz="1600">
                <a:solidFill>
                  <a:srgbClr val="F8FAFC"/>
                </a:solidFill>
                <a:latin typeface="Inter"/>
                <a:ea typeface="Inter"/>
                <a:cs typeface="Inter"/>
                <a:sym typeface="Inter"/>
              </a:endParaRPr>
            </a:p>
            <a:p>
              <a:pPr indent="0" lvl="0" marL="0" rtl="0" algn="l">
                <a:spcBef>
                  <a:spcPts val="900"/>
                </a:spcBef>
                <a:spcAft>
                  <a:spcPts val="0"/>
                </a:spcAft>
                <a:buNone/>
              </a:pPr>
              <a:r>
                <a:rPr b="0" lang="en" sz="1600">
                  <a:solidFill>
                    <a:schemeClr val="lt1"/>
                  </a:solidFill>
                  <a:latin typeface="Inter"/>
                  <a:ea typeface="Inter"/>
                  <a:cs typeface="Inter"/>
                  <a:sym typeface="Inter"/>
                </a:rPr>
                <a:t>Frontend interface where users enter names, ratings, and comments.</a:t>
              </a:r>
              <a:endParaRPr b="0" sz="1600">
                <a:solidFill>
                  <a:schemeClr val="lt1"/>
                </a:solidFill>
                <a:latin typeface="Inter"/>
                <a:ea typeface="Inter"/>
                <a:cs typeface="Inter"/>
                <a:sym typeface="Inter"/>
              </a:endParaRPr>
            </a:p>
          </p:txBody>
        </p:sp>
        <p:sp>
          <p:nvSpPr>
            <p:cNvPr id="419" name="Google Shape;419;p50"/>
            <p:cNvSpPr/>
            <p:nvPr/>
          </p:nvSpPr>
          <p:spPr>
            <a:xfrm>
              <a:off x="2381250" y="2762250"/>
              <a:ext cx="247800" cy="0"/>
            </a:xfrm>
            <a:custGeom>
              <a:rect b="b" l="l" r="r" t="t"/>
              <a:pathLst>
                <a:path extrusionOk="0" h="120000" w="120000">
                  <a:moveTo>
                    <a:pt x="0" y="0"/>
                  </a:moveTo>
                  <a:lnTo>
                    <a:pt x="120000" y="0"/>
                  </a:lnTo>
                </a:path>
              </a:pathLst>
            </a:custGeom>
            <a:solidFill>
              <a:srgbClr val="000000">
                <a:alpha val="0"/>
              </a:srgbClr>
            </a:solidFill>
            <a:ln cap="flat" cmpd="sng" w="1905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0" name="Google Shape;420;p50"/>
            <p:cNvSpPr/>
            <p:nvPr/>
          </p:nvSpPr>
          <p:spPr>
            <a:xfrm>
              <a:off x="2571750" y="2714625"/>
              <a:ext cx="57300" cy="95400"/>
            </a:xfrm>
            <a:custGeom>
              <a:rect b="b" l="l" r="r" t="t"/>
              <a:pathLst>
                <a:path extrusionOk="0" h="120000" w="120000">
                  <a:moveTo>
                    <a:pt x="0" y="0"/>
                  </a:moveTo>
                  <a:lnTo>
                    <a:pt x="120000" y="60000"/>
                  </a:lnTo>
                  <a:lnTo>
                    <a:pt x="0" y="120000"/>
                  </a:lnTo>
                </a:path>
              </a:pathLst>
            </a:custGeom>
            <a:solidFill>
              <a:srgbClr val="000000">
                <a:alpha val="0"/>
              </a:srgbClr>
            </a:solidFill>
            <a:ln cap="flat" cmpd="sng" w="1905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1" name="Google Shape;421;p50"/>
            <p:cNvSpPr/>
            <p:nvPr/>
          </p:nvSpPr>
          <p:spPr>
            <a:xfrm>
              <a:off x="2628900" y="1524000"/>
              <a:ext cx="1809600" cy="2476500"/>
            </a:xfrm>
            <a:prstGeom prst="roundRect">
              <a:avLst>
                <a:gd fmla="val 6315"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2" name="Google Shape;422;p50"/>
            <p:cNvSpPr txBox="1"/>
            <p:nvPr/>
          </p:nvSpPr>
          <p:spPr>
            <a:xfrm>
              <a:off x="2628900" y="1524000"/>
              <a:ext cx="1809600" cy="24765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1100">
                  <a:solidFill>
                    <a:srgbClr val="38BDF8"/>
                  </a:solidFill>
                  <a:latin typeface="Inter"/>
                  <a:ea typeface="Inter"/>
                  <a:cs typeface="Inter"/>
                  <a:sym typeface="Inter"/>
                </a:rPr>
                <a:t>STEP 02</a:t>
              </a:r>
              <a:endParaRPr b="1" sz="1100">
                <a:solidFill>
                  <a:srgbClr val="38BDF8"/>
                </a:solidFill>
                <a:latin typeface="Inter"/>
                <a:ea typeface="Inter"/>
                <a:cs typeface="Inter"/>
                <a:sym typeface="Inter"/>
              </a:endParaRPr>
            </a:p>
            <a:p>
              <a:pPr indent="0" lvl="0" marL="0" rtl="0" algn="l">
                <a:spcBef>
                  <a:spcPts val="900"/>
                </a:spcBef>
                <a:spcAft>
                  <a:spcPts val="0"/>
                </a:spcAft>
                <a:buNone/>
              </a:pPr>
              <a:r>
                <a:rPr b="1" lang="en" sz="1600">
                  <a:solidFill>
                    <a:srgbClr val="F8FAFC"/>
                  </a:solidFill>
                  <a:latin typeface="Inter"/>
                  <a:ea typeface="Inter"/>
                  <a:cs typeface="Inter"/>
                  <a:sym typeface="Inter"/>
                </a:rPr>
                <a:t>Flask App</a:t>
              </a:r>
              <a:endParaRPr b="1" sz="1600">
                <a:solidFill>
                  <a:srgbClr val="F8FAFC"/>
                </a:solidFill>
                <a:latin typeface="Inter"/>
                <a:ea typeface="Inter"/>
                <a:cs typeface="Inter"/>
                <a:sym typeface="Inter"/>
              </a:endParaRPr>
            </a:p>
            <a:p>
              <a:pPr indent="0" lvl="0" marL="0" rtl="0" algn="l">
                <a:spcBef>
                  <a:spcPts val="900"/>
                </a:spcBef>
                <a:spcAft>
                  <a:spcPts val="0"/>
                </a:spcAft>
                <a:buNone/>
              </a:pPr>
              <a:r>
                <a:rPr b="0" lang="en" sz="1500">
                  <a:solidFill>
                    <a:schemeClr val="lt1"/>
                  </a:solidFill>
                  <a:latin typeface="Inter"/>
                  <a:ea typeface="Inter"/>
                  <a:cs typeface="Inter"/>
                  <a:sym typeface="Inter"/>
                </a:rPr>
                <a:t>Web server routing incoming POST requests from the client web browser.</a:t>
              </a:r>
              <a:endParaRPr b="0" sz="1500">
                <a:solidFill>
                  <a:schemeClr val="lt1"/>
                </a:solidFill>
                <a:latin typeface="Inter"/>
                <a:ea typeface="Inter"/>
                <a:cs typeface="Inter"/>
                <a:sym typeface="Inter"/>
              </a:endParaRPr>
            </a:p>
          </p:txBody>
        </p:sp>
        <p:sp>
          <p:nvSpPr>
            <p:cNvPr id="423" name="Google Shape;423;p50"/>
            <p:cNvSpPr/>
            <p:nvPr/>
          </p:nvSpPr>
          <p:spPr>
            <a:xfrm>
              <a:off x="4438650" y="2762250"/>
              <a:ext cx="247800" cy="0"/>
            </a:xfrm>
            <a:custGeom>
              <a:rect b="b" l="l" r="r" t="t"/>
              <a:pathLst>
                <a:path extrusionOk="0" h="120000" w="120000">
                  <a:moveTo>
                    <a:pt x="0" y="0"/>
                  </a:moveTo>
                  <a:lnTo>
                    <a:pt x="120000" y="0"/>
                  </a:lnTo>
                </a:path>
              </a:pathLst>
            </a:custGeom>
            <a:solidFill>
              <a:srgbClr val="000000">
                <a:alpha val="0"/>
              </a:srgbClr>
            </a:solidFill>
            <a:ln cap="flat" cmpd="sng" w="1905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4" name="Google Shape;424;p50"/>
            <p:cNvSpPr/>
            <p:nvPr/>
          </p:nvSpPr>
          <p:spPr>
            <a:xfrm>
              <a:off x="4629150" y="2714625"/>
              <a:ext cx="57300" cy="95400"/>
            </a:xfrm>
            <a:custGeom>
              <a:rect b="b" l="l" r="r" t="t"/>
              <a:pathLst>
                <a:path extrusionOk="0" h="120000" w="120000">
                  <a:moveTo>
                    <a:pt x="0" y="0"/>
                  </a:moveTo>
                  <a:lnTo>
                    <a:pt x="120000" y="60000"/>
                  </a:lnTo>
                  <a:lnTo>
                    <a:pt x="0" y="120000"/>
                  </a:lnTo>
                </a:path>
              </a:pathLst>
            </a:custGeom>
            <a:solidFill>
              <a:srgbClr val="000000">
                <a:alpha val="0"/>
              </a:srgbClr>
            </a:solidFill>
            <a:ln cap="flat" cmpd="sng" w="1905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5" name="Google Shape;425;p50"/>
            <p:cNvSpPr/>
            <p:nvPr/>
          </p:nvSpPr>
          <p:spPr>
            <a:xfrm>
              <a:off x="4686300" y="1524000"/>
              <a:ext cx="1809600" cy="2476500"/>
            </a:xfrm>
            <a:prstGeom prst="roundRect">
              <a:avLst>
                <a:gd fmla="val 6315"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6" name="Google Shape;426;p50"/>
            <p:cNvSpPr txBox="1"/>
            <p:nvPr/>
          </p:nvSpPr>
          <p:spPr>
            <a:xfrm>
              <a:off x="4686300" y="1524000"/>
              <a:ext cx="1809600" cy="24765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1100">
                  <a:solidFill>
                    <a:srgbClr val="38BDF8"/>
                  </a:solidFill>
                  <a:latin typeface="Inter"/>
                  <a:ea typeface="Inter"/>
                  <a:cs typeface="Inter"/>
                  <a:sym typeface="Inter"/>
                </a:rPr>
                <a:t>STEP 03</a:t>
              </a:r>
              <a:endParaRPr b="1" sz="1100">
                <a:solidFill>
                  <a:srgbClr val="38BDF8"/>
                </a:solidFill>
                <a:latin typeface="Inter"/>
                <a:ea typeface="Inter"/>
                <a:cs typeface="Inter"/>
                <a:sym typeface="Inter"/>
              </a:endParaRPr>
            </a:p>
            <a:p>
              <a:pPr indent="0" lvl="0" marL="0" rtl="0" algn="l">
                <a:spcBef>
                  <a:spcPts val="900"/>
                </a:spcBef>
                <a:spcAft>
                  <a:spcPts val="0"/>
                </a:spcAft>
                <a:buNone/>
              </a:pPr>
              <a:r>
                <a:rPr b="1" lang="en" sz="1600">
                  <a:solidFill>
                    <a:srgbClr val="F8FAFC"/>
                  </a:solidFill>
                  <a:latin typeface="Inter"/>
                  <a:ea typeface="Inter"/>
                  <a:cs typeface="Inter"/>
                  <a:sym typeface="Inter"/>
                </a:rPr>
                <a:t>Python Code</a:t>
              </a:r>
              <a:endParaRPr b="1" sz="1600">
                <a:solidFill>
                  <a:srgbClr val="F8FAFC"/>
                </a:solidFill>
                <a:latin typeface="Inter"/>
                <a:ea typeface="Inter"/>
                <a:cs typeface="Inter"/>
                <a:sym typeface="Inter"/>
              </a:endParaRPr>
            </a:p>
            <a:p>
              <a:pPr indent="0" lvl="0" marL="0" rtl="0" algn="l">
                <a:spcBef>
                  <a:spcPts val="900"/>
                </a:spcBef>
                <a:spcAft>
                  <a:spcPts val="0"/>
                </a:spcAft>
                <a:buNone/>
              </a:pPr>
              <a:r>
                <a:rPr b="0" lang="en" sz="1600">
                  <a:solidFill>
                    <a:schemeClr val="lt1"/>
                  </a:solidFill>
                  <a:latin typeface="Inter"/>
                  <a:ea typeface="Inter"/>
                  <a:cs typeface="Inter"/>
                  <a:sym typeface="Inter"/>
                </a:rPr>
                <a:t>Backend logic initializing the Firestore client and processing user data.</a:t>
              </a:r>
              <a:endParaRPr b="0" sz="1600">
                <a:solidFill>
                  <a:schemeClr val="lt1"/>
                </a:solidFill>
                <a:latin typeface="Inter"/>
                <a:ea typeface="Inter"/>
                <a:cs typeface="Inter"/>
                <a:sym typeface="Inter"/>
              </a:endParaRPr>
            </a:p>
          </p:txBody>
        </p:sp>
        <p:sp>
          <p:nvSpPr>
            <p:cNvPr id="427" name="Google Shape;427;p50"/>
            <p:cNvSpPr/>
            <p:nvPr/>
          </p:nvSpPr>
          <p:spPr>
            <a:xfrm>
              <a:off x="6496050" y="2762250"/>
              <a:ext cx="247800" cy="0"/>
            </a:xfrm>
            <a:custGeom>
              <a:rect b="b" l="l" r="r" t="t"/>
              <a:pathLst>
                <a:path extrusionOk="0" h="120000" w="120000">
                  <a:moveTo>
                    <a:pt x="0" y="0"/>
                  </a:moveTo>
                  <a:lnTo>
                    <a:pt x="120000" y="0"/>
                  </a:lnTo>
                </a:path>
              </a:pathLst>
            </a:custGeom>
            <a:solidFill>
              <a:srgbClr val="000000">
                <a:alpha val="0"/>
              </a:srgbClr>
            </a:solidFill>
            <a:ln cap="flat" cmpd="sng" w="1905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8" name="Google Shape;428;p50"/>
            <p:cNvSpPr/>
            <p:nvPr/>
          </p:nvSpPr>
          <p:spPr>
            <a:xfrm>
              <a:off x="6686550" y="2714625"/>
              <a:ext cx="57300" cy="95400"/>
            </a:xfrm>
            <a:custGeom>
              <a:rect b="b" l="l" r="r" t="t"/>
              <a:pathLst>
                <a:path extrusionOk="0" h="120000" w="120000">
                  <a:moveTo>
                    <a:pt x="0" y="0"/>
                  </a:moveTo>
                  <a:lnTo>
                    <a:pt x="120000" y="60000"/>
                  </a:lnTo>
                  <a:lnTo>
                    <a:pt x="0" y="120000"/>
                  </a:lnTo>
                </a:path>
              </a:pathLst>
            </a:custGeom>
            <a:solidFill>
              <a:srgbClr val="000000">
                <a:alpha val="0"/>
              </a:srgbClr>
            </a:solidFill>
            <a:ln cap="flat" cmpd="sng" w="1905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9" name="Google Shape;429;p50"/>
            <p:cNvSpPr/>
            <p:nvPr/>
          </p:nvSpPr>
          <p:spPr>
            <a:xfrm>
              <a:off x="6743700" y="1524000"/>
              <a:ext cx="1809600" cy="2476500"/>
            </a:xfrm>
            <a:prstGeom prst="roundRect">
              <a:avLst>
                <a:gd fmla="val 6315" name="adj"/>
              </a:avLst>
            </a:prstGeom>
            <a:solidFill>
              <a:srgbClr val="1E293B"/>
            </a:solidFill>
            <a:ln cap="flat" cmpd="sng" w="14300">
              <a:solidFill>
                <a:srgbClr val="34D39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0" name="Google Shape;430;p50"/>
            <p:cNvSpPr txBox="1"/>
            <p:nvPr/>
          </p:nvSpPr>
          <p:spPr>
            <a:xfrm>
              <a:off x="6743700" y="1524000"/>
              <a:ext cx="1809600" cy="24765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1100">
                  <a:solidFill>
                    <a:srgbClr val="34D399"/>
                  </a:solidFill>
                  <a:latin typeface="Inter"/>
                  <a:ea typeface="Inter"/>
                  <a:cs typeface="Inter"/>
                  <a:sym typeface="Inter"/>
                </a:rPr>
                <a:t>STEP 04</a:t>
              </a:r>
              <a:endParaRPr b="1" sz="1100">
                <a:solidFill>
                  <a:srgbClr val="34D399"/>
                </a:solidFill>
                <a:latin typeface="Inter"/>
                <a:ea typeface="Inter"/>
                <a:cs typeface="Inter"/>
                <a:sym typeface="Inter"/>
              </a:endParaRPr>
            </a:p>
            <a:p>
              <a:pPr indent="0" lvl="0" marL="0" rtl="0" algn="l">
                <a:spcBef>
                  <a:spcPts val="900"/>
                </a:spcBef>
                <a:spcAft>
                  <a:spcPts val="0"/>
                </a:spcAft>
                <a:buNone/>
              </a:pPr>
              <a:r>
                <a:rPr b="1" lang="en" sz="1600">
                  <a:solidFill>
                    <a:srgbClr val="F8FAFC"/>
                  </a:solidFill>
                  <a:latin typeface="Inter"/>
                  <a:ea typeface="Inter"/>
                  <a:cs typeface="Inter"/>
                  <a:sym typeface="Inter"/>
                </a:rPr>
                <a:t>Firestore</a:t>
              </a:r>
              <a:endParaRPr b="1" sz="1600">
                <a:solidFill>
                  <a:srgbClr val="F8FAFC"/>
                </a:solidFill>
                <a:latin typeface="Inter"/>
                <a:ea typeface="Inter"/>
                <a:cs typeface="Inter"/>
                <a:sym typeface="Inter"/>
              </a:endParaRPr>
            </a:p>
            <a:p>
              <a:pPr indent="0" lvl="0" marL="0" rtl="0" algn="l">
                <a:spcBef>
                  <a:spcPts val="900"/>
                </a:spcBef>
                <a:spcAft>
                  <a:spcPts val="0"/>
                </a:spcAft>
                <a:buNone/>
              </a:pPr>
              <a:r>
                <a:rPr b="0" lang="en">
                  <a:solidFill>
                    <a:schemeClr val="lt1"/>
                  </a:solidFill>
                  <a:latin typeface="Inter"/>
                  <a:ea typeface="Inter"/>
                  <a:cs typeface="Inter"/>
                  <a:sym typeface="Inter"/>
                </a:rPr>
                <a:t>Serverless NoSQL database storing feedback as persistent cloud documents.</a:t>
              </a:r>
              <a:endParaRPr b="0">
                <a:solidFill>
                  <a:schemeClr val="lt1"/>
                </a:solidFill>
                <a:latin typeface="Inter"/>
                <a:ea typeface="Inter"/>
                <a:cs typeface="Inter"/>
                <a:sym typeface="Inter"/>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4" name="Shape 434"/>
        <p:cNvGrpSpPr/>
        <p:nvPr/>
      </p:nvGrpSpPr>
      <p:grpSpPr>
        <a:xfrm>
          <a:off x="0" y="0"/>
          <a:ext cx="0" cy="0"/>
          <a:chOff x="0" y="0"/>
          <a:chExt cx="0" cy="0"/>
        </a:xfrm>
      </p:grpSpPr>
      <p:grpSp>
        <p:nvGrpSpPr>
          <p:cNvPr id="435" name="Google Shape;435;p51"/>
          <p:cNvGrpSpPr/>
          <p:nvPr/>
        </p:nvGrpSpPr>
        <p:grpSpPr>
          <a:xfrm>
            <a:off x="571500" y="476250"/>
            <a:ext cx="4768596" cy="571500"/>
            <a:chOff x="0" y="0"/>
            <a:chExt cx="8001000" cy="571500"/>
          </a:xfrm>
        </p:grpSpPr>
        <p:sp>
          <p:nvSpPr>
            <p:cNvPr id="436" name="Google Shape;436;p51"/>
            <p:cNvSpPr/>
            <p:nvPr/>
          </p:nvSpPr>
          <p:spPr>
            <a:xfrm>
              <a:off x="0" y="0"/>
              <a:ext cx="8001000" cy="571500"/>
            </a:xfrm>
            <a:prstGeom prst="rect">
              <a:avLst/>
            </a:prstGeom>
            <a:solidFill>
              <a:srgbClr val="60A5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7" name="Google Shape;437;p51"/>
            <p:cNvSpPr txBox="1"/>
            <p:nvPr/>
          </p:nvSpPr>
          <p:spPr>
            <a:xfrm>
              <a:off x="0" y="0"/>
              <a:ext cx="8001000" cy="571500"/>
            </a:xfrm>
            <a:prstGeom prst="rect">
              <a:avLst/>
            </a:prstGeom>
            <a:solidFill>
              <a:srgbClr val="60A5FA"/>
            </a:solidFill>
            <a:ln>
              <a:noFill/>
            </a:ln>
          </p:spPr>
          <p:txBody>
            <a:bodyPr anchorCtr="0" anchor="ctr" bIns="0" lIns="0" spcFirstLastPara="1" rIns="0" wrap="square" tIns="0">
              <a:noAutofit/>
            </a:bodyPr>
            <a:lstStyle/>
            <a:p>
              <a:pPr indent="0" lvl="0" marL="0" rtl="0" algn="l">
                <a:spcBef>
                  <a:spcPts val="0"/>
                </a:spcBef>
                <a:spcAft>
                  <a:spcPts val="0"/>
                </a:spcAft>
                <a:buNone/>
              </a:pPr>
              <a:r>
                <a:rPr lang="en" sz="2400">
                  <a:solidFill>
                    <a:srgbClr val="F8FAFC"/>
                  </a:solidFill>
                  <a:latin typeface="Inter ExtraBold"/>
                  <a:ea typeface="Inter ExtraBold"/>
                  <a:cs typeface="Inter ExtraBold"/>
                  <a:sym typeface="Inter ExtraBold"/>
                </a:rPr>
                <a:t>    </a:t>
              </a:r>
              <a:r>
                <a:rPr b="0" lang="en" sz="2400">
                  <a:solidFill>
                    <a:srgbClr val="F8FAFC"/>
                  </a:solidFill>
                  <a:latin typeface="Inter ExtraBold"/>
                  <a:ea typeface="Inter ExtraBold"/>
                  <a:cs typeface="Inter ExtraBold"/>
                  <a:sym typeface="Inter ExtraBold"/>
                </a:rPr>
                <a:t>6. Create requirements.txt</a:t>
              </a:r>
              <a:endParaRPr b="0" sz="2400">
                <a:solidFill>
                  <a:srgbClr val="F8FAFC"/>
                </a:solidFill>
                <a:latin typeface="Inter ExtraBold"/>
                <a:ea typeface="Inter ExtraBold"/>
                <a:cs typeface="Inter ExtraBold"/>
                <a:sym typeface="Inter ExtraBold"/>
              </a:endParaRPr>
            </a:p>
          </p:txBody>
        </p:sp>
      </p:grpSp>
      <p:grpSp>
        <p:nvGrpSpPr>
          <p:cNvPr id="438" name="Google Shape;438;p51"/>
          <p:cNvGrpSpPr/>
          <p:nvPr/>
        </p:nvGrpSpPr>
        <p:grpSpPr>
          <a:xfrm>
            <a:off x="571500" y="1238250"/>
            <a:ext cx="3810000" cy="2762400"/>
            <a:chOff x="0" y="0"/>
            <a:chExt cx="3810000" cy="2762400"/>
          </a:xfrm>
        </p:grpSpPr>
        <p:sp>
          <p:nvSpPr>
            <p:cNvPr id="439" name="Google Shape;439;p51"/>
            <p:cNvSpPr/>
            <p:nvPr/>
          </p:nvSpPr>
          <p:spPr>
            <a:xfrm>
              <a:off x="0" y="0"/>
              <a:ext cx="3810000" cy="2762400"/>
            </a:xfrm>
            <a:prstGeom prst="roundRect">
              <a:avLst>
                <a:gd fmla="val 4137"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0" name="Google Shape;440;p51"/>
            <p:cNvSpPr txBox="1"/>
            <p:nvPr/>
          </p:nvSpPr>
          <p:spPr>
            <a:xfrm>
              <a:off x="228600" y="228600"/>
              <a:ext cx="3352800" cy="230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900">
                  <a:solidFill>
                    <a:srgbClr val="38BDF8"/>
                  </a:solidFill>
                  <a:latin typeface="Inter"/>
                  <a:ea typeface="Inter"/>
                  <a:cs typeface="Inter"/>
                  <a:sym typeface="Inter"/>
                </a:rPr>
                <a:t>Add Dependencies</a:t>
              </a:r>
              <a:endParaRPr b="1" sz="1900">
                <a:solidFill>
                  <a:srgbClr val="38BDF8"/>
                </a:solidFill>
                <a:latin typeface="Inter"/>
                <a:ea typeface="Inter"/>
                <a:cs typeface="Inter"/>
                <a:sym typeface="Inter"/>
              </a:endParaRPr>
            </a:p>
            <a:p>
              <a:pPr indent="0" lvl="0" marL="0" rtl="0" algn="l">
                <a:spcBef>
                  <a:spcPts val="600"/>
                </a:spcBef>
                <a:spcAft>
                  <a:spcPts val="0"/>
                </a:spcAft>
                <a:buNone/>
              </a:pPr>
              <a:r>
                <a:rPr lang="en">
                  <a:solidFill>
                    <a:schemeClr val="lt1"/>
                  </a:solidFill>
                  <a:latin typeface="Inter"/>
                  <a:ea typeface="Inter"/>
                  <a:cs typeface="Inter"/>
                  <a:sym typeface="Inter"/>
                </a:rPr>
                <a:t>C</a:t>
              </a:r>
              <a:r>
                <a:rPr lang="en" sz="1800">
                  <a:solidFill>
                    <a:schemeClr val="lt1"/>
                  </a:solidFill>
                  <a:latin typeface="Inter"/>
                  <a:ea typeface="Inter"/>
                  <a:cs typeface="Inter"/>
                  <a:sym typeface="Inter"/>
                </a:rPr>
                <a:t>reate</a:t>
              </a:r>
              <a:r>
                <a:rPr lang="en" sz="1700">
                  <a:solidFill>
                    <a:schemeClr val="lt1"/>
                  </a:solidFill>
                  <a:latin typeface="Inter"/>
                  <a:ea typeface="Inter"/>
                  <a:cs typeface="Inter"/>
                  <a:sym typeface="Inter"/>
                </a:rPr>
                <a:t> a </a:t>
              </a:r>
              <a:r>
                <a:rPr b="0" lang="en" sz="1700">
                  <a:solidFill>
                    <a:srgbClr val="FBBF24"/>
                  </a:solidFill>
                  <a:latin typeface="Inter SemiBold"/>
                  <a:ea typeface="Inter SemiBold"/>
                  <a:cs typeface="Inter SemiBold"/>
                  <a:sym typeface="Inter SemiBold"/>
                </a:rPr>
                <a:t>requirements.txt</a:t>
              </a:r>
              <a:r>
                <a:rPr lang="en" sz="1700">
                  <a:solidFill>
                    <a:srgbClr val="94A3B8"/>
                  </a:solidFill>
                  <a:latin typeface="Inter"/>
                  <a:ea typeface="Inter"/>
                  <a:cs typeface="Inter"/>
                  <a:sym typeface="Inter"/>
                </a:rPr>
                <a:t> </a:t>
              </a:r>
              <a:r>
                <a:rPr lang="en" sz="1700">
                  <a:solidFill>
                    <a:schemeClr val="lt1"/>
                  </a:solidFill>
                  <a:latin typeface="Inter"/>
                  <a:ea typeface="Inter"/>
                  <a:cs typeface="Inter"/>
                  <a:sym typeface="Inter"/>
                </a:rPr>
                <a:t>file and define the required packages:</a:t>
              </a:r>
              <a:endParaRPr sz="1700">
                <a:solidFill>
                  <a:schemeClr val="lt1"/>
                </a:solidFill>
                <a:latin typeface="Inter"/>
                <a:ea typeface="Inter"/>
                <a:cs typeface="Inter"/>
                <a:sym typeface="Inter"/>
              </a:endParaRPr>
            </a:p>
            <a:p>
              <a:pPr indent="0" lvl="0" marL="0" rtl="0" algn="l">
                <a:spcBef>
                  <a:spcPts val="1200"/>
                </a:spcBef>
                <a:spcAft>
                  <a:spcPts val="0"/>
                </a:spcAft>
                <a:buNone/>
              </a:pPr>
              <a:r>
                <a:rPr b="1" lang="en" sz="1600">
                  <a:solidFill>
                    <a:srgbClr val="FBBF24"/>
                  </a:solidFill>
                  <a:highlight>
                    <a:srgbClr val="0F172A"/>
                  </a:highlight>
                  <a:latin typeface="Roboto Mono"/>
                  <a:ea typeface="Roboto Mono"/>
                  <a:cs typeface="Roboto Mono"/>
                  <a:sym typeface="Roboto Mono"/>
                </a:rPr>
                <a:t>Flask==3.1.3</a:t>
              </a:r>
              <a:endParaRPr b="1" sz="1600">
                <a:solidFill>
                  <a:srgbClr val="FBBF24"/>
                </a:solidFill>
                <a:highlight>
                  <a:srgbClr val="0F172A"/>
                </a:highlight>
                <a:latin typeface="Roboto Mono"/>
                <a:ea typeface="Roboto Mono"/>
                <a:cs typeface="Roboto Mono"/>
                <a:sym typeface="Roboto Mono"/>
              </a:endParaRPr>
            </a:p>
            <a:p>
              <a:pPr indent="0" lvl="0" marL="0" rtl="0" algn="l">
                <a:spcBef>
                  <a:spcPts val="300"/>
                </a:spcBef>
                <a:spcAft>
                  <a:spcPts val="0"/>
                </a:spcAft>
                <a:buNone/>
              </a:pPr>
              <a:r>
                <a:rPr b="1" lang="en" sz="1600">
                  <a:solidFill>
                    <a:srgbClr val="FBBF24"/>
                  </a:solidFill>
                  <a:highlight>
                    <a:srgbClr val="0F172A"/>
                  </a:highlight>
                  <a:latin typeface="Roboto Mono"/>
                  <a:ea typeface="Roboto Mono"/>
                  <a:cs typeface="Roboto Mono"/>
                  <a:sym typeface="Roboto Mono"/>
                </a:rPr>
                <a:t>google-cloud-firestore</a:t>
              </a:r>
              <a:endParaRPr b="1" sz="1600">
                <a:solidFill>
                  <a:srgbClr val="FBBF24"/>
                </a:solidFill>
                <a:highlight>
                  <a:srgbClr val="0F172A"/>
                </a:highlight>
                <a:latin typeface="Roboto Mono"/>
                <a:ea typeface="Roboto Mono"/>
                <a:cs typeface="Roboto Mono"/>
                <a:sym typeface="Roboto Mono"/>
              </a:endParaRPr>
            </a:p>
            <a:p>
              <a:pPr indent="0" lvl="0" marL="0" rtl="0" algn="l">
                <a:spcBef>
                  <a:spcPts val="300"/>
                </a:spcBef>
                <a:spcAft>
                  <a:spcPts val="0"/>
                </a:spcAft>
                <a:buNone/>
              </a:pPr>
              <a:r>
                <a:rPr b="1" lang="en" sz="1600">
                  <a:solidFill>
                    <a:srgbClr val="FBBF24"/>
                  </a:solidFill>
                  <a:highlight>
                    <a:srgbClr val="0F172A"/>
                  </a:highlight>
                  <a:latin typeface="Roboto Mono"/>
                  <a:ea typeface="Roboto Mono"/>
                  <a:cs typeface="Roboto Mono"/>
                  <a:sym typeface="Roboto Mono"/>
                </a:rPr>
                <a:t>gunicorn</a:t>
              </a:r>
              <a:endParaRPr b="1" sz="1600">
                <a:solidFill>
                  <a:srgbClr val="FBBF24"/>
                </a:solidFill>
                <a:highlight>
                  <a:srgbClr val="0F172A"/>
                </a:highlight>
                <a:latin typeface="Roboto Mono"/>
                <a:ea typeface="Roboto Mono"/>
                <a:cs typeface="Roboto Mono"/>
                <a:sym typeface="Roboto Mono"/>
              </a:endParaRPr>
            </a:p>
          </p:txBody>
        </p:sp>
      </p:grpSp>
      <p:grpSp>
        <p:nvGrpSpPr>
          <p:cNvPr id="441" name="Google Shape;441;p51"/>
          <p:cNvGrpSpPr/>
          <p:nvPr/>
        </p:nvGrpSpPr>
        <p:grpSpPr>
          <a:xfrm>
            <a:off x="4762500" y="1238250"/>
            <a:ext cx="3810000" cy="2762400"/>
            <a:chOff x="0" y="0"/>
            <a:chExt cx="3810000" cy="2762400"/>
          </a:xfrm>
        </p:grpSpPr>
        <p:sp>
          <p:nvSpPr>
            <p:cNvPr id="442" name="Google Shape;442;p51"/>
            <p:cNvSpPr/>
            <p:nvPr/>
          </p:nvSpPr>
          <p:spPr>
            <a:xfrm>
              <a:off x="0" y="0"/>
              <a:ext cx="3810000" cy="2762400"/>
            </a:xfrm>
            <a:prstGeom prst="roundRect">
              <a:avLst>
                <a:gd fmla="val 4137"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3" name="Google Shape;443;p51"/>
            <p:cNvSpPr txBox="1"/>
            <p:nvPr/>
          </p:nvSpPr>
          <p:spPr>
            <a:xfrm>
              <a:off x="228600" y="228600"/>
              <a:ext cx="3352800" cy="230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900">
                  <a:solidFill>
                    <a:srgbClr val="34D399"/>
                  </a:solidFill>
                  <a:latin typeface="Inter"/>
                  <a:ea typeface="Inter"/>
                  <a:cs typeface="Inter"/>
                  <a:sym typeface="Inter"/>
                </a:rPr>
                <a:t>Project Structure</a:t>
              </a:r>
              <a:endParaRPr b="1" sz="1900">
                <a:solidFill>
                  <a:srgbClr val="34D399"/>
                </a:solidFill>
                <a:latin typeface="Inter"/>
                <a:ea typeface="Inter"/>
                <a:cs typeface="Inter"/>
                <a:sym typeface="Inter"/>
              </a:endParaRPr>
            </a:p>
            <a:p>
              <a:pPr indent="0" lvl="0" marL="0" rtl="0" algn="l">
                <a:spcBef>
                  <a:spcPts val="600"/>
                </a:spcBef>
                <a:spcAft>
                  <a:spcPts val="0"/>
                </a:spcAft>
                <a:buNone/>
              </a:pPr>
              <a:r>
                <a:rPr lang="en" sz="1800">
                  <a:solidFill>
                    <a:schemeClr val="lt1"/>
                  </a:solidFill>
                  <a:latin typeface="Inter"/>
                  <a:ea typeface="Inter"/>
                  <a:cs typeface="Inter"/>
                  <a:sym typeface="Inter"/>
                </a:rPr>
                <a:t>Your directory layout should now look like this:</a:t>
              </a:r>
              <a:endParaRPr sz="1800">
                <a:solidFill>
                  <a:schemeClr val="lt1"/>
                </a:solidFill>
                <a:latin typeface="Inter"/>
                <a:ea typeface="Inter"/>
                <a:cs typeface="Inter"/>
                <a:sym typeface="Inter"/>
              </a:endParaRPr>
            </a:p>
            <a:p>
              <a:pPr indent="0" lvl="0" marL="0" rtl="0" algn="l">
                <a:spcBef>
                  <a:spcPts val="1200"/>
                </a:spcBef>
                <a:spcAft>
                  <a:spcPts val="0"/>
                </a:spcAft>
                <a:buNone/>
              </a:pPr>
              <a:r>
                <a:rPr lang="en" sz="1700">
                  <a:solidFill>
                    <a:srgbClr val="38BDF8"/>
                  </a:solidFill>
                  <a:highlight>
                    <a:srgbClr val="0F172A"/>
                  </a:highlight>
                  <a:latin typeface="Roboto Mono"/>
                  <a:ea typeface="Roboto Mono"/>
                  <a:cs typeface="Roboto Mono"/>
                  <a:sym typeface="Roboto Mono"/>
                </a:rPr>
                <a:t>community-feedback/</a:t>
              </a:r>
              <a:endParaRPr sz="1700">
                <a:solidFill>
                  <a:srgbClr val="38BDF8"/>
                </a:solidFill>
                <a:highlight>
                  <a:srgbClr val="0F172A"/>
                </a:highlight>
                <a:latin typeface="Roboto Mono"/>
                <a:ea typeface="Roboto Mono"/>
                <a:cs typeface="Roboto Mono"/>
                <a:sym typeface="Roboto Mono"/>
              </a:endParaRPr>
            </a:p>
            <a:p>
              <a:pPr indent="0" lvl="0" marL="0" rtl="0" algn="l">
                <a:spcBef>
                  <a:spcPts val="0"/>
                </a:spcBef>
                <a:spcAft>
                  <a:spcPts val="0"/>
                </a:spcAft>
                <a:buNone/>
              </a:pPr>
              <a:r>
                <a:rPr b="1" lang="en" sz="1700">
                  <a:solidFill>
                    <a:schemeClr val="lt1"/>
                  </a:solidFill>
                  <a:latin typeface="Roboto Mono"/>
                  <a:ea typeface="Roboto Mono"/>
                  <a:cs typeface="Roboto Mono"/>
                  <a:sym typeface="Roboto Mono"/>
                </a:rPr>
                <a:t>├── </a:t>
              </a:r>
              <a:r>
                <a:rPr lang="en" sz="1700">
                  <a:solidFill>
                    <a:schemeClr val="lt1"/>
                  </a:solidFill>
                  <a:latin typeface="Roboto Mono"/>
                  <a:ea typeface="Roboto Mono"/>
                  <a:cs typeface="Roboto Mono"/>
                  <a:sym typeface="Roboto Mono"/>
                </a:rPr>
                <a:t>main.py</a:t>
              </a:r>
              <a:endParaRPr sz="1700">
                <a:solidFill>
                  <a:schemeClr val="lt1"/>
                </a:solidFill>
                <a:latin typeface="Roboto Mono"/>
                <a:ea typeface="Roboto Mono"/>
                <a:cs typeface="Roboto Mono"/>
                <a:sym typeface="Roboto Mono"/>
              </a:endParaRPr>
            </a:p>
            <a:p>
              <a:pPr indent="0" lvl="0" marL="0" rtl="0" algn="l">
                <a:spcBef>
                  <a:spcPts val="0"/>
                </a:spcBef>
                <a:spcAft>
                  <a:spcPts val="0"/>
                </a:spcAft>
                <a:buNone/>
              </a:pPr>
              <a:r>
                <a:rPr lang="en" sz="1700">
                  <a:solidFill>
                    <a:schemeClr val="lt1"/>
                  </a:solidFill>
                  <a:latin typeface="Roboto Mono"/>
                  <a:ea typeface="Roboto Mono"/>
                  <a:cs typeface="Roboto Mono"/>
                  <a:sym typeface="Roboto Mono"/>
                </a:rPr>
                <a:t>└── requirements.txt</a:t>
              </a:r>
              <a:endParaRPr sz="1700">
                <a:solidFill>
                  <a:schemeClr val="lt1"/>
                </a:solidFill>
                <a:latin typeface="Roboto Mono"/>
                <a:ea typeface="Roboto Mono"/>
                <a:cs typeface="Roboto Mono"/>
                <a:sym typeface="Roboto Mono"/>
              </a:endParaRPr>
            </a:p>
          </p:txBody>
        </p:sp>
      </p:grpSp>
      <p:grpSp>
        <p:nvGrpSpPr>
          <p:cNvPr id="444" name="Google Shape;444;p51"/>
          <p:cNvGrpSpPr/>
          <p:nvPr/>
        </p:nvGrpSpPr>
        <p:grpSpPr>
          <a:xfrm>
            <a:off x="571500" y="4191000"/>
            <a:ext cx="8001000" cy="476400"/>
            <a:chOff x="0" y="0"/>
            <a:chExt cx="8001000" cy="476400"/>
          </a:xfrm>
        </p:grpSpPr>
        <p:sp>
          <p:nvSpPr>
            <p:cNvPr id="445" name="Google Shape;445;p51"/>
            <p:cNvSpPr/>
            <p:nvPr/>
          </p:nvSpPr>
          <p:spPr>
            <a:xfrm>
              <a:off x="0" y="0"/>
              <a:ext cx="8001000" cy="476400"/>
            </a:xfrm>
            <a:prstGeom prst="roundRect">
              <a:avLst>
                <a:gd fmla="val 12000" name="adj"/>
              </a:avLst>
            </a:prstGeom>
            <a:solidFill>
              <a:srgbClr val="1E293B">
                <a:alpha val="5000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6" name="Google Shape;446;p51"/>
            <p:cNvSpPr txBox="1"/>
            <p:nvPr/>
          </p:nvSpPr>
          <p:spPr>
            <a:xfrm>
              <a:off x="142875" y="0"/>
              <a:ext cx="77154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850">
                  <a:solidFill>
                    <a:srgbClr val="38BDF8"/>
                  </a:solidFill>
                  <a:latin typeface="Inter SemiBold"/>
                  <a:ea typeface="Inter SemiBold"/>
                  <a:cs typeface="Inter SemiBold"/>
                  <a:sym typeface="Inter SemiBold"/>
                </a:rPr>
                <a:t>Note:</a:t>
              </a:r>
              <a:r>
                <a:rPr lang="en" sz="1850">
                  <a:solidFill>
                    <a:srgbClr val="94A3B8"/>
                  </a:solidFill>
                  <a:latin typeface="Inter"/>
                  <a:ea typeface="Inter"/>
                  <a:cs typeface="Inter"/>
                  <a:sym typeface="Inter"/>
                </a:rPr>
                <a:t> </a:t>
              </a:r>
              <a:r>
                <a:rPr lang="en" sz="1850">
                  <a:solidFill>
                    <a:schemeClr val="lt1"/>
                  </a:solidFill>
                  <a:latin typeface="Inter"/>
                  <a:ea typeface="Inter"/>
                  <a:cs typeface="Inter"/>
                  <a:sym typeface="Inter"/>
                </a:rPr>
                <a:t>Google's current Cloud Run Python quickstart uses Flask and supports source deployment through buildpacks.</a:t>
              </a:r>
              <a:endParaRPr sz="1850">
                <a:solidFill>
                  <a:schemeClr val="lt1"/>
                </a:solidFill>
                <a:latin typeface="Inter"/>
                <a:ea typeface="Inter"/>
                <a:cs typeface="Inter"/>
                <a:sym typeface="Inter"/>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50" name="Shape 450"/>
        <p:cNvGrpSpPr/>
        <p:nvPr/>
      </p:nvGrpSpPr>
      <p:grpSpPr>
        <a:xfrm>
          <a:off x="0" y="0"/>
          <a:ext cx="0" cy="0"/>
          <a:chOff x="0" y="0"/>
          <a:chExt cx="0" cy="0"/>
        </a:xfrm>
      </p:grpSpPr>
      <p:sp>
        <p:nvSpPr>
          <p:cNvPr id="451" name="Google Shape;451;p52"/>
          <p:cNvSpPr txBox="1"/>
          <p:nvPr>
            <p:ph type="title"/>
          </p:nvPr>
        </p:nvSpPr>
        <p:spPr>
          <a:xfrm>
            <a:off x="805375" y="426625"/>
            <a:ext cx="5491200" cy="744900"/>
          </a:xfrm>
          <a:prstGeom prst="rect">
            <a:avLst/>
          </a:prstGeom>
          <a:solidFill>
            <a:srgbClr val="60A5FA"/>
          </a:solidFill>
        </p:spPr>
        <p:txBody>
          <a:bodyPr anchorCtr="0" anchor="t" bIns="91425" lIns="91425" spcFirstLastPara="1" rIns="91425" wrap="square" tIns="91425">
            <a:normAutofit/>
          </a:bodyPr>
          <a:lstStyle/>
          <a:p>
            <a:pPr indent="0" lvl="0" marL="0" rtl="0" algn="l">
              <a:lnSpc>
                <a:spcPct val="115000"/>
              </a:lnSpc>
              <a:spcBef>
                <a:spcPts val="2400"/>
              </a:spcBef>
              <a:spcAft>
                <a:spcPts val="600"/>
              </a:spcAft>
              <a:buClr>
                <a:schemeClr val="dk1"/>
              </a:buClr>
              <a:buSzPts val="1100"/>
              <a:buFont typeface="Arial"/>
              <a:buNone/>
            </a:pPr>
            <a:r>
              <a:rPr b="1" lang="en" sz="3000">
                <a:solidFill>
                  <a:schemeClr val="lt1"/>
                </a:solidFill>
              </a:rPr>
              <a:t>7. Deploy to Cloud Run</a:t>
            </a:r>
            <a:endParaRPr sz="3500">
              <a:solidFill>
                <a:schemeClr val="lt1"/>
              </a:solidFill>
            </a:endParaRPr>
          </a:p>
        </p:txBody>
      </p:sp>
      <p:sp>
        <p:nvSpPr>
          <p:cNvPr id="452" name="Google Shape;452;p52"/>
          <p:cNvSpPr txBox="1"/>
          <p:nvPr>
            <p:ph idx="1" type="body"/>
          </p:nvPr>
        </p:nvSpPr>
        <p:spPr>
          <a:xfrm>
            <a:off x="311700" y="13602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2400">
                <a:solidFill>
                  <a:srgbClr val="FBBF24"/>
                </a:solidFill>
              </a:rPr>
              <a:t>From inside the </a:t>
            </a:r>
            <a:r>
              <a:rPr b="1" lang="en" sz="2400">
                <a:solidFill>
                  <a:srgbClr val="FBBF24"/>
                </a:solidFill>
                <a:latin typeface="Roboto Mono"/>
                <a:ea typeface="Roboto Mono"/>
                <a:cs typeface="Roboto Mono"/>
                <a:sym typeface="Roboto Mono"/>
              </a:rPr>
              <a:t>community-feedback</a:t>
            </a:r>
            <a:r>
              <a:rPr b="1" lang="en" sz="2400">
                <a:solidFill>
                  <a:srgbClr val="FBBF24"/>
                </a:solidFill>
              </a:rPr>
              <a:t> directory, </a:t>
            </a:r>
            <a:endParaRPr b="1" sz="2400">
              <a:solidFill>
                <a:srgbClr val="FBBF24"/>
              </a:solidFill>
            </a:endParaRPr>
          </a:p>
          <a:p>
            <a:pPr indent="0" lvl="0" marL="0" rtl="0" algn="l">
              <a:spcBef>
                <a:spcPts val="1200"/>
              </a:spcBef>
              <a:spcAft>
                <a:spcPts val="0"/>
              </a:spcAft>
              <a:buClr>
                <a:schemeClr val="dk1"/>
              </a:buClr>
              <a:buSzPts val="1100"/>
              <a:buFont typeface="Arial"/>
              <a:buNone/>
            </a:pPr>
            <a:r>
              <a:rPr b="1" lang="en" sz="2400">
                <a:solidFill>
                  <a:srgbClr val="FBBF24"/>
                </a:solidFill>
              </a:rPr>
              <a:t>run:</a:t>
            </a:r>
            <a:endParaRPr b="1" sz="2400">
              <a:solidFill>
                <a:srgbClr val="FBBF24"/>
              </a:solidFill>
            </a:endParaRPr>
          </a:p>
          <a:p>
            <a:pPr indent="0" lvl="0" marL="0" rtl="0" algn="l">
              <a:spcBef>
                <a:spcPts val="1200"/>
              </a:spcBef>
              <a:spcAft>
                <a:spcPts val="0"/>
              </a:spcAft>
              <a:buClr>
                <a:schemeClr val="dk1"/>
              </a:buClr>
              <a:buSzPts val="1100"/>
              <a:buFont typeface="Arial"/>
              <a:buNone/>
            </a:pPr>
            <a:r>
              <a:rPr lang="en" sz="2400">
                <a:solidFill>
                  <a:schemeClr val="lt1"/>
                </a:solidFill>
              </a:rPr>
              <a:t>gcloud run deploy community-feedback \</a:t>
            </a:r>
            <a:endParaRPr sz="2400">
              <a:solidFill>
                <a:schemeClr val="lt1"/>
              </a:solidFill>
            </a:endParaRPr>
          </a:p>
          <a:p>
            <a:pPr indent="0" lvl="0" marL="0" rtl="0" algn="l">
              <a:spcBef>
                <a:spcPts val="0"/>
              </a:spcBef>
              <a:spcAft>
                <a:spcPts val="0"/>
              </a:spcAft>
              <a:buClr>
                <a:schemeClr val="dk1"/>
              </a:buClr>
              <a:buSzPts val="1100"/>
              <a:buFont typeface="Arial"/>
              <a:buNone/>
            </a:pPr>
            <a:r>
              <a:rPr lang="en" sz="2400">
                <a:solidFill>
                  <a:schemeClr val="lt1"/>
                </a:solidFill>
              </a:rPr>
              <a:t>    --source . \</a:t>
            </a:r>
            <a:endParaRPr sz="2400">
              <a:solidFill>
                <a:schemeClr val="lt1"/>
              </a:solidFill>
            </a:endParaRPr>
          </a:p>
          <a:p>
            <a:pPr indent="0" lvl="0" marL="0" rtl="0" algn="l">
              <a:spcBef>
                <a:spcPts val="0"/>
              </a:spcBef>
              <a:spcAft>
                <a:spcPts val="0"/>
              </a:spcAft>
              <a:buClr>
                <a:schemeClr val="dk1"/>
              </a:buClr>
              <a:buSzPts val="1100"/>
              <a:buFont typeface="Arial"/>
              <a:buNone/>
            </a:pPr>
            <a:r>
              <a:rPr lang="en" sz="2400">
                <a:solidFill>
                  <a:schemeClr val="lt1"/>
                </a:solidFill>
              </a:rPr>
              <a:t>    --region </a:t>
            </a:r>
            <a:r>
              <a:rPr lang="en" sz="2400" u="sng">
                <a:solidFill>
                  <a:schemeClr val="lt1"/>
                </a:solidFill>
              </a:rPr>
              <a:t>europe-west1</a:t>
            </a:r>
            <a:r>
              <a:rPr lang="en" sz="2400">
                <a:solidFill>
                  <a:schemeClr val="lt1"/>
                </a:solidFill>
              </a:rPr>
              <a:t> \</a:t>
            </a:r>
            <a:endParaRPr sz="2400">
              <a:solidFill>
                <a:schemeClr val="lt1"/>
              </a:solidFill>
            </a:endParaRPr>
          </a:p>
          <a:p>
            <a:pPr indent="0" lvl="0" marL="0" rtl="0" algn="l">
              <a:spcBef>
                <a:spcPts val="0"/>
              </a:spcBef>
              <a:spcAft>
                <a:spcPts val="0"/>
              </a:spcAft>
              <a:buClr>
                <a:schemeClr val="dk1"/>
              </a:buClr>
              <a:buSzPts val="1100"/>
              <a:buFont typeface="Arial"/>
              <a:buNone/>
            </a:pPr>
            <a:r>
              <a:rPr lang="en" sz="2400">
                <a:solidFill>
                  <a:schemeClr val="lt1"/>
                </a:solidFill>
              </a:rPr>
              <a:t>    --allow-unauthenticated</a:t>
            </a:r>
            <a:endParaRPr sz="2400">
              <a:solidFill>
                <a:schemeClr val="lt1"/>
              </a:solidFill>
            </a:endParaRPr>
          </a:p>
          <a:p>
            <a:pPr indent="0" lvl="0" marL="0" rtl="0" algn="l">
              <a:spcBef>
                <a:spcPts val="0"/>
              </a:spcBef>
              <a:spcAft>
                <a:spcPts val="1200"/>
              </a:spcAft>
              <a:buNone/>
            </a:pPr>
            <a:r>
              <a:t/>
            </a:r>
            <a:endParaRPr>
              <a:solidFill>
                <a:schemeClr val="lt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6" name="Shape 456"/>
        <p:cNvGrpSpPr/>
        <p:nvPr/>
      </p:nvGrpSpPr>
      <p:grpSpPr>
        <a:xfrm>
          <a:off x="0" y="0"/>
          <a:ext cx="0" cy="0"/>
          <a:chOff x="0" y="0"/>
          <a:chExt cx="0" cy="0"/>
        </a:xfrm>
      </p:grpSpPr>
      <p:sp>
        <p:nvSpPr>
          <p:cNvPr id="457" name="Google Shape;457;p53"/>
          <p:cNvSpPr txBox="1"/>
          <p:nvPr/>
        </p:nvSpPr>
        <p:spPr>
          <a:xfrm>
            <a:off x="476250" y="476250"/>
            <a:ext cx="8191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800">
                <a:solidFill>
                  <a:srgbClr val="F8FAFC"/>
                </a:solidFill>
                <a:latin typeface="Inter ExtraBold"/>
                <a:ea typeface="Inter ExtraBold"/>
                <a:cs typeface="Inter ExtraBold"/>
                <a:sym typeface="Inter ExtraBold"/>
              </a:rPr>
              <a:t>What will happen?</a:t>
            </a:r>
            <a:endParaRPr b="0" sz="2800">
              <a:solidFill>
                <a:srgbClr val="F8FAFC"/>
              </a:solidFill>
              <a:latin typeface="Inter ExtraBold"/>
              <a:ea typeface="Inter ExtraBold"/>
              <a:cs typeface="Inter ExtraBold"/>
              <a:sym typeface="Inter ExtraBold"/>
            </a:endParaRPr>
          </a:p>
        </p:txBody>
      </p:sp>
      <p:grpSp>
        <p:nvGrpSpPr>
          <p:cNvPr id="458" name="Google Shape;458;p53"/>
          <p:cNvGrpSpPr/>
          <p:nvPr/>
        </p:nvGrpSpPr>
        <p:grpSpPr>
          <a:xfrm>
            <a:off x="476250" y="1524000"/>
            <a:ext cx="1333500" cy="2476500"/>
            <a:chOff x="0" y="0"/>
            <a:chExt cx="1333500" cy="2476500"/>
          </a:xfrm>
        </p:grpSpPr>
        <p:sp>
          <p:nvSpPr>
            <p:cNvPr id="459" name="Google Shape;459;p53"/>
            <p:cNvSpPr/>
            <p:nvPr/>
          </p:nvSpPr>
          <p:spPr>
            <a:xfrm>
              <a:off x="0" y="0"/>
              <a:ext cx="1333500" cy="2476500"/>
            </a:xfrm>
            <a:prstGeom prst="roundRect">
              <a:avLst>
                <a:gd fmla="val 8571"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0" name="Google Shape;460;p53"/>
            <p:cNvSpPr/>
            <p:nvPr/>
          </p:nvSpPr>
          <p:spPr>
            <a:xfrm>
              <a:off x="0" y="0"/>
              <a:ext cx="1333500" cy="573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1" name="Google Shape;461;p53"/>
            <p:cNvSpPr txBox="1"/>
            <p:nvPr/>
          </p:nvSpPr>
          <p:spPr>
            <a:xfrm>
              <a:off x="142875" y="190500"/>
              <a:ext cx="10479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38BDF8"/>
                  </a:solidFill>
                  <a:latin typeface="Inter"/>
                  <a:ea typeface="Inter"/>
                  <a:cs typeface="Inter"/>
                  <a:sym typeface="Inter"/>
                </a:rPr>
                <a:t>STEP 01</a:t>
              </a:r>
              <a:endParaRPr b="1" sz="1000">
                <a:solidFill>
                  <a:srgbClr val="38BDF8"/>
                </a:solidFill>
                <a:latin typeface="Inter"/>
                <a:ea typeface="Inter"/>
                <a:cs typeface="Inter"/>
                <a:sym typeface="Inter"/>
              </a:endParaRPr>
            </a:p>
            <a:p>
              <a:pPr indent="0" lvl="0" marL="0" rtl="0" algn="l">
                <a:spcBef>
                  <a:spcPts val="1125"/>
                </a:spcBef>
                <a:spcAft>
                  <a:spcPts val="0"/>
                </a:spcAft>
                <a:buNone/>
              </a:pPr>
              <a:r>
                <a:rPr lang="en" sz="2800">
                  <a:solidFill>
                    <a:srgbClr val="38BDF8"/>
                  </a:solidFill>
                  <a:latin typeface="Material Icons"/>
                  <a:ea typeface="Material Icons"/>
                  <a:cs typeface="Material Icons"/>
                  <a:sym typeface="Material Icons"/>
                </a:rPr>
                <a:t>code</a:t>
              </a:r>
              <a:endParaRPr sz="2800">
                <a:solidFill>
                  <a:srgbClr val="38BDF8"/>
                </a:solidFill>
                <a:latin typeface="Material Icons"/>
                <a:ea typeface="Material Icons"/>
                <a:cs typeface="Material Icons"/>
                <a:sym typeface="Material Icons"/>
              </a:endParaRPr>
            </a:p>
            <a:p>
              <a:pPr indent="0" lvl="0" marL="0" rtl="0" algn="l">
                <a:spcBef>
                  <a:spcPts val="1125"/>
                </a:spcBef>
                <a:spcAft>
                  <a:spcPts val="0"/>
                </a:spcAft>
                <a:buNone/>
              </a:pPr>
              <a:r>
                <a:rPr b="1" lang="en" sz="1400">
                  <a:solidFill>
                    <a:srgbClr val="F8FAFC"/>
                  </a:solidFill>
                  <a:latin typeface="Inter"/>
                  <a:ea typeface="Inter"/>
                  <a:cs typeface="Inter"/>
                  <a:sym typeface="Inter"/>
                </a:rPr>
                <a:t>Your Code</a:t>
              </a:r>
              <a:endParaRPr b="1" sz="1400">
                <a:solidFill>
                  <a:srgbClr val="F8FAFC"/>
                </a:solidFill>
                <a:latin typeface="Inter"/>
                <a:ea typeface="Inter"/>
                <a:cs typeface="Inter"/>
                <a:sym typeface="Inter"/>
              </a:endParaRPr>
            </a:p>
            <a:p>
              <a:pPr indent="0" lvl="0" marL="0" rtl="0" algn="l">
                <a:spcBef>
                  <a:spcPts val="600"/>
                </a:spcBef>
                <a:spcAft>
                  <a:spcPts val="0"/>
                </a:spcAft>
                <a:buNone/>
              </a:pPr>
              <a:r>
                <a:rPr b="0" lang="en">
                  <a:solidFill>
                    <a:srgbClr val="94A3B8"/>
                  </a:solidFill>
                  <a:latin typeface="Inter"/>
                  <a:ea typeface="Inter"/>
                  <a:cs typeface="Inter"/>
                  <a:sym typeface="Inter"/>
                </a:rPr>
                <a:t>Push local application files to the cloud.</a:t>
              </a:r>
              <a:endParaRPr b="0">
                <a:solidFill>
                  <a:srgbClr val="94A3B8"/>
                </a:solidFill>
                <a:latin typeface="Inter"/>
                <a:ea typeface="Inter"/>
                <a:cs typeface="Inter"/>
                <a:sym typeface="Inter"/>
              </a:endParaRPr>
            </a:p>
          </p:txBody>
        </p:sp>
      </p:grpSp>
      <p:sp>
        <p:nvSpPr>
          <p:cNvPr id="462" name="Google Shape;462;p53"/>
          <p:cNvSpPr txBox="1"/>
          <p:nvPr/>
        </p:nvSpPr>
        <p:spPr>
          <a:xfrm>
            <a:off x="1857375" y="2645664"/>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rgbClr val="475569"/>
                </a:solidFill>
                <a:latin typeface="Material Icons"/>
                <a:ea typeface="Material Icons"/>
                <a:cs typeface="Material Icons"/>
                <a:sym typeface="Material Icons"/>
              </a:rPr>
              <a:t>arrow_forward</a:t>
            </a:r>
            <a:endParaRPr sz="1800">
              <a:solidFill>
                <a:srgbClr val="475569"/>
              </a:solidFill>
              <a:latin typeface="Material Icons"/>
              <a:ea typeface="Material Icons"/>
              <a:cs typeface="Material Icons"/>
              <a:sym typeface="Material Icons"/>
            </a:endParaRPr>
          </a:p>
        </p:txBody>
      </p:sp>
      <p:grpSp>
        <p:nvGrpSpPr>
          <p:cNvPr id="463" name="Google Shape;463;p53"/>
          <p:cNvGrpSpPr/>
          <p:nvPr/>
        </p:nvGrpSpPr>
        <p:grpSpPr>
          <a:xfrm>
            <a:off x="2190750" y="1524000"/>
            <a:ext cx="1333500" cy="2476500"/>
            <a:chOff x="0" y="0"/>
            <a:chExt cx="1333500" cy="2476500"/>
          </a:xfrm>
        </p:grpSpPr>
        <p:sp>
          <p:nvSpPr>
            <p:cNvPr id="464" name="Google Shape;464;p53"/>
            <p:cNvSpPr/>
            <p:nvPr/>
          </p:nvSpPr>
          <p:spPr>
            <a:xfrm>
              <a:off x="0" y="0"/>
              <a:ext cx="1333500" cy="2476500"/>
            </a:xfrm>
            <a:prstGeom prst="roundRect">
              <a:avLst>
                <a:gd fmla="val 8571"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5" name="Google Shape;465;p53"/>
            <p:cNvSpPr/>
            <p:nvPr/>
          </p:nvSpPr>
          <p:spPr>
            <a:xfrm>
              <a:off x="0" y="0"/>
              <a:ext cx="1333500" cy="57300"/>
            </a:xfrm>
            <a:prstGeom prst="roundRect">
              <a:avLst>
                <a:gd fmla="val 50000" name="adj"/>
              </a:avLst>
            </a:prstGeom>
            <a:solidFill>
              <a:srgbClr val="FBBF2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6" name="Google Shape;466;p53"/>
            <p:cNvSpPr txBox="1"/>
            <p:nvPr/>
          </p:nvSpPr>
          <p:spPr>
            <a:xfrm>
              <a:off x="142875" y="190500"/>
              <a:ext cx="10479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FBBF24"/>
                  </a:solidFill>
                  <a:latin typeface="Inter"/>
                  <a:ea typeface="Inter"/>
                  <a:cs typeface="Inter"/>
                  <a:sym typeface="Inter"/>
                </a:rPr>
                <a:t>STEP 02</a:t>
              </a:r>
              <a:endParaRPr b="1" sz="1000">
                <a:solidFill>
                  <a:srgbClr val="FBBF24"/>
                </a:solidFill>
                <a:latin typeface="Inter"/>
                <a:ea typeface="Inter"/>
                <a:cs typeface="Inter"/>
                <a:sym typeface="Inter"/>
              </a:endParaRPr>
            </a:p>
            <a:p>
              <a:pPr indent="0" lvl="0" marL="0" rtl="0" algn="l">
                <a:spcBef>
                  <a:spcPts val="1125"/>
                </a:spcBef>
                <a:spcAft>
                  <a:spcPts val="0"/>
                </a:spcAft>
                <a:buNone/>
              </a:pPr>
              <a:r>
                <a:rPr lang="en" sz="2800">
                  <a:solidFill>
                    <a:srgbClr val="FBBF24"/>
                  </a:solidFill>
                  <a:latin typeface="Material Icons"/>
                  <a:ea typeface="Material Icons"/>
                  <a:cs typeface="Material Icons"/>
                  <a:sym typeface="Material Icons"/>
                </a:rPr>
                <a:t>construction</a:t>
              </a:r>
              <a:endParaRPr sz="2800">
                <a:solidFill>
                  <a:srgbClr val="FBBF24"/>
                </a:solidFill>
                <a:latin typeface="Material Icons"/>
                <a:ea typeface="Material Icons"/>
                <a:cs typeface="Material Icons"/>
                <a:sym typeface="Material Icons"/>
              </a:endParaRPr>
            </a:p>
            <a:p>
              <a:pPr indent="0" lvl="0" marL="0" rtl="0" algn="l">
                <a:spcBef>
                  <a:spcPts val="1125"/>
                </a:spcBef>
                <a:spcAft>
                  <a:spcPts val="0"/>
                </a:spcAft>
                <a:buNone/>
              </a:pPr>
              <a:r>
                <a:rPr b="1" lang="en" sz="1400">
                  <a:solidFill>
                    <a:srgbClr val="F8FAFC"/>
                  </a:solidFill>
                  <a:latin typeface="Inter"/>
                  <a:ea typeface="Inter"/>
                  <a:cs typeface="Inter"/>
                  <a:sym typeface="Inter"/>
                </a:rPr>
                <a:t>Cloud Build</a:t>
              </a:r>
              <a:endParaRPr b="1" sz="1400">
                <a:solidFill>
                  <a:srgbClr val="F8FAFC"/>
                </a:solidFill>
                <a:latin typeface="Inter"/>
                <a:ea typeface="Inter"/>
                <a:cs typeface="Inter"/>
                <a:sym typeface="Inter"/>
              </a:endParaRPr>
            </a:p>
            <a:p>
              <a:pPr indent="0" lvl="0" marL="0" rtl="0" algn="l">
                <a:spcBef>
                  <a:spcPts val="600"/>
                </a:spcBef>
                <a:spcAft>
                  <a:spcPts val="0"/>
                </a:spcAft>
                <a:buNone/>
              </a:pPr>
              <a:r>
                <a:rPr b="0" lang="en">
                  <a:solidFill>
                    <a:srgbClr val="94A3B8"/>
                  </a:solidFill>
                  <a:latin typeface="Inter"/>
                  <a:ea typeface="Inter"/>
                  <a:cs typeface="Inter"/>
                  <a:sym typeface="Inter"/>
                </a:rPr>
                <a:t>Compile code and construct environment.</a:t>
              </a:r>
              <a:endParaRPr b="0">
                <a:solidFill>
                  <a:srgbClr val="94A3B8"/>
                </a:solidFill>
                <a:latin typeface="Inter"/>
                <a:ea typeface="Inter"/>
                <a:cs typeface="Inter"/>
                <a:sym typeface="Inter"/>
              </a:endParaRPr>
            </a:p>
          </p:txBody>
        </p:sp>
      </p:grpSp>
      <p:sp>
        <p:nvSpPr>
          <p:cNvPr id="467" name="Google Shape;467;p53"/>
          <p:cNvSpPr txBox="1"/>
          <p:nvPr/>
        </p:nvSpPr>
        <p:spPr>
          <a:xfrm>
            <a:off x="3571875" y="2645664"/>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rgbClr val="475569"/>
                </a:solidFill>
                <a:latin typeface="Material Icons"/>
                <a:ea typeface="Material Icons"/>
                <a:cs typeface="Material Icons"/>
                <a:sym typeface="Material Icons"/>
              </a:rPr>
              <a:t>arrow_forward</a:t>
            </a:r>
            <a:endParaRPr sz="1800">
              <a:solidFill>
                <a:srgbClr val="475569"/>
              </a:solidFill>
              <a:latin typeface="Material Icons"/>
              <a:ea typeface="Material Icons"/>
              <a:cs typeface="Material Icons"/>
              <a:sym typeface="Material Icons"/>
            </a:endParaRPr>
          </a:p>
        </p:txBody>
      </p:sp>
      <p:grpSp>
        <p:nvGrpSpPr>
          <p:cNvPr id="468" name="Google Shape;468;p53"/>
          <p:cNvGrpSpPr/>
          <p:nvPr/>
        </p:nvGrpSpPr>
        <p:grpSpPr>
          <a:xfrm>
            <a:off x="3905250" y="1524000"/>
            <a:ext cx="1333500" cy="2476500"/>
            <a:chOff x="0" y="0"/>
            <a:chExt cx="1333500" cy="2476500"/>
          </a:xfrm>
        </p:grpSpPr>
        <p:sp>
          <p:nvSpPr>
            <p:cNvPr id="469" name="Google Shape;469;p53"/>
            <p:cNvSpPr/>
            <p:nvPr/>
          </p:nvSpPr>
          <p:spPr>
            <a:xfrm>
              <a:off x="0" y="0"/>
              <a:ext cx="1333500" cy="2476500"/>
            </a:xfrm>
            <a:prstGeom prst="roundRect">
              <a:avLst>
                <a:gd fmla="val 8571"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0" name="Google Shape;470;p53"/>
            <p:cNvSpPr/>
            <p:nvPr/>
          </p:nvSpPr>
          <p:spPr>
            <a:xfrm>
              <a:off x="0" y="0"/>
              <a:ext cx="1333500" cy="57300"/>
            </a:xfrm>
            <a:prstGeom prst="roundRect">
              <a:avLst>
                <a:gd fmla="val 50000" name="adj"/>
              </a:avLst>
            </a:prstGeom>
            <a:solidFill>
              <a:srgbClr val="A855F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1" name="Google Shape;471;p53"/>
            <p:cNvSpPr txBox="1"/>
            <p:nvPr/>
          </p:nvSpPr>
          <p:spPr>
            <a:xfrm>
              <a:off x="142875" y="190500"/>
              <a:ext cx="10479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A855F7"/>
                  </a:solidFill>
                  <a:latin typeface="Inter"/>
                  <a:ea typeface="Inter"/>
                  <a:cs typeface="Inter"/>
                  <a:sym typeface="Inter"/>
                </a:rPr>
                <a:t>STEP 03</a:t>
              </a:r>
              <a:endParaRPr b="1" sz="1000">
                <a:solidFill>
                  <a:srgbClr val="A855F7"/>
                </a:solidFill>
                <a:latin typeface="Inter"/>
                <a:ea typeface="Inter"/>
                <a:cs typeface="Inter"/>
                <a:sym typeface="Inter"/>
              </a:endParaRPr>
            </a:p>
            <a:p>
              <a:pPr indent="0" lvl="0" marL="0" rtl="0" algn="l">
                <a:spcBef>
                  <a:spcPts val="1125"/>
                </a:spcBef>
                <a:spcAft>
                  <a:spcPts val="0"/>
                </a:spcAft>
                <a:buNone/>
              </a:pPr>
              <a:r>
                <a:rPr lang="en" sz="2800">
                  <a:solidFill>
                    <a:srgbClr val="A855F7"/>
                  </a:solidFill>
                  <a:latin typeface="Material Icons"/>
                  <a:ea typeface="Material Icons"/>
                  <a:cs typeface="Material Icons"/>
                  <a:sym typeface="Material Icons"/>
                </a:rPr>
                <a:t>layers</a:t>
              </a:r>
              <a:endParaRPr sz="2800">
                <a:solidFill>
                  <a:srgbClr val="A855F7"/>
                </a:solidFill>
                <a:latin typeface="Material Icons"/>
                <a:ea typeface="Material Icons"/>
                <a:cs typeface="Material Icons"/>
                <a:sym typeface="Material Icons"/>
              </a:endParaRPr>
            </a:p>
            <a:p>
              <a:pPr indent="0" lvl="0" marL="0" rtl="0" algn="l">
                <a:spcBef>
                  <a:spcPts val="1125"/>
                </a:spcBef>
                <a:spcAft>
                  <a:spcPts val="0"/>
                </a:spcAft>
                <a:buNone/>
              </a:pPr>
              <a:r>
                <a:rPr b="1" lang="en" sz="1400">
                  <a:solidFill>
                    <a:srgbClr val="F8FAFC"/>
                  </a:solidFill>
                  <a:latin typeface="Inter"/>
                  <a:ea typeface="Inter"/>
                  <a:cs typeface="Inter"/>
                  <a:sym typeface="Inter"/>
                </a:rPr>
                <a:t>Container</a:t>
              </a:r>
              <a:endParaRPr b="1" sz="1400">
                <a:solidFill>
                  <a:srgbClr val="F8FAFC"/>
                </a:solidFill>
                <a:latin typeface="Inter"/>
                <a:ea typeface="Inter"/>
                <a:cs typeface="Inter"/>
                <a:sym typeface="Inter"/>
              </a:endParaRPr>
            </a:p>
            <a:p>
              <a:pPr indent="0" lvl="0" marL="0" rtl="0" algn="l">
                <a:spcBef>
                  <a:spcPts val="600"/>
                </a:spcBef>
                <a:spcAft>
                  <a:spcPts val="0"/>
                </a:spcAft>
                <a:buNone/>
              </a:pPr>
              <a:r>
                <a:rPr b="0" lang="en">
                  <a:solidFill>
                    <a:srgbClr val="94A3B8"/>
                  </a:solidFill>
                  <a:latin typeface="Inter"/>
                  <a:ea typeface="Inter"/>
                  <a:cs typeface="Inter"/>
                  <a:sym typeface="Inter"/>
                </a:rPr>
                <a:t>Package image stored in registry</a:t>
              </a:r>
              <a:r>
                <a:rPr b="0" lang="en" sz="1000">
                  <a:solidFill>
                    <a:srgbClr val="94A3B8"/>
                  </a:solidFill>
                  <a:latin typeface="Inter"/>
                  <a:ea typeface="Inter"/>
                  <a:cs typeface="Inter"/>
                  <a:sym typeface="Inter"/>
                </a:rPr>
                <a:t>.</a:t>
              </a:r>
              <a:endParaRPr b="0" sz="1000">
                <a:solidFill>
                  <a:srgbClr val="94A3B8"/>
                </a:solidFill>
                <a:latin typeface="Inter"/>
                <a:ea typeface="Inter"/>
                <a:cs typeface="Inter"/>
                <a:sym typeface="Inter"/>
              </a:endParaRPr>
            </a:p>
          </p:txBody>
        </p:sp>
      </p:grpSp>
      <p:sp>
        <p:nvSpPr>
          <p:cNvPr id="472" name="Google Shape;472;p53"/>
          <p:cNvSpPr txBox="1"/>
          <p:nvPr/>
        </p:nvSpPr>
        <p:spPr>
          <a:xfrm>
            <a:off x="5286375" y="2645664"/>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rgbClr val="475569"/>
                </a:solidFill>
                <a:latin typeface="Material Icons"/>
                <a:ea typeface="Material Icons"/>
                <a:cs typeface="Material Icons"/>
                <a:sym typeface="Material Icons"/>
              </a:rPr>
              <a:t>arrow_forward</a:t>
            </a:r>
            <a:endParaRPr sz="1800">
              <a:solidFill>
                <a:srgbClr val="475569"/>
              </a:solidFill>
              <a:latin typeface="Material Icons"/>
              <a:ea typeface="Material Icons"/>
              <a:cs typeface="Material Icons"/>
              <a:sym typeface="Material Icons"/>
            </a:endParaRPr>
          </a:p>
        </p:txBody>
      </p:sp>
      <p:grpSp>
        <p:nvGrpSpPr>
          <p:cNvPr id="473" name="Google Shape;473;p53"/>
          <p:cNvGrpSpPr/>
          <p:nvPr/>
        </p:nvGrpSpPr>
        <p:grpSpPr>
          <a:xfrm>
            <a:off x="5619750" y="1524000"/>
            <a:ext cx="1333500" cy="2476500"/>
            <a:chOff x="0" y="0"/>
            <a:chExt cx="1333500" cy="2476500"/>
          </a:xfrm>
        </p:grpSpPr>
        <p:sp>
          <p:nvSpPr>
            <p:cNvPr id="474" name="Google Shape;474;p53"/>
            <p:cNvSpPr/>
            <p:nvPr/>
          </p:nvSpPr>
          <p:spPr>
            <a:xfrm>
              <a:off x="0" y="0"/>
              <a:ext cx="1333500" cy="2476500"/>
            </a:xfrm>
            <a:prstGeom prst="roundRect">
              <a:avLst>
                <a:gd fmla="val 8571"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5" name="Google Shape;475;p53"/>
            <p:cNvSpPr/>
            <p:nvPr/>
          </p:nvSpPr>
          <p:spPr>
            <a:xfrm>
              <a:off x="0" y="0"/>
              <a:ext cx="1333500" cy="57300"/>
            </a:xfrm>
            <a:prstGeom prst="roundRect">
              <a:avLst>
                <a:gd fmla="val 50000" name="adj"/>
              </a:avLst>
            </a:prstGeom>
            <a:solidFill>
              <a:srgbClr val="34D39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6" name="Google Shape;476;p53"/>
            <p:cNvSpPr txBox="1"/>
            <p:nvPr/>
          </p:nvSpPr>
          <p:spPr>
            <a:xfrm>
              <a:off x="142875" y="190500"/>
              <a:ext cx="10479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34D399"/>
                  </a:solidFill>
                  <a:latin typeface="Inter"/>
                  <a:ea typeface="Inter"/>
                  <a:cs typeface="Inter"/>
                  <a:sym typeface="Inter"/>
                </a:rPr>
                <a:t>STEP 04</a:t>
              </a:r>
              <a:endParaRPr b="1" sz="1000">
                <a:solidFill>
                  <a:srgbClr val="34D399"/>
                </a:solidFill>
                <a:latin typeface="Inter"/>
                <a:ea typeface="Inter"/>
                <a:cs typeface="Inter"/>
                <a:sym typeface="Inter"/>
              </a:endParaRPr>
            </a:p>
            <a:p>
              <a:pPr indent="0" lvl="0" marL="0" rtl="0" algn="l">
                <a:spcBef>
                  <a:spcPts val="1125"/>
                </a:spcBef>
                <a:spcAft>
                  <a:spcPts val="0"/>
                </a:spcAft>
                <a:buNone/>
              </a:pPr>
              <a:r>
                <a:rPr lang="en" sz="2800">
                  <a:solidFill>
                    <a:srgbClr val="34D399"/>
                  </a:solidFill>
                  <a:latin typeface="Material Icons"/>
                  <a:ea typeface="Material Icons"/>
                  <a:cs typeface="Material Icons"/>
                  <a:sym typeface="Material Icons"/>
                </a:rPr>
                <a:t>cloud_queue</a:t>
              </a:r>
              <a:endParaRPr sz="2800">
                <a:solidFill>
                  <a:srgbClr val="34D399"/>
                </a:solidFill>
                <a:latin typeface="Material Icons"/>
                <a:ea typeface="Material Icons"/>
                <a:cs typeface="Material Icons"/>
                <a:sym typeface="Material Icons"/>
              </a:endParaRPr>
            </a:p>
            <a:p>
              <a:pPr indent="0" lvl="0" marL="0" rtl="0" algn="l">
                <a:spcBef>
                  <a:spcPts val="1125"/>
                </a:spcBef>
                <a:spcAft>
                  <a:spcPts val="0"/>
                </a:spcAft>
                <a:buNone/>
              </a:pPr>
              <a:r>
                <a:rPr b="1" lang="en" sz="1400">
                  <a:solidFill>
                    <a:srgbClr val="F8FAFC"/>
                  </a:solidFill>
                  <a:latin typeface="Inter"/>
                  <a:ea typeface="Inter"/>
                  <a:cs typeface="Inter"/>
                  <a:sym typeface="Inter"/>
                </a:rPr>
                <a:t>Cloud Run</a:t>
              </a:r>
              <a:endParaRPr b="1" sz="1400">
                <a:solidFill>
                  <a:srgbClr val="F8FAFC"/>
                </a:solidFill>
                <a:latin typeface="Inter"/>
                <a:ea typeface="Inter"/>
                <a:cs typeface="Inter"/>
                <a:sym typeface="Inter"/>
              </a:endParaRPr>
            </a:p>
            <a:p>
              <a:pPr indent="0" lvl="0" marL="0" rtl="0" algn="l">
                <a:spcBef>
                  <a:spcPts val="600"/>
                </a:spcBef>
                <a:spcAft>
                  <a:spcPts val="0"/>
                </a:spcAft>
                <a:buNone/>
              </a:pPr>
              <a:r>
                <a:rPr b="0" lang="en">
                  <a:solidFill>
                    <a:srgbClr val="94A3B8"/>
                  </a:solidFill>
                  <a:latin typeface="Inter"/>
                  <a:ea typeface="Inter"/>
                  <a:cs typeface="Inter"/>
                  <a:sym typeface="Inter"/>
                </a:rPr>
                <a:t>Deploy container automatically.</a:t>
              </a:r>
              <a:endParaRPr b="0">
                <a:solidFill>
                  <a:srgbClr val="94A3B8"/>
                </a:solidFill>
                <a:latin typeface="Inter"/>
                <a:ea typeface="Inter"/>
                <a:cs typeface="Inter"/>
                <a:sym typeface="Inter"/>
              </a:endParaRPr>
            </a:p>
          </p:txBody>
        </p:sp>
      </p:grpSp>
      <p:sp>
        <p:nvSpPr>
          <p:cNvPr id="477" name="Google Shape;477;p53"/>
          <p:cNvSpPr txBox="1"/>
          <p:nvPr/>
        </p:nvSpPr>
        <p:spPr>
          <a:xfrm>
            <a:off x="7000875" y="2645664"/>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rgbClr val="475569"/>
                </a:solidFill>
                <a:latin typeface="Material Icons"/>
                <a:ea typeface="Material Icons"/>
                <a:cs typeface="Material Icons"/>
                <a:sym typeface="Material Icons"/>
              </a:rPr>
              <a:t>arrow_forward</a:t>
            </a:r>
            <a:endParaRPr sz="1800">
              <a:solidFill>
                <a:srgbClr val="475569"/>
              </a:solidFill>
              <a:latin typeface="Material Icons"/>
              <a:ea typeface="Material Icons"/>
              <a:cs typeface="Material Icons"/>
              <a:sym typeface="Material Icons"/>
            </a:endParaRPr>
          </a:p>
        </p:txBody>
      </p:sp>
      <p:grpSp>
        <p:nvGrpSpPr>
          <p:cNvPr id="478" name="Google Shape;478;p53"/>
          <p:cNvGrpSpPr/>
          <p:nvPr/>
        </p:nvGrpSpPr>
        <p:grpSpPr>
          <a:xfrm>
            <a:off x="7334400" y="1524000"/>
            <a:ext cx="1333500" cy="2476500"/>
            <a:chOff x="0" y="0"/>
            <a:chExt cx="1333500" cy="2476500"/>
          </a:xfrm>
        </p:grpSpPr>
        <p:sp>
          <p:nvSpPr>
            <p:cNvPr id="479" name="Google Shape;479;p53"/>
            <p:cNvSpPr/>
            <p:nvPr/>
          </p:nvSpPr>
          <p:spPr>
            <a:xfrm>
              <a:off x="0" y="0"/>
              <a:ext cx="1333500" cy="2476500"/>
            </a:xfrm>
            <a:prstGeom prst="roundRect">
              <a:avLst>
                <a:gd fmla="val 8571"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0" name="Google Shape;480;p53"/>
            <p:cNvSpPr/>
            <p:nvPr/>
          </p:nvSpPr>
          <p:spPr>
            <a:xfrm>
              <a:off x="0" y="0"/>
              <a:ext cx="1333500" cy="57300"/>
            </a:xfrm>
            <a:prstGeom prst="roundRect">
              <a:avLst>
                <a:gd fmla="val 50000" name="adj"/>
              </a:avLst>
            </a:prstGeom>
            <a:solidFill>
              <a:srgbClr val="F43F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1" name="Google Shape;481;p53"/>
            <p:cNvSpPr txBox="1"/>
            <p:nvPr/>
          </p:nvSpPr>
          <p:spPr>
            <a:xfrm>
              <a:off x="142875" y="190500"/>
              <a:ext cx="10479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F43F5E"/>
                  </a:solidFill>
                  <a:latin typeface="Inter"/>
                  <a:ea typeface="Inter"/>
                  <a:cs typeface="Inter"/>
                  <a:sym typeface="Inter"/>
                </a:rPr>
                <a:t>STEP 05</a:t>
              </a:r>
              <a:endParaRPr b="1" sz="1000">
                <a:solidFill>
                  <a:srgbClr val="F43F5E"/>
                </a:solidFill>
                <a:latin typeface="Inter"/>
                <a:ea typeface="Inter"/>
                <a:cs typeface="Inter"/>
                <a:sym typeface="Inter"/>
              </a:endParaRPr>
            </a:p>
            <a:p>
              <a:pPr indent="0" lvl="0" marL="0" rtl="0" algn="l">
                <a:spcBef>
                  <a:spcPts val="1125"/>
                </a:spcBef>
                <a:spcAft>
                  <a:spcPts val="0"/>
                </a:spcAft>
                <a:buNone/>
              </a:pPr>
              <a:r>
                <a:rPr lang="en" sz="2800">
                  <a:solidFill>
                    <a:srgbClr val="F43F5E"/>
                  </a:solidFill>
                  <a:latin typeface="Material Icons"/>
                  <a:ea typeface="Material Icons"/>
                  <a:cs typeface="Material Icons"/>
                  <a:sym typeface="Material Icons"/>
                </a:rPr>
                <a:t>link</a:t>
              </a:r>
              <a:endParaRPr sz="2800">
                <a:solidFill>
                  <a:srgbClr val="F43F5E"/>
                </a:solidFill>
                <a:latin typeface="Material Icons"/>
                <a:ea typeface="Material Icons"/>
                <a:cs typeface="Material Icons"/>
                <a:sym typeface="Material Icons"/>
              </a:endParaRPr>
            </a:p>
            <a:p>
              <a:pPr indent="0" lvl="0" marL="0" rtl="0" algn="l">
                <a:spcBef>
                  <a:spcPts val="1125"/>
                </a:spcBef>
                <a:spcAft>
                  <a:spcPts val="0"/>
                </a:spcAft>
                <a:buNone/>
              </a:pPr>
              <a:r>
                <a:rPr b="1" lang="en" sz="1400">
                  <a:solidFill>
                    <a:srgbClr val="F8FAFC"/>
                  </a:solidFill>
                  <a:latin typeface="Inter"/>
                  <a:ea typeface="Inter"/>
                  <a:cs typeface="Inter"/>
                  <a:sym typeface="Inter"/>
                </a:rPr>
                <a:t>Public URL</a:t>
              </a:r>
              <a:endParaRPr b="1" sz="1400">
                <a:solidFill>
                  <a:srgbClr val="F8FAFC"/>
                </a:solidFill>
                <a:latin typeface="Inter"/>
                <a:ea typeface="Inter"/>
                <a:cs typeface="Inter"/>
                <a:sym typeface="Inter"/>
              </a:endParaRPr>
            </a:p>
            <a:p>
              <a:pPr indent="0" lvl="0" marL="0" rtl="0" algn="l">
                <a:spcBef>
                  <a:spcPts val="600"/>
                </a:spcBef>
                <a:spcAft>
                  <a:spcPts val="0"/>
                </a:spcAft>
                <a:buNone/>
              </a:pPr>
              <a:r>
                <a:rPr b="0" lang="en">
                  <a:solidFill>
                    <a:srgbClr val="94A3B8"/>
                  </a:solidFill>
                  <a:latin typeface="Inter"/>
                  <a:ea typeface="Inter"/>
                  <a:cs typeface="Inter"/>
                  <a:sym typeface="Inter"/>
                </a:rPr>
                <a:t>Service goes live with HTTPS endpoint.</a:t>
              </a:r>
              <a:endParaRPr b="0">
                <a:solidFill>
                  <a:srgbClr val="94A3B8"/>
                </a:solidFill>
                <a:latin typeface="Inter"/>
                <a:ea typeface="Inter"/>
                <a:cs typeface="Inter"/>
                <a:sym typeface="Inter"/>
              </a:endParaRPr>
            </a:p>
          </p:txBody>
        </p:sp>
      </p:grpSp>
      <p:sp>
        <p:nvSpPr>
          <p:cNvPr id="482" name="Google Shape;482;p53"/>
          <p:cNvSpPr txBox="1"/>
          <p:nvPr/>
        </p:nvSpPr>
        <p:spPr>
          <a:xfrm>
            <a:off x="476250" y="4072825"/>
            <a:ext cx="8350200" cy="794100"/>
          </a:xfrm>
          <a:prstGeom prst="rect">
            <a:avLst/>
          </a:prstGeom>
          <a:noFill/>
          <a:ln>
            <a:noFill/>
          </a:ln>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b="1" lang="en">
                <a:solidFill>
                  <a:schemeClr val="lt1"/>
                </a:solidFill>
              </a:rPr>
              <a:t>"We wrote Python code, but we didn't create a virtual machine."</a:t>
            </a:r>
            <a:endParaRPr b="1">
              <a:solidFill>
                <a:schemeClr val="lt1"/>
              </a:solidFill>
            </a:endParaRPr>
          </a:p>
          <a:p>
            <a:pPr indent="0" lvl="0" marL="0" rtl="0" algn="l">
              <a:lnSpc>
                <a:spcPct val="115000"/>
              </a:lnSpc>
              <a:spcBef>
                <a:spcPts val="1200"/>
              </a:spcBef>
              <a:spcAft>
                <a:spcPts val="0"/>
              </a:spcAft>
              <a:buNone/>
            </a:pPr>
            <a:r>
              <a:rPr lang="en">
                <a:solidFill>
                  <a:schemeClr val="lt1"/>
                </a:solidFill>
              </a:rPr>
              <a:t>Cloud Run manages the infrastructure required to run the application. This is a </a:t>
            </a:r>
            <a:r>
              <a:rPr b="1" lang="en">
                <a:solidFill>
                  <a:schemeClr val="lt1"/>
                </a:solidFill>
              </a:rPr>
              <a:t>serverless</a:t>
            </a:r>
            <a:r>
              <a:rPr lang="en">
                <a:solidFill>
                  <a:schemeClr val="lt1"/>
                </a:solidFill>
              </a:rPr>
              <a:t> concept.</a:t>
            </a:r>
            <a:endParaRPr>
              <a:solidFill>
                <a:schemeClr val="lt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86" name="Shape 486"/>
        <p:cNvGrpSpPr/>
        <p:nvPr/>
      </p:nvGrpSpPr>
      <p:grpSpPr>
        <a:xfrm>
          <a:off x="0" y="0"/>
          <a:ext cx="0" cy="0"/>
          <a:chOff x="0" y="0"/>
          <a:chExt cx="0" cy="0"/>
        </a:xfrm>
      </p:grpSpPr>
      <p:sp>
        <p:nvSpPr>
          <p:cNvPr id="487" name="Google Shape;487;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88" name="Google Shape;488;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89" name="Google Shape;489;p54"/>
          <p:cNvPicPr preferRelativeResize="0"/>
          <p:nvPr/>
        </p:nvPicPr>
        <p:blipFill>
          <a:blip r:embed="rId3">
            <a:alphaModFix/>
          </a:blip>
          <a:stretch>
            <a:fillRect/>
          </a:stretch>
        </p:blipFill>
        <p:spPr>
          <a:xfrm>
            <a:off x="0" y="60275"/>
            <a:ext cx="9144003" cy="502295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93" name="Shape 493"/>
        <p:cNvGrpSpPr/>
        <p:nvPr/>
      </p:nvGrpSpPr>
      <p:grpSpPr>
        <a:xfrm>
          <a:off x="0" y="0"/>
          <a:ext cx="0" cy="0"/>
          <a:chOff x="0" y="0"/>
          <a:chExt cx="0" cy="0"/>
        </a:xfrm>
      </p:grpSpPr>
      <p:pic>
        <p:nvPicPr>
          <p:cNvPr id="494" name="Google Shape;494;p55"/>
          <p:cNvPicPr preferRelativeResize="0"/>
          <p:nvPr/>
        </p:nvPicPr>
        <p:blipFill>
          <a:blip r:embed="rId3">
            <a:alphaModFix/>
          </a:blip>
          <a:stretch>
            <a:fillRect/>
          </a:stretch>
        </p:blipFill>
        <p:spPr>
          <a:xfrm>
            <a:off x="357913" y="152400"/>
            <a:ext cx="8271831" cy="4838698"/>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98" name="Shape 498"/>
        <p:cNvGrpSpPr/>
        <p:nvPr/>
      </p:nvGrpSpPr>
      <p:grpSpPr>
        <a:xfrm>
          <a:off x="0" y="0"/>
          <a:ext cx="0" cy="0"/>
          <a:chOff x="0" y="0"/>
          <a:chExt cx="0" cy="0"/>
        </a:xfrm>
      </p:grpSpPr>
      <p:sp>
        <p:nvSpPr>
          <p:cNvPr id="499" name="Google Shape;499;p56"/>
          <p:cNvSpPr txBox="1"/>
          <p:nvPr>
            <p:ph type="title"/>
          </p:nvPr>
        </p:nvSpPr>
        <p:spPr>
          <a:xfrm>
            <a:off x="311700" y="445025"/>
            <a:ext cx="3613800" cy="572700"/>
          </a:xfrm>
          <a:prstGeom prst="rect">
            <a:avLst/>
          </a:prstGeom>
          <a:solidFill>
            <a:srgbClr val="60A5FA"/>
          </a:solidFill>
        </p:spPr>
        <p:txBody>
          <a:bodyPr anchorCtr="0" anchor="t" bIns="91425" lIns="91425" spcFirstLastPara="1" rIns="91425" wrap="square" tIns="91425">
            <a:normAutofit/>
          </a:bodyPr>
          <a:lstStyle/>
          <a:p>
            <a:pPr indent="0" lvl="0" marL="0" rtl="0" algn="l">
              <a:lnSpc>
                <a:spcPct val="115000"/>
              </a:lnSpc>
              <a:spcBef>
                <a:spcPts val="2400"/>
              </a:spcBef>
              <a:spcAft>
                <a:spcPts val="600"/>
              </a:spcAft>
              <a:buClr>
                <a:schemeClr val="dk1"/>
              </a:buClr>
              <a:buSzPts val="1100"/>
              <a:buFont typeface="Arial"/>
              <a:buNone/>
            </a:pPr>
            <a:r>
              <a:rPr b="1" lang="en" sz="2300">
                <a:solidFill>
                  <a:schemeClr val="lt1"/>
                </a:solidFill>
              </a:rPr>
              <a:t>8. Allow public access</a:t>
            </a:r>
            <a:endParaRPr>
              <a:solidFill>
                <a:schemeClr val="lt1"/>
              </a:solidFill>
            </a:endParaRPr>
          </a:p>
        </p:txBody>
      </p:sp>
      <p:sp>
        <p:nvSpPr>
          <p:cNvPr id="500" name="Google Shape;500;p56"/>
          <p:cNvSpPr txBox="1"/>
          <p:nvPr>
            <p:ph idx="1" type="body"/>
          </p:nvPr>
        </p:nvSpPr>
        <p:spPr>
          <a:xfrm>
            <a:off x="311700" y="1152475"/>
            <a:ext cx="7380300" cy="3703200"/>
          </a:xfrm>
          <a:prstGeom prst="rect">
            <a:avLst/>
          </a:prstGeom>
          <a:solidFill>
            <a:schemeClr val="dk1"/>
          </a:solidFill>
          <a:ln cap="flat" cmpd="sng" w="9525">
            <a:solidFill>
              <a:srgbClr val="FBBF24"/>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5000"/>
              </a:lnSpc>
              <a:spcBef>
                <a:spcPts val="1200"/>
              </a:spcBef>
              <a:spcAft>
                <a:spcPts val="0"/>
              </a:spcAft>
              <a:buClr>
                <a:schemeClr val="dk1"/>
              </a:buClr>
              <a:buSzPts val="770"/>
              <a:buFont typeface="Arial"/>
              <a:buNone/>
            </a:pPr>
            <a:r>
              <a:rPr b="1" lang="en" sz="1770">
                <a:solidFill>
                  <a:schemeClr val="lt1"/>
                </a:solidFill>
              </a:rPr>
              <a:t>During deployment, Cloud Run may ask:  Allow unauthenticated invocations?</a:t>
            </a:r>
            <a:endParaRPr b="1" sz="1770">
              <a:solidFill>
                <a:schemeClr val="lt1"/>
              </a:solidFill>
            </a:endParaRPr>
          </a:p>
          <a:p>
            <a:pPr indent="0" lvl="0" marL="0" rtl="0" algn="l">
              <a:lnSpc>
                <a:spcPct val="105000"/>
              </a:lnSpc>
              <a:spcBef>
                <a:spcPts val="1200"/>
              </a:spcBef>
              <a:spcAft>
                <a:spcPts val="0"/>
              </a:spcAft>
              <a:buClr>
                <a:schemeClr val="dk1"/>
              </a:buClr>
              <a:buSzPts val="770"/>
              <a:buFont typeface="Arial"/>
              <a:buNone/>
            </a:pPr>
            <a:r>
              <a:rPr b="1" lang="en" sz="1770">
                <a:solidFill>
                  <a:schemeClr val="lt1"/>
                </a:solidFill>
              </a:rPr>
              <a:t>Choose: Yes</a:t>
            </a:r>
            <a:endParaRPr b="1" sz="1770">
              <a:solidFill>
                <a:schemeClr val="lt1"/>
              </a:solidFill>
            </a:endParaRPr>
          </a:p>
          <a:p>
            <a:pPr indent="0" lvl="0" marL="0" rtl="0" algn="l">
              <a:lnSpc>
                <a:spcPct val="105000"/>
              </a:lnSpc>
              <a:spcBef>
                <a:spcPts val="1200"/>
              </a:spcBef>
              <a:spcAft>
                <a:spcPts val="0"/>
              </a:spcAft>
              <a:buClr>
                <a:schemeClr val="dk1"/>
              </a:buClr>
              <a:buSzPts val="770"/>
              <a:buFont typeface="Arial"/>
              <a:buNone/>
            </a:pPr>
            <a:r>
              <a:rPr b="1" lang="en" sz="1770">
                <a:solidFill>
                  <a:schemeClr val="lt1"/>
                </a:solidFill>
              </a:rPr>
              <a:t>This means:  Anyone with the URL can access the web application.</a:t>
            </a:r>
            <a:endParaRPr b="1" sz="1770">
              <a:solidFill>
                <a:schemeClr val="lt1"/>
              </a:solidFill>
            </a:endParaRPr>
          </a:p>
          <a:p>
            <a:pPr indent="0" lvl="0" marL="0" rtl="0" algn="l">
              <a:lnSpc>
                <a:spcPct val="105000"/>
              </a:lnSpc>
              <a:spcBef>
                <a:spcPts val="1200"/>
              </a:spcBef>
              <a:spcAft>
                <a:spcPts val="0"/>
              </a:spcAft>
              <a:buClr>
                <a:schemeClr val="dk1"/>
              </a:buClr>
              <a:buSzPts val="770"/>
              <a:buFont typeface="Arial"/>
              <a:buNone/>
            </a:pPr>
            <a:r>
              <a:rPr b="1" lang="en" sz="1770">
                <a:solidFill>
                  <a:schemeClr val="lt1"/>
                </a:solidFill>
              </a:rPr>
              <a:t>It does not mean: Anyone can directly access the Firestore database.</a:t>
            </a:r>
            <a:endParaRPr b="1" sz="1770">
              <a:solidFill>
                <a:schemeClr val="lt1"/>
              </a:solidFill>
            </a:endParaRPr>
          </a:p>
          <a:p>
            <a:pPr indent="0" lvl="0" marL="0" rtl="0" algn="l">
              <a:lnSpc>
                <a:spcPct val="105000"/>
              </a:lnSpc>
              <a:spcBef>
                <a:spcPts val="1200"/>
              </a:spcBef>
              <a:spcAft>
                <a:spcPts val="0"/>
              </a:spcAft>
              <a:buClr>
                <a:schemeClr val="dk1"/>
              </a:buClr>
              <a:buSzPts val="770"/>
              <a:buFont typeface="Arial"/>
              <a:buNone/>
            </a:pPr>
            <a:r>
              <a:rPr b="1" lang="en" sz="1770">
                <a:solidFill>
                  <a:schemeClr val="lt1"/>
                </a:solidFill>
              </a:rPr>
              <a:t>The application is publicly accessible, while Firestore is accessed by the application's server-side identity.</a:t>
            </a:r>
            <a:endParaRPr b="1" sz="1770">
              <a:solidFill>
                <a:schemeClr val="lt1"/>
              </a:solidFill>
            </a:endParaRPr>
          </a:p>
          <a:p>
            <a:pPr indent="0" lvl="0" marL="0" rtl="0" algn="l">
              <a:lnSpc>
                <a:spcPct val="105000"/>
              </a:lnSpc>
              <a:spcBef>
                <a:spcPts val="1200"/>
              </a:spcBef>
              <a:spcAft>
                <a:spcPts val="0"/>
              </a:spcAft>
              <a:buClr>
                <a:schemeClr val="dk1"/>
              </a:buClr>
              <a:buSzPts val="770"/>
              <a:buFont typeface="Arial"/>
              <a:buNone/>
            </a:pPr>
            <a:r>
              <a:rPr b="1" lang="en" sz="1770">
                <a:solidFill>
                  <a:schemeClr val="dk1"/>
                </a:solidFill>
                <a:highlight>
                  <a:srgbClr val="FBBF24"/>
                </a:highlight>
              </a:rPr>
              <a:t>This is an important architecture/security distinction.</a:t>
            </a:r>
            <a:endParaRPr b="1" sz="1770">
              <a:solidFill>
                <a:schemeClr val="dk1"/>
              </a:solidFill>
              <a:highlight>
                <a:srgbClr val="FBBF24"/>
              </a:highlight>
            </a:endParaRPr>
          </a:p>
          <a:p>
            <a:pPr indent="0" lvl="0" marL="0" rtl="0" algn="l">
              <a:lnSpc>
                <a:spcPct val="105000"/>
              </a:lnSpc>
              <a:spcBef>
                <a:spcPts val="1200"/>
              </a:spcBef>
              <a:spcAft>
                <a:spcPts val="1200"/>
              </a:spcAft>
              <a:buSzPts val="770"/>
              <a:buNone/>
            </a:pPr>
            <a:r>
              <a:t/>
            </a:r>
            <a:endParaRPr b="1" sz="1560">
              <a:solidFill>
                <a:schemeClr val="lt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04" name="Shape 504"/>
        <p:cNvGrpSpPr/>
        <p:nvPr/>
      </p:nvGrpSpPr>
      <p:grpSpPr>
        <a:xfrm>
          <a:off x="0" y="0"/>
          <a:ext cx="0" cy="0"/>
          <a:chOff x="0" y="0"/>
          <a:chExt cx="0" cy="0"/>
        </a:xfrm>
      </p:grpSpPr>
      <p:sp>
        <p:nvSpPr>
          <p:cNvPr id="505" name="Google Shape;505;p57"/>
          <p:cNvSpPr txBox="1"/>
          <p:nvPr>
            <p:ph type="title"/>
          </p:nvPr>
        </p:nvSpPr>
        <p:spPr>
          <a:xfrm>
            <a:off x="311700" y="445025"/>
            <a:ext cx="3591000" cy="572700"/>
          </a:xfrm>
          <a:prstGeom prst="rect">
            <a:avLst/>
          </a:prstGeom>
          <a:solidFill>
            <a:srgbClr val="60A5FA"/>
          </a:solidFill>
        </p:spPr>
        <p:txBody>
          <a:bodyPr anchorCtr="0" anchor="t" bIns="91425" lIns="91425" spcFirstLastPara="1" rIns="91425" wrap="square" tIns="91425">
            <a:normAutofit/>
          </a:bodyPr>
          <a:lstStyle/>
          <a:p>
            <a:pPr indent="0" lvl="0" marL="0" rtl="0" algn="l">
              <a:lnSpc>
                <a:spcPct val="115000"/>
              </a:lnSpc>
              <a:spcBef>
                <a:spcPts val="2400"/>
              </a:spcBef>
              <a:spcAft>
                <a:spcPts val="600"/>
              </a:spcAft>
              <a:buClr>
                <a:schemeClr val="dk1"/>
              </a:buClr>
              <a:buSzPts val="1100"/>
              <a:buFont typeface="Arial"/>
              <a:buNone/>
            </a:pPr>
            <a:r>
              <a:rPr b="1" lang="en" sz="2300">
                <a:solidFill>
                  <a:schemeClr val="lt1"/>
                </a:solidFill>
              </a:rPr>
              <a:t>9. Open the application</a:t>
            </a:r>
            <a:endParaRPr>
              <a:solidFill>
                <a:schemeClr val="lt1"/>
              </a:solidFill>
            </a:endParaRPr>
          </a:p>
        </p:txBody>
      </p:sp>
      <p:sp>
        <p:nvSpPr>
          <p:cNvPr id="506" name="Google Shape;506;p57"/>
          <p:cNvSpPr txBox="1"/>
          <p:nvPr>
            <p:ph idx="1" type="body"/>
          </p:nvPr>
        </p:nvSpPr>
        <p:spPr>
          <a:xfrm>
            <a:off x="549950" y="1277275"/>
            <a:ext cx="77319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2600">
                <a:solidFill>
                  <a:schemeClr val="lt1"/>
                </a:solidFill>
              </a:rPr>
              <a:t>At the end of deployment, Google Cloud will give students a URL similar to:</a:t>
            </a:r>
            <a:endParaRPr sz="2600">
              <a:solidFill>
                <a:schemeClr val="lt1"/>
              </a:solidFill>
            </a:endParaRPr>
          </a:p>
          <a:p>
            <a:pPr indent="0" lvl="0" marL="0" rtl="0" algn="l">
              <a:spcBef>
                <a:spcPts val="1200"/>
              </a:spcBef>
              <a:spcAft>
                <a:spcPts val="0"/>
              </a:spcAft>
              <a:buClr>
                <a:schemeClr val="dk1"/>
              </a:buClr>
              <a:buSzPts val="1100"/>
              <a:buFont typeface="Arial"/>
              <a:buNone/>
            </a:pPr>
            <a:r>
              <a:rPr lang="en" sz="2600">
                <a:solidFill>
                  <a:schemeClr val="lt1"/>
                </a:solidFill>
              </a:rPr>
              <a:t>https://community-feedback-xxxxx-uc.a.run.app</a:t>
            </a:r>
            <a:endParaRPr sz="2600">
              <a:solidFill>
                <a:schemeClr val="lt1"/>
              </a:solidFill>
            </a:endParaRPr>
          </a:p>
          <a:p>
            <a:pPr indent="0" lvl="0" marL="0" rtl="0" algn="l">
              <a:spcBef>
                <a:spcPts val="0"/>
              </a:spcBef>
              <a:spcAft>
                <a:spcPts val="0"/>
              </a:spcAft>
              <a:buClr>
                <a:schemeClr val="dk1"/>
              </a:buClr>
              <a:buSzPts val="1100"/>
              <a:buFont typeface="Arial"/>
              <a:buNone/>
            </a:pPr>
            <a:r>
              <a:t/>
            </a:r>
            <a:endParaRPr sz="2600">
              <a:solidFill>
                <a:schemeClr val="lt1"/>
              </a:solidFill>
            </a:endParaRPr>
          </a:p>
          <a:p>
            <a:pPr indent="0" lvl="0" marL="0" rtl="0" algn="l">
              <a:spcBef>
                <a:spcPts val="1200"/>
              </a:spcBef>
              <a:spcAft>
                <a:spcPts val="0"/>
              </a:spcAft>
              <a:buClr>
                <a:schemeClr val="dk1"/>
              </a:buClr>
              <a:buSzPts val="1100"/>
              <a:buFont typeface="Arial"/>
              <a:buNone/>
            </a:pPr>
            <a:r>
              <a:rPr b="1" lang="en" sz="2600">
                <a:solidFill>
                  <a:srgbClr val="38BDF8"/>
                </a:solidFill>
              </a:rPr>
              <a:t>Click it.</a:t>
            </a:r>
            <a:endParaRPr b="1" sz="2600">
              <a:solidFill>
                <a:srgbClr val="38BDF8"/>
              </a:solidFill>
            </a:endParaRPr>
          </a:p>
          <a:p>
            <a:pPr indent="0" lvl="0" marL="0" rtl="0" algn="l">
              <a:spcBef>
                <a:spcPts val="1200"/>
              </a:spcBef>
              <a:spcAft>
                <a:spcPts val="120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10" name="Shape 510"/>
        <p:cNvGrpSpPr/>
        <p:nvPr/>
      </p:nvGrpSpPr>
      <p:grpSpPr>
        <a:xfrm>
          <a:off x="0" y="0"/>
          <a:ext cx="0" cy="0"/>
          <a:chOff x="0" y="0"/>
          <a:chExt cx="0" cy="0"/>
        </a:xfrm>
      </p:grpSpPr>
      <p:pic>
        <p:nvPicPr>
          <p:cNvPr id="511" name="Google Shape;511;p58"/>
          <p:cNvPicPr preferRelativeResize="0"/>
          <p:nvPr/>
        </p:nvPicPr>
        <p:blipFill>
          <a:blip r:embed="rId3">
            <a:alphaModFix/>
          </a:blip>
          <a:stretch>
            <a:fillRect/>
          </a:stretch>
        </p:blipFill>
        <p:spPr>
          <a:xfrm>
            <a:off x="1969775" y="152400"/>
            <a:ext cx="5204460" cy="48387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15" name="Shape 515"/>
        <p:cNvGrpSpPr/>
        <p:nvPr/>
      </p:nvGrpSpPr>
      <p:grpSpPr>
        <a:xfrm>
          <a:off x="0" y="0"/>
          <a:ext cx="0" cy="0"/>
          <a:chOff x="0" y="0"/>
          <a:chExt cx="0" cy="0"/>
        </a:xfrm>
      </p:grpSpPr>
      <p:pic>
        <p:nvPicPr>
          <p:cNvPr id="516" name="Google Shape;516;p59"/>
          <p:cNvPicPr preferRelativeResize="0"/>
          <p:nvPr/>
        </p:nvPicPr>
        <p:blipFill>
          <a:blip r:embed="rId3">
            <a:alphaModFix/>
          </a:blip>
          <a:stretch>
            <a:fillRect/>
          </a:stretch>
        </p:blipFill>
        <p:spPr>
          <a:xfrm>
            <a:off x="1805850" y="0"/>
            <a:ext cx="5532300" cy="51435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20" name="Shape 520"/>
        <p:cNvGrpSpPr/>
        <p:nvPr/>
      </p:nvGrpSpPr>
      <p:grpSpPr>
        <a:xfrm>
          <a:off x="0" y="0"/>
          <a:ext cx="0" cy="0"/>
          <a:chOff x="0" y="0"/>
          <a:chExt cx="0" cy="0"/>
        </a:xfrm>
      </p:grpSpPr>
      <p:sp>
        <p:nvSpPr>
          <p:cNvPr id="521" name="Google Shape;521;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522" name="Google Shape;522;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23" name="Google Shape;523;p60"/>
          <p:cNvPicPr preferRelativeResize="0"/>
          <p:nvPr/>
        </p:nvPicPr>
        <p:blipFill>
          <a:blip r:embed="rId3">
            <a:alphaModFix/>
          </a:blip>
          <a:stretch>
            <a:fillRect/>
          </a:stretch>
        </p:blipFill>
        <p:spPr>
          <a:xfrm>
            <a:off x="343037" y="1032275"/>
            <a:ext cx="8457925" cy="30789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27" name="Shape 527"/>
        <p:cNvGrpSpPr/>
        <p:nvPr/>
      </p:nvGrpSpPr>
      <p:grpSpPr>
        <a:xfrm>
          <a:off x="0" y="0"/>
          <a:ext cx="0" cy="0"/>
          <a:chOff x="0" y="0"/>
          <a:chExt cx="0" cy="0"/>
        </a:xfrm>
      </p:grpSpPr>
      <p:sp>
        <p:nvSpPr>
          <p:cNvPr id="528" name="Google Shape;528;p61"/>
          <p:cNvSpPr txBox="1"/>
          <p:nvPr>
            <p:ph type="title"/>
          </p:nvPr>
        </p:nvSpPr>
        <p:spPr>
          <a:xfrm>
            <a:off x="311700" y="310225"/>
            <a:ext cx="8520600" cy="572700"/>
          </a:xfrm>
          <a:prstGeom prst="rect">
            <a:avLst/>
          </a:prstGeom>
          <a:solidFill>
            <a:srgbClr val="FBBF24"/>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This is what my response looks like in Firestore Database.</a:t>
            </a:r>
            <a:endParaRPr/>
          </a:p>
        </p:txBody>
      </p:sp>
      <p:sp>
        <p:nvSpPr>
          <p:cNvPr id="529" name="Google Shape;529;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30" name="Google Shape;530;p61"/>
          <p:cNvPicPr preferRelativeResize="0"/>
          <p:nvPr/>
        </p:nvPicPr>
        <p:blipFill>
          <a:blip r:embed="rId3">
            <a:alphaModFix/>
          </a:blip>
          <a:stretch>
            <a:fillRect/>
          </a:stretch>
        </p:blipFill>
        <p:spPr>
          <a:xfrm>
            <a:off x="0" y="880784"/>
            <a:ext cx="9144003" cy="4085333"/>
          </a:xfrm>
          <a:prstGeom prst="rect">
            <a:avLst/>
          </a:prstGeom>
          <a:noFill/>
          <a:ln>
            <a:noFill/>
          </a:ln>
        </p:spPr>
      </p:pic>
      <p:sp>
        <p:nvSpPr>
          <p:cNvPr id="531" name="Google Shape;531;p61"/>
          <p:cNvSpPr txBox="1"/>
          <p:nvPr/>
        </p:nvSpPr>
        <p:spPr>
          <a:xfrm>
            <a:off x="1236600" y="56725"/>
            <a:ext cx="3505500" cy="25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2"/>
          <p:cNvSpPr txBox="1"/>
          <p:nvPr>
            <p:ph type="title"/>
          </p:nvPr>
        </p:nvSpPr>
        <p:spPr>
          <a:xfrm>
            <a:off x="311700" y="3941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Save your code in </a:t>
            </a:r>
            <a:r>
              <a:rPr lang="en"/>
              <a:t>Github</a:t>
            </a:r>
            <a:endParaRPr/>
          </a:p>
        </p:txBody>
      </p:sp>
      <p:sp>
        <p:nvSpPr>
          <p:cNvPr id="537" name="Google Shape;537;p62"/>
          <p:cNvSpPr txBox="1"/>
          <p:nvPr>
            <p:ph idx="1" type="body"/>
          </p:nvPr>
        </p:nvSpPr>
        <p:spPr>
          <a:xfrm>
            <a:off x="311700" y="886650"/>
            <a:ext cx="8520600" cy="3963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Sign up or login to GitHub account</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Go to General</a:t>
            </a:r>
            <a:endParaRPr/>
          </a:p>
        </p:txBody>
      </p:sp>
      <p:pic>
        <p:nvPicPr>
          <p:cNvPr descr="Beautify as image" id="538" name="Google Shape;538;p62"/>
          <p:cNvPicPr preferRelativeResize="0"/>
          <p:nvPr/>
        </p:nvPicPr>
        <p:blipFill>
          <a:blip r:embed="rId3">
            <a:alphaModFix/>
          </a:blip>
          <a:stretch>
            <a:fillRect/>
          </a:stretch>
        </p:blipFill>
        <p:spPr>
          <a:xfrm>
            <a:off x="202800" y="136026"/>
            <a:ext cx="8770700" cy="48821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42" name="Shape 542"/>
        <p:cNvGrpSpPr/>
        <p:nvPr/>
      </p:nvGrpSpPr>
      <p:grpSpPr>
        <a:xfrm>
          <a:off x="0" y="0"/>
          <a:ext cx="0" cy="0"/>
          <a:chOff x="0" y="0"/>
          <a:chExt cx="0" cy="0"/>
        </a:xfrm>
      </p:grpSpPr>
      <p:pic>
        <p:nvPicPr>
          <p:cNvPr id="543" name="Google Shape;543;p63"/>
          <p:cNvPicPr preferRelativeResize="0"/>
          <p:nvPr/>
        </p:nvPicPr>
        <p:blipFill>
          <a:blip r:embed="rId3">
            <a:alphaModFix/>
          </a:blip>
          <a:stretch>
            <a:fillRect/>
          </a:stretch>
        </p:blipFill>
        <p:spPr>
          <a:xfrm>
            <a:off x="348725" y="51800"/>
            <a:ext cx="8446551" cy="5039901"/>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47" name="Shape 547"/>
        <p:cNvGrpSpPr/>
        <p:nvPr/>
      </p:nvGrpSpPr>
      <p:grpSpPr>
        <a:xfrm>
          <a:off x="0" y="0"/>
          <a:ext cx="0" cy="0"/>
          <a:chOff x="0" y="0"/>
          <a:chExt cx="0" cy="0"/>
        </a:xfrm>
      </p:grpSpPr>
      <p:pic>
        <p:nvPicPr>
          <p:cNvPr id="548" name="Google Shape;548;p64"/>
          <p:cNvPicPr preferRelativeResize="0"/>
          <p:nvPr/>
        </p:nvPicPr>
        <p:blipFill>
          <a:blip r:embed="rId3">
            <a:alphaModFix/>
          </a:blip>
          <a:stretch>
            <a:fillRect/>
          </a:stretch>
        </p:blipFill>
        <p:spPr>
          <a:xfrm>
            <a:off x="557700" y="46075"/>
            <a:ext cx="8178002" cy="505135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52" name="Shape 552"/>
        <p:cNvGrpSpPr/>
        <p:nvPr/>
      </p:nvGrpSpPr>
      <p:grpSpPr>
        <a:xfrm>
          <a:off x="0" y="0"/>
          <a:ext cx="0" cy="0"/>
          <a:chOff x="0" y="0"/>
          <a:chExt cx="0" cy="0"/>
        </a:xfrm>
      </p:grpSpPr>
      <p:pic>
        <p:nvPicPr>
          <p:cNvPr id="553" name="Google Shape;553;p65"/>
          <p:cNvPicPr preferRelativeResize="0"/>
          <p:nvPr/>
        </p:nvPicPr>
        <p:blipFill>
          <a:blip r:embed="rId3">
            <a:alphaModFix/>
          </a:blip>
          <a:stretch>
            <a:fillRect/>
          </a:stretch>
        </p:blipFill>
        <p:spPr>
          <a:xfrm>
            <a:off x="633550" y="0"/>
            <a:ext cx="7973488" cy="5035899"/>
          </a:xfrm>
          <a:prstGeom prst="rect">
            <a:avLst/>
          </a:prstGeom>
          <a:noFill/>
          <a:ln>
            <a:noFill/>
          </a:ln>
        </p:spPr>
      </p:pic>
      <p:sp>
        <p:nvSpPr>
          <p:cNvPr id="554" name="Google Shape;554;p65"/>
          <p:cNvSpPr/>
          <p:nvPr/>
        </p:nvSpPr>
        <p:spPr>
          <a:xfrm>
            <a:off x="2573532" y="14646"/>
            <a:ext cx="1812400" cy="1003325"/>
          </a:xfrm>
          <a:custGeom>
            <a:rect b="b" l="l" r="r" t="t"/>
            <a:pathLst>
              <a:path extrusionOk="0" h="40133" w="72496">
                <a:moveTo>
                  <a:pt x="34158" y="33964"/>
                </a:moveTo>
                <a:cubicBezTo>
                  <a:pt x="25592" y="33964"/>
                  <a:pt x="15625" y="37341"/>
                  <a:pt x="8498" y="32589"/>
                </a:cubicBezTo>
                <a:cubicBezTo>
                  <a:pt x="4886" y="30180"/>
                  <a:pt x="1101" y="26765"/>
                  <a:pt x="250" y="22508"/>
                </a:cubicBezTo>
                <a:cubicBezTo>
                  <a:pt x="-697" y="17772"/>
                  <a:pt x="1935" y="12627"/>
                  <a:pt x="4832" y="8762"/>
                </a:cubicBezTo>
                <a:cubicBezTo>
                  <a:pt x="10898" y="669"/>
                  <a:pt x="24345" y="-1480"/>
                  <a:pt x="34158" y="972"/>
                </a:cubicBezTo>
                <a:cubicBezTo>
                  <a:pt x="42668" y="3098"/>
                  <a:pt x="51767" y="2048"/>
                  <a:pt x="60276" y="4179"/>
                </a:cubicBezTo>
                <a:cubicBezTo>
                  <a:pt x="65838" y="5572"/>
                  <a:pt x="69603" y="11686"/>
                  <a:pt x="71732" y="17010"/>
                </a:cubicBezTo>
                <a:cubicBezTo>
                  <a:pt x="78210" y="33211"/>
                  <a:pt x="39218" y="45446"/>
                  <a:pt x="23619" y="37629"/>
                </a:cubicBezTo>
              </a:path>
            </a:pathLst>
          </a:custGeom>
          <a:noFill/>
          <a:ln cap="flat" cmpd="sng" w="76200">
            <a:solidFill>
              <a:srgbClr val="FF0000"/>
            </a:solidFill>
            <a:prstDash val="solid"/>
            <a:round/>
            <a:headEnd len="med" w="med" type="none"/>
            <a:tailEnd len="med" w="med" type="none"/>
          </a:ln>
        </p:spPr>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58" name="Shape 558"/>
        <p:cNvGrpSpPr/>
        <p:nvPr/>
      </p:nvGrpSpPr>
      <p:grpSpPr>
        <a:xfrm>
          <a:off x="0" y="0"/>
          <a:ext cx="0" cy="0"/>
          <a:chOff x="0" y="0"/>
          <a:chExt cx="0" cy="0"/>
        </a:xfrm>
      </p:grpSpPr>
      <p:pic>
        <p:nvPicPr>
          <p:cNvPr id="559" name="Google Shape;559;p66"/>
          <p:cNvPicPr preferRelativeResize="0"/>
          <p:nvPr/>
        </p:nvPicPr>
        <p:blipFill>
          <a:blip r:embed="rId3">
            <a:alphaModFix/>
          </a:blip>
          <a:stretch>
            <a:fillRect/>
          </a:stretch>
        </p:blipFill>
        <p:spPr>
          <a:xfrm>
            <a:off x="167713" y="152400"/>
            <a:ext cx="8808586" cy="4838701"/>
          </a:xfrm>
          <a:prstGeom prst="rect">
            <a:avLst/>
          </a:prstGeom>
          <a:noFill/>
          <a:ln>
            <a:noFill/>
          </a:ln>
        </p:spPr>
      </p:pic>
      <p:sp>
        <p:nvSpPr>
          <p:cNvPr id="560" name="Google Shape;560;p66"/>
          <p:cNvSpPr/>
          <p:nvPr/>
        </p:nvSpPr>
        <p:spPr>
          <a:xfrm>
            <a:off x="80237" y="70600"/>
            <a:ext cx="1240550" cy="810100"/>
          </a:xfrm>
          <a:custGeom>
            <a:rect b="b" l="l" r="r" t="t"/>
            <a:pathLst>
              <a:path extrusionOk="0" h="32404" w="49622">
                <a:moveTo>
                  <a:pt x="27125" y="31726"/>
                </a:moveTo>
                <a:cubicBezTo>
                  <a:pt x="18381" y="31726"/>
                  <a:pt x="8564" y="29203"/>
                  <a:pt x="2381" y="23020"/>
                </a:cubicBezTo>
                <a:cubicBezTo>
                  <a:pt x="-1759" y="18880"/>
                  <a:pt x="101" y="9264"/>
                  <a:pt x="4672" y="5607"/>
                </a:cubicBezTo>
                <a:cubicBezTo>
                  <a:pt x="15990" y="-3448"/>
                  <a:pt x="41263" y="-1400"/>
                  <a:pt x="47745" y="11564"/>
                </a:cubicBezTo>
                <a:cubicBezTo>
                  <a:pt x="50137" y="16348"/>
                  <a:pt x="50496" y="23324"/>
                  <a:pt x="47287" y="27602"/>
                </a:cubicBezTo>
                <a:cubicBezTo>
                  <a:pt x="44214" y="31698"/>
                  <a:pt x="37745" y="32184"/>
                  <a:pt x="32624" y="32184"/>
                </a:cubicBezTo>
                <a:cubicBezTo>
                  <a:pt x="30615" y="32184"/>
                  <a:pt x="27565" y="33064"/>
                  <a:pt x="26667" y="31267"/>
                </a:cubicBezTo>
              </a:path>
            </a:pathLst>
          </a:custGeom>
          <a:noFill/>
          <a:ln cap="flat" cmpd="sng" w="76200">
            <a:solidFill>
              <a:srgbClr val="FF0000"/>
            </a:solidFill>
            <a:prstDash val="solid"/>
            <a:round/>
            <a:headEnd len="med" w="med" type="none"/>
            <a:tailEnd len="med" w="med" type="none"/>
          </a:ln>
        </p:spPr>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67"/>
          <p:cNvSpPr txBox="1"/>
          <p:nvPr>
            <p:ph type="title"/>
          </p:nvPr>
        </p:nvSpPr>
        <p:spPr>
          <a:xfrm>
            <a:off x="311700" y="1533300"/>
            <a:ext cx="8520600" cy="103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You can go back to .html and edit it directly</a:t>
            </a:r>
            <a:endParaRPr/>
          </a:p>
        </p:txBody>
      </p:sp>
      <p:pic>
        <p:nvPicPr>
          <p:cNvPr descr="Beautify as image" id="566" name="Google Shape;566;p67"/>
          <p:cNvPicPr preferRelativeResize="0"/>
          <p:nvPr/>
        </p:nvPicPr>
        <p:blipFill>
          <a:blip r:embed="rId3">
            <a:alphaModFix/>
          </a:blip>
          <a:stretch>
            <a:fillRect/>
          </a:stretch>
        </p:blipFill>
        <p:spPr>
          <a:xfrm>
            <a:off x="152400" y="-20078"/>
            <a:ext cx="8991601" cy="5005118"/>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70" name="Shape 570"/>
        <p:cNvGrpSpPr/>
        <p:nvPr/>
      </p:nvGrpSpPr>
      <p:grpSpPr>
        <a:xfrm>
          <a:off x="0" y="0"/>
          <a:ext cx="0" cy="0"/>
          <a:chOff x="0" y="0"/>
          <a:chExt cx="0" cy="0"/>
        </a:xfrm>
      </p:grpSpPr>
      <p:sp>
        <p:nvSpPr>
          <p:cNvPr id="571" name="Google Shape;571;p68"/>
          <p:cNvSpPr/>
          <p:nvPr/>
        </p:nvSpPr>
        <p:spPr>
          <a:xfrm>
            <a:off x="762000" y="762000"/>
            <a:ext cx="7620000" cy="3619500"/>
          </a:xfrm>
          <a:prstGeom prst="roundRect">
            <a:avLst>
              <a:gd fmla="val 4210" name="adj"/>
            </a:avLst>
          </a:prstGeom>
          <a:solidFill>
            <a:srgbClr val="1C2541"/>
          </a:solidFill>
          <a:ln cap="flat" cmpd="sng" w="19050">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2" name="Google Shape;572;p68"/>
          <p:cNvSpPr txBox="1"/>
          <p:nvPr/>
        </p:nvSpPr>
        <p:spPr>
          <a:xfrm>
            <a:off x="762000" y="808750"/>
            <a:ext cx="5846100" cy="361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0B132B"/>
                </a:solidFill>
                <a:highlight>
                  <a:srgbClr val="38BDF8"/>
                </a:highlight>
                <a:latin typeface="Inter ExtraBold"/>
                <a:ea typeface="Inter ExtraBold"/>
                <a:cs typeface="Inter ExtraBold"/>
                <a:sym typeface="Inter ExtraBold"/>
              </a:rPr>
              <a:t>CLOUD PRINCIPLE</a:t>
            </a:r>
            <a:endParaRPr b="1" sz="1100">
              <a:solidFill>
                <a:srgbClr val="0B132B"/>
              </a:solidFill>
              <a:latin typeface="Inter"/>
              <a:ea typeface="Inter"/>
              <a:cs typeface="Inter"/>
              <a:sym typeface="Inter"/>
            </a:endParaRPr>
          </a:p>
          <a:p>
            <a:pPr indent="0" lvl="0" marL="0" rtl="0" algn="l">
              <a:spcBef>
                <a:spcPts val="1500"/>
              </a:spcBef>
              <a:spcAft>
                <a:spcPts val="0"/>
              </a:spcAft>
              <a:buNone/>
            </a:pPr>
            <a:r>
              <a:rPr b="0" lang="en" sz="3200">
                <a:solidFill>
                  <a:srgbClr val="F1F5F9"/>
                </a:solidFill>
                <a:latin typeface="Inter ExtraBold"/>
                <a:ea typeface="Inter ExtraBold"/>
                <a:cs typeface="Inter ExtraBold"/>
                <a:sym typeface="Inter ExtraBold"/>
              </a:rPr>
              <a:t>Stop  and delete Unused Resources and projects</a:t>
            </a:r>
            <a:endParaRPr b="1" sz="1100">
              <a:solidFill>
                <a:srgbClr val="0B132B"/>
              </a:solidFill>
              <a:latin typeface="Inter"/>
              <a:ea typeface="Inter"/>
              <a:cs typeface="Inter"/>
              <a:sym typeface="Inter"/>
            </a:endParaRPr>
          </a:p>
          <a:p>
            <a:pPr indent="0" lvl="0" marL="0" rtl="0" algn="l">
              <a:spcBef>
                <a:spcPts val="1500"/>
              </a:spcBef>
              <a:spcAft>
                <a:spcPts val="0"/>
              </a:spcAft>
              <a:buNone/>
            </a:pPr>
            <a:r>
              <a:rPr b="0" lang="en" sz="1600">
                <a:solidFill>
                  <a:srgbClr val="94A3B8"/>
                </a:solidFill>
                <a:latin typeface="Inter"/>
                <a:ea typeface="Inter"/>
                <a:cs typeface="Inter"/>
                <a:sym typeface="Inter"/>
              </a:rPr>
              <a:t>One of the most critical cloud optimi</a:t>
            </a:r>
            <a:r>
              <a:rPr lang="en" sz="1600">
                <a:solidFill>
                  <a:srgbClr val="94A3B8"/>
                </a:solidFill>
                <a:latin typeface="Inter"/>
                <a:ea typeface="Inter"/>
                <a:cs typeface="Inter"/>
                <a:sym typeface="Inter"/>
              </a:rPr>
              <a:t>s</a:t>
            </a:r>
            <a:r>
              <a:rPr b="0" lang="en" sz="1600">
                <a:solidFill>
                  <a:srgbClr val="94A3B8"/>
                </a:solidFill>
                <a:latin typeface="Inter"/>
                <a:ea typeface="Inter"/>
                <a:cs typeface="Inter"/>
                <a:sym typeface="Inter"/>
              </a:rPr>
              <a:t>ation principles is shutting down idle assets to actively prevent billing leaks.</a:t>
            </a:r>
            <a:endParaRPr b="1" sz="1100">
              <a:solidFill>
                <a:srgbClr val="0B132B"/>
              </a:solidFill>
              <a:latin typeface="Inter"/>
              <a:ea typeface="Inter"/>
              <a:cs typeface="Inter"/>
              <a:sym typeface="Inter"/>
            </a:endParaRPr>
          </a:p>
        </p:txBody>
      </p:sp>
      <p:grpSp>
        <p:nvGrpSpPr>
          <p:cNvPr id="573" name="Google Shape;573;p68"/>
          <p:cNvGrpSpPr/>
          <p:nvPr/>
        </p:nvGrpSpPr>
        <p:grpSpPr>
          <a:xfrm>
            <a:off x="6477000" y="2000250"/>
            <a:ext cx="1143000" cy="1236472"/>
            <a:chOff x="0" y="0"/>
            <a:chExt cx="1143000" cy="1236472"/>
          </a:xfrm>
        </p:grpSpPr>
        <p:sp>
          <p:nvSpPr>
            <p:cNvPr id="574" name="Google Shape;574;p68"/>
            <p:cNvSpPr/>
            <p:nvPr/>
          </p:nvSpPr>
          <p:spPr>
            <a:xfrm>
              <a:off x="0" y="0"/>
              <a:ext cx="11430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5" name="Google Shape;575;p68"/>
            <p:cNvSpPr txBox="1"/>
            <p:nvPr/>
          </p:nvSpPr>
          <p:spPr>
            <a:xfrm>
              <a:off x="0" y="93472"/>
              <a:ext cx="11430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6400">
                  <a:solidFill>
                    <a:srgbClr val="38BDF8"/>
                  </a:solidFill>
                  <a:latin typeface="Material Icons"/>
                  <a:ea typeface="Material Icons"/>
                  <a:cs typeface="Material Icons"/>
                  <a:sym typeface="Material Icons"/>
                </a:rPr>
                <a:t>power_settings_new</a:t>
              </a:r>
              <a:endParaRPr sz="6400">
                <a:solidFill>
                  <a:srgbClr val="38BDF8"/>
                </a:solidFill>
                <a:latin typeface="Material Icons"/>
                <a:ea typeface="Material Icons"/>
                <a:cs typeface="Material Icons"/>
                <a:sym typeface="Material Icons"/>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79" name="Shape 579"/>
        <p:cNvGrpSpPr/>
        <p:nvPr/>
      </p:nvGrpSpPr>
      <p:grpSpPr>
        <a:xfrm>
          <a:off x="0" y="0"/>
          <a:ext cx="0" cy="0"/>
          <a:chOff x="0" y="0"/>
          <a:chExt cx="0" cy="0"/>
        </a:xfrm>
      </p:grpSpPr>
      <p:sp>
        <p:nvSpPr>
          <p:cNvPr id="580" name="Google Shape;580;p69"/>
          <p:cNvSpPr/>
          <p:nvPr/>
        </p:nvSpPr>
        <p:spPr>
          <a:xfrm>
            <a:off x="762000" y="762000"/>
            <a:ext cx="7620000" cy="3619500"/>
          </a:xfrm>
          <a:prstGeom prst="roundRect">
            <a:avLst>
              <a:gd fmla="val 4210" name="adj"/>
            </a:avLst>
          </a:prstGeom>
          <a:solidFill>
            <a:srgbClr val="1C2541"/>
          </a:solidFill>
          <a:ln cap="flat" cmpd="sng" w="19050">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1" name="Google Shape;581;p69"/>
          <p:cNvSpPr txBox="1"/>
          <p:nvPr/>
        </p:nvSpPr>
        <p:spPr>
          <a:xfrm>
            <a:off x="861200" y="1401000"/>
            <a:ext cx="5964900" cy="298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0B132B"/>
                </a:solidFill>
                <a:highlight>
                  <a:srgbClr val="38BDF8"/>
                </a:highlight>
                <a:latin typeface="Inter ExtraBold"/>
                <a:ea typeface="Inter ExtraBold"/>
                <a:cs typeface="Inter ExtraBold"/>
                <a:sym typeface="Inter ExtraBold"/>
              </a:rPr>
              <a:t>SUCCESS</a:t>
            </a:r>
            <a:endParaRPr b="0" sz="1000">
              <a:solidFill>
                <a:srgbClr val="0B132B"/>
              </a:solidFill>
              <a:latin typeface="Inter ExtraBold"/>
              <a:ea typeface="Inter ExtraBold"/>
              <a:cs typeface="Inter ExtraBold"/>
              <a:sym typeface="Inter ExtraBold"/>
            </a:endParaRPr>
          </a:p>
          <a:p>
            <a:pPr indent="0" lvl="0" marL="0" rtl="0" algn="l">
              <a:spcBef>
                <a:spcPts val="1500"/>
              </a:spcBef>
              <a:spcAft>
                <a:spcPts val="0"/>
              </a:spcAft>
              <a:buNone/>
            </a:pPr>
            <a:r>
              <a:rPr lang="en" sz="3200">
                <a:solidFill>
                  <a:srgbClr val="F1F5F9"/>
                </a:solidFill>
                <a:latin typeface="Inter ExtraBold"/>
                <a:ea typeface="Inter ExtraBold"/>
                <a:cs typeface="Inter ExtraBold"/>
                <a:sym typeface="Inter ExtraBold"/>
              </a:rPr>
              <a:t>       </a:t>
            </a:r>
            <a:r>
              <a:rPr b="0" lang="en" sz="3200">
                <a:solidFill>
                  <a:srgbClr val="F1F5F9"/>
                </a:solidFill>
                <a:latin typeface="Inter ExtraBold"/>
                <a:ea typeface="Inter ExtraBold"/>
                <a:cs typeface="Inter ExtraBold"/>
                <a:sym typeface="Inter ExtraBold"/>
              </a:rPr>
              <a:t>Project Completed!</a:t>
            </a:r>
            <a:endParaRPr b="0" sz="1000">
              <a:solidFill>
                <a:srgbClr val="0B132B"/>
              </a:solidFill>
              <a:latin typeface="Inter ExtraBold"/>
              <a:ea typeface="Inter ExtraBold"/>
              <a:cs typeface="Inter ExtraBold"/>
              <a:sym typeface="Inter ExtraBold"/>
            </a:endParaRPr>
          </a:p>
          <a:p>
            <a:pPr indent="0" lvl="0" marL="0" rtl="0" algn="l">
              <a:spcBef>
                <a:spcPts val="1500"/>
              </a:spcBef>
              <a:spcAft>
                <a:spcPts val="0"/>
              </a:spcAft>
              <a:buNone/>
            </a:pPr>
            <a:r>
              <a:rPr b="0" lang="en" sz="6000">
                <a:solidFill>
                  <a:srgbClr val="2DB9C8"/>
                </a:solidFill>
                <a:latin typeface="Inter"/>
                <a:ea typeface="Inter"/>
                <a:cs typeface="Inter"/>
                <a:sym typeface="Inter"/>
              </a:rPr>
              <a:t>Congratulations </a:t>
            </a:r>
            <a:endParaRPr b="0" sz="6000">
              <a:solidFill>
                <a:srgbClr val="2DB9C8"/>
              </a:solidFill>
              <a:latin typeface="Inter ExtraBold"/>
              <a:ea typeface="Inter ExtraBold"/>
              <a:cs typeface="Inter ExtraBold"/>
              <a:sym typeface="Inter ExtraBold"/>
            </a:endParaRPr>
          </a:p>
        </p:txBody>
      </p:sp>
      <p:pic>
        <p:nvPicPr>
          <p:cNvPr descr="a cartoon penguin is holding a party horn and confetti is falling around him (Provided by Tenor)" id="582" name="Google Shape;582;p69"/>
          <p:cNvPicPr preferRelativeResize="0"/>
          <p:nvPr/>
        </p:nvPicPr>
        <p:blipFill>
          <a:blip r:embed="rId4">
            <a:alphaModFix/>
          </a:blip>
          <a:stretch>
            <a:fillRect/>
          </a:stretch>
        </p:blipFill>
        <p:spPr>
          <a:xfrm>
            <a:off x="6072175" y="1119200"/>
            <a:ext cx="2111375" cy="21113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6" name="Shape 586"/>
        <p:cNvGrpSpPr/>
        <p:nvPr/>
      </p:nvGrpSpPr>
      <p:grpSpPr>
        <a:xfrm>
          <a:off x="0" y="0"/>
          <a:ext cx="0" cy="0"/>
          <a:chOff x="0" y="0"/>
          <a:chExt cx="0" cy="0"/>
        </a:xfrm>
      </p:grpSpPr>
      <p:sp>
        <p:nvSpPr>
          <p:cNvPr id="587" name="Google Shape;587;p70"/>
          <p:cNvSpPr/>
          <p:nvPr/>
        </p:nvSpPr>
        <p:spPr>
          <a:xfrm>
            <a:off x="762000" y="762000"/>
            <a:ext cx="7620000" cy="3619500"/>
          </a:xfrm>
          <a:prstGeom prst="roundRect">
            <a:avLst>
              <a:gd fmla="val 4210" name="adj"/>
            </a:avLst>
          </a:prstGeom>
          <a:solidFill>
            <a:srgbClr val="1C2541"/>
          </a:solidFill>
          <a:ln cap="flat" cmpd="sng" w="19050">
            <a:solidFill>
              <a:srgbClr val="3A50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88" name="Google Shape;588;p70"/>
          <p:cNvGrpSpPr/>
          <p:nvPr/>
        </p:nvGrpSpPr>
        <p:grpSpPr>
          <a:xfrm>
            <a:off x="1238250" y="1238250"/>
            <a:ext cx="5349900" cy="2809800"/>
            <a:chOff x="0" y="0"/>
            <a:chExt cx="5349900" cy="2809800"/>
          </a:xfrm>
        </p:grpSpPr>
        <p:sp>
          <p:nvSpPr>
            <p:cNvPr id="589" name="Google Shape;589;p70"/>
            <p:cNvSpPr/>
            <p:nvPr/>
          </p:nvSpPr>
          <p:spPr>
            <a:xfrm>
              <a:off x="0" y="0"/>
              <a:ext cx="4667400" cy="2667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0" name="Google Shape;590;p70"/>
            <p:cNvSpPr txBox="1"/>
            <p:nvPr/>
          </p:nvSpPr>
          <p:spPr>
            <a:xfrm>
              <a:off x="0" y="0"/>
              <a:ext cx="5349900" cy="2809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0B132B"/>
                  </a:solidFill>
                  <a:highlight>
                    <a:srgbClr val="38BDF8"/>
                  </a:highlight>
                  <a:latin typeface="Inter ExtraBold"/>
                  <a:ea typeface="Inter ExtraBold"/>
                  <a:cs typeface="Inter ExtraBold"/>
                  <a:sym typeface="Inter ExtraBold"/>
                </a:rPr>
                <a:t>QUESTIONS</a:t>
              </a:r>
              <a:endParaRPr b="0" sz="1000">
                <a:solidFill>
                  <a:srgbClr val="0B132B"/>
                </a:solidFill>
                <a:latin typeface="Inter ExtraBold"/>
                <a:ea typeface="Inter ExtraBold"/>
                <a:cs typeface="Inter ExtraBold"/>
                <a:sym typeface="Inter ExtraBold"/>
              </a:endParaRPr>
            </a:p>
            <a:p>
              <a:pPr indent="0" lvl="0" marL="0" rtl="0" algn="l">
                <a:spcBef>
                  <a:spcPts val="1500"/>
                </a:spcBef>
                <a:spcAft>
                  <a:spcPts val="0"/>
                </a:spcAft>
                <a:buNone/>
              </a:pPr>
              <a:r>
                <a:rPr b="0" lang="en" sz="4200">
                  <a:solidFill>
                    <a:srgbClr val="F1F5F9"/>
                  </a:solidFill>
                  <a:latin typeface="Inter ExtraBold"/>
                  <a:ea typeface="Inter ExtraBold"/>
                  <a:cs typeface="Inter ExtraBold"/>
                  <a:sym typeface="Inter ExtraBold"/>
                </a:rPr>
                <a:t>Any questions?</a:t>
              </a:r>
              <a:endParaRPr b="0" sz="4200">
                <a:solidFill>
                  <a:srgbClr val="F1F5F9"/>
                </a:solidFill>
                <a:latin typeface="Inter ExtraBold"/>
                <a:ea typeface="Inter ExtraBold"/>
                <a:cs typeface="Inter ExtraBold"/>
                <a:sym typeface="Inter ExtraBold"/>
              </a:endParaRPr>
            </a:p>
            <a:p>
              <a:pPr indent="0" lvl="0" marL="0" rtl="0" algn="l">
                <a:spcBef>
                  <a:spcPts val="1500"/>
                </a:spcBef>
                <a:spcAft>
                  <a:spcPts val="0"/>
                </a:spcAft>
                <a:buNone/>
              </a:pPr>
              <a:r>
                <a:rPr b="0" lang="en" sz="1600">
                  <a:solidFill>
                    <a:srgbClr val="94A3B8"/>
                  </a:solidFill>
                  <a:latin typeface="Inter"/>
                  <a:ea typeface="Inter"/>
                  <a:cs typeface="Inter"/>
                  <a:sym typeface="Inter"/>
                </a:rPr>
                <a:t>Thank you for your time. Feel free to ask anything </a:t>
              </a:r>
              <a:endParaRPr b="0" sz="1600">
                <a:solidFill>
                  <a:srgbClr val="94A3B8"/>
                </a:solidFill>
                <a:latin typeface="Inter"/>
                <a:ea typeface="Inter"/>
                <a:cs typeface="Inter"/>
                <a:sym typeface="Inter"/>
              </a:endParaRPr>
            </a:p>
            <a:p>
              <a:pPr indent="0" lvl="0" marL="0" rtl="0" algn="l">
                <a:spcBef>
                  <a:spcPts val="0"/>
                </a:spcBef>
                <a:spcAft>
                  <a:spcPts val="0"/>
                </a:spcAft>
                <a:buNone/>
              </a:pPr>
              <a:r>
                <a:rPr b="0" lang="en" sz="1600">
                  <a:solidFill>
                    <a:srgbClr val="94A3B8"/>
                  </a:solidFill>
                  <a:latin typeface="Inter"/>
                  <a:ea typeface="Inter"/>
                  <a:cs typeface="Inter"/>
                  <a:sym typeface="Inter"/>
                </a:rPr>
                <a:t>or share your thoughts.</a:t>
              </a:r>
              <a:endParaRPr b="0" sz="1600">
                <a:solidFill>
                  <a:srgbClr val="94A3B8"/>
                </a:solidFill>
                <a:latin typeface="Inter"/>
                <a:ea typeface="Inter"/>
                <a:cs typeface="Inter"/>
                <a:sym typeface="Inter"/>
              </a:endParaRPr>
            </a:p>
          </p:txBody>
        </p:sp>
      </p:grpSp>
      <p:sp>
        <p:nvSpPr>
          <p:cNvPr id="591" name="Google Shape;591;p70"/>
          <p:cNvSpPr/>
          <p:nvPr/>
        </p:nvSpPr>
        <p:spPr>
          <a:xfrm>
            <a:off x="6381750" y="2000250"/>
            <a:ext cx="11430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penguin with a question mark above it (Provided by Tenor)" id="592" name="Google Shape;592;p70"/>
          <p:cNvPicPr preferRelativeResize="0"/>
          <p:nvPr/>
        </p:nvPicPr>
        <p:blipFill>
          <a:blip r:embed="rId4">
            <a:alphaModFix/>
          </a:blip>
          <a:stretch>
            <a:fillRect/>
          </a:stretch>
        </p:blipFill>
        <p:spPr>
          <a:xfrm>
            <a:off x="6068700" y="1546060"/>
            <a:ext cx="2194225" cy="2194175"/>
          </a:xfrm>
          <a:prstGeom prst="rect">
            <a:avLst/>
          </a:prstGeom>
          <a:solidFill>
            <a:srgbClr val="1C2541"/>
          </a:solidFill>
          <a:ln cap="flat" cmpd="sng" w="19050">
            <a:solidFill>
              <a:srgbClr val="3A506B"/>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